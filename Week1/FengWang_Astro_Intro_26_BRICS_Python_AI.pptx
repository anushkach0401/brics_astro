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18"/>
    <p:restoredTop sz="77808"/>
  </p:normalViewPr>
  <p:slideViewPr>
    <p:cSldViewPr snapToGrid="0" snapToObjects="1">
      <p:cViewPr varScale="1">
        <p:scale>
          <a:sx n="97" d="100"/>
          <a:sy n="97" d="100"/>
        </p:scale>
        <p:origin x="1808"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2298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Good morning everyone, and welcome to the first week of BRICS Astronomy Data </a:t>
            </a:r>
            <a:r>
              <a:rPr lang="en-US" altLang="zh-CN" sz="1100" dirty="0">
                <a:latin typeface="Arial"/>
              </a:rPr>
              <a:t>Analytics</a:t>
            </a:r>
            <a:r>
              <a:rPr lang="zh-CN" altLang="en-US" sz="1100" dirty="0">
                <a:latin typeface="Arial"/>
              </a:rPr>
              <a:t> </a:t>
            </a:r>
            <a:r>
              <a:rPr lang="en-US" altLang="zh-CN" sz="1100" dirty="0">
                <a:latin typeface="Arial"/>
              </a:rPr>
              <a:t>&amp;</a:t>
            </a:r>
            <a:r>
              <a:rPr lang="zh-CN" altLang="en-US" sz="1100" dirty="0">
                <a:latin typeface="Arial"/>
              </a:rPr>
              <a:t> </a:t>
            </a:r>
            <a:r>
              <a:rPr lang="en-US" altLang="zh-CN" sz="1100" dirty="0">
                <a:latin typeface="Arial"/>
              </a:rPr>
              <a:t>AI</a:t>
            </a:r>
            <a:r>
              <a:rPr lang="zh-CN" altLang="en-US" sz="1100" dirty="0">
                <a:latin typeface="Arial"/>
              </a:rPr>
              <a:t> </a:t>
            </a:r>
            <a:r>
              <a:rPr lang="en-US" altLang="zh-CN" sz="1100" dirty="0">
                <a:latin typeface="Arial"/>
              </a:rPr>
              <a:t>Training</a:t>
            </a:r>
            <a:r>
              <a:rPr lang="zh-CN" altLang="en-US" sz="1100" dirty="0">
                <a:latin typeface="Arial"/>
              </a:rPr>
              <a:t> </a:t>
            </a:r>
            <a:r>
              <a:rPr lang="en-US" altLang="zh-CN" sz="1100" dirty="0" err="1">
                <a:latin typeface="Arial"/>
              </a:rPr>
              <a:t>Programme</a:t>
            </a:r>
            <a:r>
              <a:rPr sz="1100" dirty="0">
                <a:latin typeface="Arial"/>
              </a:rPr>
              <a:t>. Today I want to start from astronomy, not from computer science. The reason is simple: we do not learn Python because Python itself is the goal. We learn Python because modern astronomy now produces data in a form and at a scale that cannot be handled only by looking, clicking, or manually copying numbers.</a:t>
            </a:r>
          </a:p>
          <a:p>
            <a:pPr>
              <a:spcAft>
                <a:spcPts val="800"/>
              </a:spcAft>
            </a:pPr>
            <a:r>
              <a:rPr sz="1100" dirty="0">
                <a:latin typeface="Arial"/>
              </a:rPr>
              <a:t>In this first hour, I will explain why programming has become a basic skill for astronomers, especially in the current AI era. Then in the second hour we will open </a:t>
            </a:r>
            <a:r>
              <a:rPr sz="1100" dirty="0" err="1">
                <a:latin typeface="Arial"/>
              </a:rPr>
              <a:t>Jupyter</a:t>
            </a:r>
            <a:r>
              <a:rPr sz="1100" dirty="0">
                <a:latin typeface="Arial"/>
              </a:rPr>
              <a:t> notebooks and make these ideas concrete. You will see variables, lists, strings, loops, functions, files, and modules. These may sound like programming vocabulary, but I want you to hear them as scientific vocabulary: they are tools for describing data and analysis clearly enough that a computer, another scientist, and your future self can reproduce what you did.</a:t>
            </a:r>
          </a:p>
          <a:p>
            <a:pPr>
              <a:spcAft>
                <a:spcPts val="800"/>
              </a:spcAft>
            </a:pPr>
            <a:r>
              <a:rPr sz="1100" dirty="0">
                <a:latin typeface="Arial"/>
              </a:rPr>
              <a:t>One important message for today is that AI does not remove the need to learn programming. It changes how we write code, but it does not remove our responsibility to understand the data, the assumptions, and the result.</a:t>
            </a:r>
          </a:p>
          <a:p>
            <a:pPr>
              <a:spcAft>
                <a:spcPts val="800"/>
              </a:spcAft>
            </a:pPr>
            <a:r>
              <a:rPr sz="1100" dirty="0">
                <a:latin typeface="Arial"/>
              </a:rPr>
              <a:t>A useful opening sentence is: "By the end of today, I do not expect you to be a Python expert, but I do expect you to understand why Python belongs in an astronomy classroom." This sets a realistic expectation and lowers anxiety for beginners.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Here is the structure of the next two hours. The first hour is a conceptual map. We will begin with the astronomy context: current hot topics, BRICS facilities, and the kinds of data they produce. Then we will move to the data problem: why images, spectra, catalogs, time series, and simulations force us to use computational methods.</a:t>
            </a:r>
          </a:p>
          <a:p>
            <a:pPr>
              <a:spcAft>
                <a:spcPts val="800"/>
              </a:spcAft>
            </a:pPr>
            <a:r>
              <a:rPr sz="1100" dirty="0">
                <a:latin typeface="Arial"/>
              </a:rPr>
              <a:t>After that, I will briefly discuss AI and vibe coding. This is important because many students now ask, very reasonably, if AI can write code, why should we learn programming? My answer is that AI makes programming literacy more valuable. If you understand code, AI becomes a useful assistant. If you do not understand code, AI can very quickly produce something that looks convincing but answers the wrong scientific question.</a:t>
            </a:r>
          </a:p>
          <a:p>
            <a:pPr>
              <a:spcAft>
                <a:spcPts val="800"/>
              </a:spcAft>
            </a:pPr>
            <a:r>
              <a:rPr sz="1100" dirty="0">
                <a:latin typeface="Arial"/>
              </a:rPr>
              <a:t>The second hour is practical. We will open the Week 1 </a:t>
            </a:r>
            <a:r>
              <a:rPr sz="1100" dirty="0" err="1">
                <a:latin typeface="Arial"/>
              </a:rPr>
              <a:t>Jupyter</a:t>
            </a:r>
            <a:r>
              <a:rPr sz="1100" dirty="0">
                <a:latin typeface="Arial"/>
              </a:rPr>
              <a:t> notebooks. I do not expect you to memorize every command today. I want you to learn how to read a notebook, run a cell, change a value, inspect output, and understand error messages. That is the beginning of real computational astronomy.</a:t>
            </a:r>
          </a:p>
          <a:p>
            <a:pPr>
              <a:spcAft>
                <a:spcPts val="800"/>
              </a:spcAft>
            </a:pPr>
            <a:r>
              <a:rPr lang="en-US" altLang="zh-CN" sz="1100">
                <a:latin typeface="Arial"/>
              </a:rPr>
              <a:t>T</a:t>
            </a:r>
            <a:r>
              <a:rPr sz="1100">
                <a:latin typeface="Arial"/>
              </a:rPr>
              <a:t>he </a:t>
            </a:r>
            <a:r>
              <a:rPr sz="1100" dirty="0">
                <a:latin typeface="Arial"/>
              </a:rPr>
              <a:t>slides and notebooks are meant to work together. The slides give them a mental map; the notebook gives them muscle memory. If they feel lost during the demo, they can return to this map.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Let us first look at the science. Many of the most exciting topics in astronomy today are also data challenges. Time-domain astronomy is a good example. When surveys repeatedly observe the sky, they generate alerts for supernovae, variable stars, asteroids, tidal disruption events, and many other phenomena. The scientific question may be physical, but the first practical problem is computational: how do we filter, classify, and prioritize so many events?</a:t>
            </a:r>
          </a:p>
          <a:p>
            <a:pPr>
              <a:spcAft>
                <a:spcPts val="800"/>
              </a:spcAft>
            </a:pPr>
            <a:r>
              <a:rPr sz="1100" dirty="0">
                <a:latin typeface="Arial"/>
              </a:rPr>
              <a:t>Exoplanet studies are another example. A planet may reveal itself through a tiny dip in a light curve, a radial velocity signal, or atmospheric absorption features. Cosmology uses enormous galaxy catalogs, weak-lensing measurements, and simulations. Radio astronomy deals with interferometric data, pulsars, fast radio bursts, and spectral-line cubes. Solar physics has high-cadence imaging and space-weather monitoring.</a:t>
            </a:r>
          </a:p>
          <a:p>
            <a:pPr>
              <a:spcAft>
                <a:spcPts val="800"/>
              </a:spcAft>
            </a:pPr>
            <a:r>
              <a:rPr sz="1100" dirty="0">
                <a:latin typeface="Arial"/>
              </a:rPr>
              <a:t>So, the common pattern is this: modern astronomy asks physical questions through complex data. Programming is the tool that lets us translate a scientific question into a sequence of reproducible operations on that data.</a:t>
            </a:r>
          </a:p>
          <a:p>
            <a:pPr>
              <a:spcAft>
                <a:spcPts val="800"/>
              </a:spcAft>
            </a:pPr>
            <a:r>
              <a:rPr sz="1100" dirty="0">
                <a:latin typeface="Arial"/>
              </a:rPr>
              <a:t>A good transition is to ask: "What do all these hot topics have in common?" Let students answer mentally. Then say: they all require us to move from physical intuition to structured data operations. That is the bridge to programming.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BRICS astronomy is especially interesting because it is broad, multi-wavelength, and international. We should not think of BRICS astronomy as one telescope or one narrow field. It includes optical and infrared observations, radio astronomy, space missions, theory and simulations, data archives, and training programs.</a:t>
            </a:r>
          </a:p>
          <a:p>
            <a:pPr>
              <a:spcAft>
                <a:spcPts val="800"/>
              </a:spcAft>
            </a:pPr>
            <a:endParaRPr lang="en-CN" sz="1100" dirty="0">
              <a:latin typeface="Arial"/>
            </a:endParaRPr>
          </a:p>
          <a:p>
            <a:pPr>
              <a:spcAft>
                <a:spcPts val="800"/>
              </a:spcAft>
            </a:pPr>
            <a:r>
              <a:rPr lang="en-US" sz="1100" dirty="0">
                <a:latin typeface="Arial"/>
              </a:rPr>
              <a:t>This slide gives a few examples of major BRICS-related facilities and data products. It is not meant to be complete. It is a representative sample to help us see the connection between facilities and computation.</a:t>
            </a:r>
          </a:p>
          <a:p>
            <a:pPr>
              <a:spcAft>
                <a:spcPts val="800"/>
              </a:spcAft>
            </a:pPr>
            <a:r>
              <a:rPr lang="en-US" sz="1100" dirty="0">
                <a:latin typeface="Arial"/>
              </a:rPr>
              <a:t>For China, we can think of FAST, one of the world's most important single-dish radio telescopes, and LAMOST, a large spectroscopic survey facility. These produce radio signals, spectra, catalogs, and survey data. India has </a:t>
            </a:r>
            <a:r>
              <a:rPr lang="en-US" sz="1100" dirty="0" err="1">
                <a:latin typeface="Arial"/>
              </a:rPr>
              <a:t>AstroSat</a:t>
            </a:r>
            <a:r>
              <a:rPr lang="en-US" sz="1100" dirty="0">
                <a:latin typeface="Arial"/>
              </a:rPr>
              <a:t>, Aditya-L1, and GMRT or </a:t>
            </a:r>
            <a:r>
              <a:rPr lang="en-US" sz="1100" dirty="0" err="1">
                <a:latin typeface="Arial"/>
              </a:rPr>
              <a:t>uGMRT</a:t>
            </a:r>
            <a:r>
              <a:rPr lang="en-US" sz="1100" dirty="0">
                <a:latin typeface="Arial"/>
              </a:rPr>
              <a:t>, leading to multi-wavelength archives, solar observations, and radio interferometric data. South Africa has </a:t>
            </a:r>
            <a:r>
              <a:rPr lang="en-US" sz="1100" dirty="0" err="1">
                <a:latin typeface="Arial"/>
              </a:rPr>
              <a:t>MeerKAT</a:t>
            </a:r>
            <a:r>
              <a:rPr lang="en-US" sz="1100" dirty="0">
                <a:latin typeface="Arial"/>
              </a:rPr>
              <a:t> and SALT, connected to radio imaging, optical spectroscopy, and transient follow-up. Brazil, Russia, and other BRICS partners bring additional observatories, archives, simulations, and monitoring networks.</a:t>
            </a:r>
          </a:p>
          <a:p>
            <a:pPr>
              <a:spcAft>
                <a:spcPts val="800"/>
              </a:spcAft>
            </a:pPr>
            <a:r>
              <a:rPr lang="en-US" sz="1100" dirty="0">
                <a:latin typeface="Arial"/>
              </a:rPr>
              <a:t>Notice how different these facilities are. A radio telescope, an optical spectrograph, a solar space mission, and a simulation code do not produce identical data. But for the student analyst, the workflow has common pieces: read data, understand metadata, clean problems, select objects, measure quantities, visualize results, and communicate the method. That shared workflow is what we are learning.</a:t>
            </a:r>
          </a:p>
          <a:p>
            <a:pPr>
              <a:spcAft>
                <a:spcPts val="800"/>
              </a:spcAft>
            </a:pPr>
            <a:r>
              <a:rPr lang="en-US" sz="1100" dirty="0">
                <a:latin typeface="Arial"/>
              </a:rPr>
              <a:t>You can pause here and say that every facility is also a promise and a responsibility. The promise is discovery. The responsibility is that we must be able to reduce, analyze, validate, and share the data, otherwise the facility cannot reach its scientific potential.</a:t>
            </a:r>
          </a:p>
          <a:p>
            <a:pPr>
              <a:spcAft>
                <a:spcPts val="800"/>
              </a:spcAft>
            </a:pPr>
            <a:endParaRPr sz="1100" dirty="0">
              <a:latin typeface="Arial"/>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A useful way to think about modern facilities is that they do not simply produce beautiful pictures. They produce streams of data products. A telescope may create raw exposures, calibrated images, catalogs, quality flags, alerts, spectra, and derived measurements. A survey may repeat this process every night or every observing cycle.</a:t>
            </a:r>
          </a:p>
          <a:p>
            <a:pPr>
              <a:spcAft>
                <a:spcPts val="800"/>
              </a:spcAft>
            </a:pPr>
            <a:r>
              <a:rPr sz="1100" dirty="0">
                <a:latin typeface="Arial"/>
              </a:rPr>
              <a:t>This changes the role of the astronomer. In older examples, a scientist might inspect a small number of images or spectra by hand. That still happens, and human judgment is still important. But at large scale, the first layer of work is usually a pipeline. The pipeline calibrates, detects, measures, filters, and stores. Then the scientist asks questions through the pipeline outputs.</a:t>
            </a:r>
          </a:p>
          <a:p>
            <a:pPr>
              <a:spcAft>
                <a:spcPts val="800"/>
              </a:spcAft>
            </a:pPr>
            <a:r>
              <a:rPr sz="1100" dirty="0">
                <a:latin typeface="Arial"/>
              </a:rPr>
              <a:t>This is why programming is not an optional extra. If the data arrive as tables, arrays, files, and streams, then our scientific reasoning must also be able to operate on tables, arrays, files, and streams. Programming gives us the ability to repeat the same analysis consistently, to scale from one object to thousands, and to document exactly what was done.</a:t>
            </a:r>
          </a:p>
          <a:p>
            <a:pPr>
              <a:spcAft>
                <a:spcPts val="800"/>
              </a:spcAft>
            </a:pPr>
            <a:r>
              <a:rPr sz="1100" dirty="0">
                <a:latin typeface="Arial"/>
              </a:rPr>
              <a:t>A helpful phrase is: "A telescope gives us photons, but science comes from a chain of decisions." Calibration, detection, selection, plotting, and interpretation are all decisions. Programming makes those decisions visible and repeatable.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The challenge is not only that there is more data. Volume matters, but complexity is just as important. Astronomical data are heterogeneous: we combine images, spectra, catalogs, time series, and simulations. They are noisy: we have calibration errors, bad pixels, cosmic rays, artifacts, missing values, and selection effects. They are high-dimensional: a single object may have many measured quantities, and those quantities may be correlated. They are time-dependent: the sky changes, instruments change, and observations have time stamps, cadences, and sometimes urgent alerts.</a:t>
            </a:r>
          </a:p>
          <a:p>
            <a:pPr>
              <a:spcAft>
                <a:spcPts val="800"/>
              </a:spcAft>
            </a:pPr>
            <a:r>
              <a:rPr sz="1100" dirty="0">
                <a:latin typeface="Arial"/>
              </a:rPr>
              <a:t>This complexity is where many scientific mistakes can enter. For example, mixing units, using the wrong coordinate system, ignoring missing values, or applying a selection cut incorrectly can change the result. These are not just coding mistakes; they become astronomy mistakes.</a:t>
            </a:r>
          </a:p>
          <a:p>
            <a:pPr>
              <a:spcAft>
                <a:spcPts val="800"/>
              </a:spcAft>
            </a:pPr>
            <a:r>
              <a:rPr sz="1100" dirty="0">
                <a:latin typeface="Arial"/>
              </a:rPr>
              <a:t>Programming helps because it forces us to make the steps explicit. What file did we read? Which rows did we keep? What units did we convert? What threshold did we use? A good program is a record of a scientific decision process.</a:t>
            </a:r>
          </a:p>
          <a:p>
            <a:pPr>
              <a:spcAft>
                <a:spcPts val="800"/>
              </a:spcAft>
            </a:pPr>
            <a:r>
              <a:rPr sz="1100" dirty="0">
                <a:latin typeface="Arial"/>
              </a:rPr>
              <a:t>This is a good place to warn students gently that real data are rarely clean. The purpose of programming is not only to calculate quickly. It is also to keep track of messy details carefully enough that the final scientific statement is trustworthy.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The word astroinformatics is useful here. It means the intersection of astronomy, data science, databases, statistics, visualization, machine learning, and computational infrastructure. It does not replace astronomy. It supports astronomy in a world where the data are too large and too complex to handle informally.</a:t>
            </a:r>
          </a:p>
          <a:p>
            <a:pPr>
              <a:spcAft>
                <a:spcPts val="800"/>
              </a:spcAft>
            </a:pPr>
            <a:r>
              <a:rPr sz="1100">
                <a:latin typeface="Arial"/>
              </a:rPr>
              <a:t>Virtual observatories, archives, catalog services, databases, and pipelines are all part of astroinformatics. When we query a catalog, cross-match sources, download a FITS file, plot a color-magnitude diagram, or classify a transient, we are already participating in this ecosystem.</a:t>
            </a:r>
          </a:p>
          <a:p>
            <a:pPr>
              <a:spcAft>
                <a:spcPts val="800"/>
              </a:spcAft>
            </a:pPr>
            <a:r>
              <a:rPr sz="1100">
                <a:latin typeface="Arial"/>
              </a:rPr>
              <a:t>Python is one of the practical languages of astroinformatics. It connects very naturally to notebooks, data tables, arrays, plots, and astronomy-specific packages such as Astropy. That is why we start here. We are not trying to turn everyone into a software engineer in one week. We are giving you enough programming vocabulary to interact with astronomical data systems intelligently and reproducibly. Later, when you use more advanced tools, this foundation will help you understand what those tools are doing.</a:t>
            </a:r>
          </a:p>
          <a:p>
            <a:pPr>
              <a:spcAft>
                <a:spcPts val="800"/>
              </a:spcAft>
            </a:pPr>
            <a:r>
              <a:rPr sz="1100">
                <a:latin typeface="Arial"/>
              </a:rPr>
              <a:t>You can transition by saying that astroinformatics is the name for this larger ecosystem. The student may begin with simple Python variables today, but those variables are the first step toward participating in archives, surveys, pipelines, and AI-enabled discovery.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Now let us talk about AI. In astronomy, AI and machine learning are no longer exotic or marginal. They are widely used in large surveys, image classification, photometric redshift estimation, transient filtering, simulation acceleration, anomaly detection, and many other tasks. The literature has grown rapidly because the data demand it.</a:t>
            </a:r>
          </a:p>
          <a:p>
            <a:pPr>
              <a:spcAft>
                <a:spcPts val="800"/>
              </a:spcAft>
            </a:pPr>
            <a:r>
              <a:rPr sz="1100" dirty="0">
                <a:latin typeface="Arial"/>
              </a:rPr>
              <a:t>The Rubin Observatory and LSST era is a good example. When a survey produces enormous catalogs and alert streams, automation is unavoidable. We need algorithms to prioritize events, estimate properties, reject artifacts, and identify unusual objects. AI can help with many of these tasks.</a:t>
            </a:r>
          </a:p>
          <a:p>
            <a:pPr>
              <a:spcAft>
                <a:spcPts val="800"/>
              </a:spcAft>
            </a:pPr>
            <a:r>
              <a:rPr sz="1100" dirty="0">
                <a:latin typeface="Arial"/>
              </a:rPr>
              <a:t>But I want to be careful: AI is not magic. It depends on training data, assumptions, validation, uncertainty estimates, and interpretation. An AI system may produce a label or a number, but the astronomer still has to ask whether the result is reliable, biased, physically meaningful, and appropriate for the scientific question. This is why programming literacy matters. If you understand the workflow, you can use AI critically instead of passively accepting its output.</a:t>
            </a:r>
          </a:p>
          <a:p>
            <a:pPr>
              <a:spcAft>
                <a:spcPts val="800"/>
              </a:spcAft>
            </a:pPr>
            <a:r>
              <a:rPr sz="1100" dirty="0">
                <a:latin typeface="Arial"/>
              </a:rPr>
              <a:t>If students are excited by AI, acknowledge that excitement. Then immediately connect it to responsibility: an AI model in astronomy is only as good as the data, labels, assumptions, and validation behind it. Programming helps us examine those ingredients.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Here are a few concrete examples of AI across the astronomical workflow. Galaxy morphology classification is a classic example: instead of asking humans to classify enormous numbers of galaxies by eye, machine-learning models can learn visual features and apply them consistently at large scale. Photometric redshifts are another example: when spectroscopy is expensive or unavailable, models can use multi-band photometry to estimate redshift distributions. Time-domain astronomy also relies heavily on classification and filtering, for example distinguishing real astrophysical transients from image-subtraction artifacts.</a:t>
            </a:r>
          </a:p>
          <a:p>
            <a:pPr>
              <a:spcAft>
                <a:spcPts val="800"/>
              </a:spcAft>
            </a:pPr>
            <a:r>
              <a:rPr sz="1100" dirty="0">
                <a:latin typeface="Arial"/>
              </a:rPr>
              <a:t>These examples show why AI is attractive: it helps scale analysis. It can process many objects, identify patterns, and support rapid decision-making. But each example also shows why scientific understanding is necessary. What labels were used for training? What objects are missing from the training set? How are uncertainties represented? What happens when the model sees a rare object?</a:t>
            </a:r>
          </a:p>
          <a:p>
            <a:pPr>
              <a:spcAft>
                <a:spcPts val="800"/>
              </a:spcAft>
            </a:pPr>
            <a:r>
              <a:rPr sz="1100" dirty="0">
                <a:latin typeface="Arial"/>
              </a:rPr>
              <a:t>So AI is part of the toolkit, but it sits on top of data processing, validation, and interpretation. Those foundations are what we begin learning with Python.</a:t>
            </a:r>
          </a:p>
          <a:p>
            <a:pPr>
              <a:spcAft>
                <a:spcPts val="800"/>
              </a:spcAft>
            </a:pPr>
            <a:r>
              <a:rPr sz="1100" dirty="0">
                <a:latin typeface="Arial"/>
              </a:rPr>
              <a:t>A nice way to end this slide is to say: "These examples are not here to make Python look old-fashioned. They are here to show that AI itself depends on programming, data structures, testing, and reproducibility." That leads naturally to the vibe-coding discussion.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You may have heard the term vibe coding. In simple terms, it means using natural-language prompts to ask an AI system to help write code. For example, you might type, please write Python code to read a CSV catalog and select objects brighter than magnitude one. The AI may generate something useful very quickly.</a:t>
            </a:r>
          </a:p>
          <a:p>
            <a:pPr>
              <a:spcAft>
                <a:spcPts val="800"/>
              </a:spcAft>
            </a:pPr>
            <a:r>
              <a:rPr sz="1100">
                <a:latin typeface="Arial"/>
              </a:rPr>
              <a:t>This is a real change in how people write code. It can help beginners get unstuck, help experienced programmers move faster, and help researchers explore unfamiliar libraries. But it is not a shortcut around understanding. The generated code may run and still be wrong. It may assume the wrong column name, ignore units, mishandle missing values, or use a selection rule that is not what you intended.</a:t>
            </a:r>
          </a:p>
          <a:p>
            <a:pPr>
              <a:spcAft>
                <a:spcPts val="800"/>
              </a:spcAft>
            </a:pPr>
            <a:r>
              <a:rPr sz="1100">
                <a:latin typeface="Arial"/>
              </a:rPr>
              <a:t>So our attitude should be balanced. Use AI. Ask it questions. Let it help with syntax and debugging. But do not outsource the scientific responsibility. You must be able to read the code, test it on a small example, and explain why the output answers your astronomical question.</a:t>
            </a:r>
          </a:p>
          <a:p>
            <a:pPr>
              <a:spcAft>
                <a:spcPts val="800"/>
              </a:spcAft>
            </a:pPr>
            <a:r>
              <a:rPr sz="1100">
                <a:latin typeface="Arial"/>
              </a:rPr>
              <a:t>You may want to tell students that using AI is acceptable in learning, but hiding behind AI is not. In this course, a good AI-assisted answer should still be explainable by the student. If they cannot explain it, they have not yet learned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This is the central message of the lecture: AI changes the workflow, not the responsibility. We do not learn programming only because we expect to type every line of code by hand for the rest of our careers. That is not the point. We learn programming because it teaches us how to express scientific ideas precisely.</a:t>
            </a:r>
          </a:p>
          <a:p>
            <a:pPr>
              <a:spcAft>
                <a:spcPts val="800"/>
              </a:spcAft>
            </a:pPr>
            <a:r>
              <a:rPr sz="1100">
                <a:latin typeface="Arial"/>
              </a:rPr>
              <a:t>When you write code, you are forced to specify the data, the variables, the operations, the selection criteria, and the output. That precision is valuable even if an AI assistant helps generate part of the syntax. In fact, the better you understand programming, the better prompts you can write, and the better you can judge the generated code.</a:t>
            </a:r>
          </a:p>
          <a:p>
            <a:pPr>
              <a:spcAft>
                <a:spcPts val="800"/>
              </a:spcAft>
            </a:pPr>
            <a:r>
              <a:rPr sz="1100">
                <a:latin typeface="Arial"/>
              </a:rPr>
              <a:t>There are three responsibilities I want you to remember. First, understand what the data represent. Second, verify whether the code is correct and whether the output makes sense. Third, communicate the method so others can reproduce and critique it. These responsibilities remain with the scientist, not with the machine.</a:t>
            </a:r>
          </a:p>
          <a:p>
            <a:pPr>
              <a:spcAft>
                <a:spcPts val="800"/>
              </a:spcAft>
            </a:pPr>
            <a:r>
              <a:rPr sz="1100">
                <a:latin typeface="Arial"/>
              </a:rPr>
              <a:t>This slide can be delivered slowly. It is the philosophical center of the lecture. The phrase to emphasize is: "The responsibility remains with the scientist." Let that sentence sit for a moment before moving into programming definitions.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Now we can define programming more directly. A program is a precise set of instructions that transforms input data into output results. In astronomy, the input might be a catalog, an image, a spectrum, a light curve, or a simulation output. The operations might include unit conversion, filtering, averaging, fitting, plotting, or classification. Control flow tells the computer when to repeat an operation, when to choose between alternatives, and when to stop. The output might be a number, a table, a figure, or a new file.</a:t>
            </a:r>
          </a:p>
          <a:p>
            <a:pPr>
              <a:spcAft>
                <a:spcPts val="800"/>
              </a:spcAft>
            </a:pPr>
            <a:r>
              <a:rPr sz="1100" dirty="0">
                <a:latin typeface="Arial"/>
              </a:rPr>
              <a:t>This input-operation-control-output structure appears everywhere. If you measure the brightness of stars in an image, you are transforming image data into a table of source properties. If you select exoplanets by radius and orbital period, you are transforming a catalog into a scientific sample. If you plot a light curve, you are transforming time and flux into a visual diagnostic.</a:t>
            </a:r>
          </a:p>
          <a:p>
            <a:pPr>
              <a:spcAft>
                <a:spcPts val="800"/>
              </a:spcAft>
            </a:pPr>
            <a:r>
              <a:rPr sz="1100" dirty="0">
                <a:latin typeface="Arial"/>
              </a:rPr>
              <a:t>So programming is not separate from analysis. Programming is one way to make analysis explicit.</a:t>
            </a:r>
          </a:p>
          <a:p>
            <a:pPr>
              <a:spcAft>
                <a:spcPts val="800"/>
              </a:spcAft>
            </a:pPr>
            <a:r>
              <a:rPr sz="1100" dirty="0">
                <a:latin typeface="Arial"/>
              </a:rPr>
              <a:t>If students have no programming background, reassure them that this definition is enough for today. They do not need to know advanced syntax yet. They only need to recognize that code is a sequence of precise instructions applied to data.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Before we write Python, we should talk about algorithms. An algorithm is a recipe for solving a problem. It does not have to be written in a programming language at first. A good algorithm can be explained in ordinary language.</a:t>
            </a:r>
          </a:p>
          <a:p>
            <a:pPr>
              <a:spcAft>
                <a:spcPts val="800"/>
              </a:spcAft>
            </a:pPr>
            <a:r>
              <a:rPr sz="1100">
                <a:latin typeface="Arial"/>
              </a:rPr>
              <a:t>For example, suppose our question is: which stars in a catalog are bright? One possible algorithm is: open the catalog, read each star's magnitude, keep the stars with magnitude less than one, print the selected names, and then check whether the result makes sense. This is simple, but it already contains the important structure of many scientific analyses.</a:t>
            </a:r>
          </a:p>
          <a:p>
            <a:pPr>
              <a:spcAft>
                <a:spcPts val="800"/>
              </a:spcAft>
            </a:pPr>
            <a:r>
              <a:rPr sz="1100">
                <a:latin typeface="Arial"/>
              </a:rPr>
              <a:t>There are two lessons here. First, the algorithm is independent of Python. You could implement the same idea in another language. Second, scientific algorithms should include checks. We do not only calculate. We also inspect, compare, and ask whether the result is plausible. When we move to Jupyter, I want you to think this way: what is the input, what are the steps, what is the output, and how do I check it?</a:t>
            </a:r>
          </a:p>
          <a:p>
            <a:pPr>
              <a:spcAft>
                <a:spcPts val="800"/>
              </a:spcAft>
            </a:pPr>
            <a:r>
              <a:rPr sz="1100">
                <a:latin typeface="Arial"/>
              </a:rPr>
              <a:t>You can ask students to imagine doing this task by hand in a spreadsheet. Then ask what would happen if the catalog had ten million rows. The same idea is still simple, but manual work no longer scales. That is why algorithms matter.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Here the same algorithm becomes Python. Do not worry if you cannot write this code from memory yet. The purpose of this slide is to recognize the pieces.</a:t>
            </a:r>
          </a:p>
          <a:p>
            <a:pPr>
              <a:spcAft>
                <a:spcPts val="800"/>
              </a:spcAft>
            </a:pPr>
            <a:r>
              <a:rPr sz="1100" dirty="0">
                <a:latin typeface="Arial"/>
              </a:rPr>
              <a:t>The first part creates a catalog. In real research, the catalog would usually come from a file or database, but here we use a small example. Each star is represented by a dictionary with a name and a magnitude. Then the for loop says: repeat the following operation for each star in the catalog. Inside the loop, the if statement applies the scientific selection rule: if the magnitude is less than one, print the star's name.</a:t>
            </a:r>
          </a:p>
          <a:p>
            <a:pPr>
              <a:spcAft>
                <a:spcPts val="800"/>
              </a:spcAft>
            </a:pPr>
            <a:r>
              <a:rPr sz="1100" dirty="0">
                <a:latin typeface="Arial"/>
              </a:rPr>
              <a:t>This tiny example already includes several Week 1 concepts: variables, data structures, strings, loops, and conditions. It also contains a scientific idea: define a selection rule and apply it consistently. AI could help write this code, but you must still understand what magnitude means, why the threshold was chosen, and whether the selected stars make sense.</a:t>
            </a:r>
          </a:p>
          <a:p>
            <a:pPr>
              <a:spcAft>
                <a:spcPts val="800"/>
              </a:spcAft>
            </a:pPr>
            <a:r>
              <a:rPr sz="1100" dirty="0">
                <a:latin typeface="Arial"/>
              </a:rPr>
              <a:t>A useful teaching move is to point to each line and name it: this is data, this is repetition, this is a condition, this is output. Even before they can write code, students can learn to read code as structured scientific language.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Why do we use Python in astronomy? Python is not the only language, and it is not perfect for every task. But it has several advantages that make it very practical for teaching and research.</a:t>
            </a:r>
          </a:p>
          <a:p>
            <a:pPr>
              <a:spcAft>
                <a:spcPts val="800"/>
              </a:spcAft>
            </a:pPr>
            <a:r>
              <a:rPr sz="1100">
                <a:latin typeface="Arial"/>
              </a:rPr>
              <a:t>First, Python is readable. The code often looks close to the scientific idea, which makes it easier for beginners to learn and easier for collaborators to discuss. Second, Python is interactive. In Jupyter notebooks, we can run one small step, inspect the output, change a parameter, and run again. That is very useful for exploratory data analysis. Third, Python has a strong scientific ecosystem: NumPy for arrays, pandas for tables, matplotlib for plotting, Astropy for astronomy, and scikit-learn for machine learning.</a:t>
            </a:r>
          </a:p>
          <a:p>
            <a:pPr>
              <a:spcAft>
                <a:spcPts val="800"/>
              </a:spcAft>
            </a:pPr>
            <a:r>
              <a:rPr sz="1100">
                <a:latin typeface="Arial"/>
              </a:rPr>
              <a:t>Another important point in the AI era is that Python code is usually readable enough to inspect. If an AI assistant generates Python, you can often understand and test it line by line. That makes Python a good language for human-AI collaboration, provided you learn the fundamentals.</a:t>
            </a:r>
          </a:p>
          <a:p>
            <a:pPr>
              <a:spcAft>
                <a:spcPts val="800"/>
              </a:spcAft>
            </a:pPr>
            <a:r>
              <a:rPr sz="1100">
                <a:latin typeface="Arial"/>
              </a:rPr>
              <a:t>You can briefly mention that professional astronomers may use many languages, including C, C++, Fortran, Julia, R, SQL, and shell scripting. We start with Python because it is beginner-friendly and connects very well to notebooks and astronomy packages.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Jupyter is the environment we will use in the second hour. Think of it as a scientific lab notebook that can run code. A notebook combines three things. Markdown cells contain text, explanations, equations, and notes. Code cells contain executable Python. Outputs show numbers, tables, plots, images, or error messages.</a:t>
            </a:r>
          </a:p>
          <a:p>
            <a:pPr>
              <a:spcAft>
                <a:spcPts val="800"/>
              </a:spcAft>
            </a:pPr>
            <a:r>
              <a:rPr sz="1100">
                <a:latin typeface="Arial"/>
              </a:rPr>
              <a:t>This structure is excellent for learning because you can move in small steps. You do not need to write a complete program before seeing anything happen. You can run one cell, look at the output, change one value, and run again. That style is close to how scientists explore data.</a:t>
            </a:r>
          </a:p>
          <a:p>
            <a:pPr>
              <a:spcAft>
                <a:spcPts val="800"/>
              </a:spcAft>
            </a:pPr>
            <a:r>
              <a:rPr sz="1100">
                <a:latin typeface="Arial"/>
              </a:rPr>
              <a:t>But Jupyter also requires discipline. A notebook can become confusing if cells are run out of order or if results are not explained. So when we use notebooks, we should ask: what question is this cell answering? What input does it use? What output does it produce? If there is an error, what does the error message tell us? This is the habit I want you to practice.</a:t>
            </a:r>
          </a:p>
          <a:p>
            <a:pPr>
              <a:spcAft>
                <a:spcPts val="800"/>
              </a:spcAft>
            </a:pPr>
            <a:r>
              <a:rPr sz="1100">
                <a:latin typeface="Arial"/>
              </a:rPr>
              <a:t>Before the demo, remind students that notebook order matters. If they run cells out of order, they may get confusing results. This is not a failure; it is part of learning how computational notebooks remember state.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This slide is the map of Week 1. The topics may look like separate programming lessons, but they are really pieces of one language for describing analysis.</a:t>
            </a:r>
          </a:p>
          <a:p>
            <a:pPr>
              <a:spcAft>
                <a:spcPts val="800"/>
              </a:spcAft>
            </a:pPr>
            <a:r>
              <a:rPr sz="1100" dirty="0">
                <a:latin typeface="Arial"/>
              </a:rPr>
              <a:t>Getting started is about the environment: how to open a notebook and run code. Variables give names to values. Data structures organize many values. Strings handle names, filenames, labels, and text. Loops repeat an operation over many objects. Functions package a repeated idea so we can reuse it. Classes let us group data and behavior into custom objects. Files connect the notebook to data outside the notebook. Modules let us use code written by others.</a:t>
            </a:r>
          </a:p>
          <a:p>
            <a:pPr>
              <a:spcAft>
                <a:spcPts val="800"/>
              </a:spcAft>
            </a:pPr>
            <a:r>
              <a:rPr sz="1100" dirty="0">
                <a:latin typeface="Arial"/>
              </a:rPr>
              <a:t>During the </a:t>
            </a:r>
            <a:r>
              <a:rPr sz="1100" dirty="0" err="1">
                <a:latin typeface="Arial"/>
              </a:rPr>
              <a:t>Jupyter</a:t>
            </a:r>
            <a:r>
              <a:rPr sz="1100" dirty="0">
                <a:latin typeface="Arial"/>
              </a:rPr>
              <a:t> hour, we will not treat these as abstract definitions. We will connect them to small astronomical examples: star names, magnitudes, exoplanet radii, orbital periods, and catalog files. If you leave today able to read a simple notebook and explain what each piece is doing, that is already a strong start.</a:t>
            </a:r>
          </a:p>
          <a:p>
            <a:pPr>
              <a:spcAft>
                <a:spcPts val="800"/>
              </a:spcAft>
            </a:pPr>
            <a:r>
              <a:rPr sz="1100" dirty="0">
                <a:latin typeface="Arial"/>
              </a:rPr>
              <a:t>This slide is also useful as a checklist. During the live session, if time becomes short, focus on variables, data structures, loops, functions, files, and modules. Classes can be introduced lightly or postponed without damaging the main learning goal.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Variables are names for values. This sounds simple, but it is one of the most important ideas in programming. In the example, star_name stores the string Sirius A. magnitude stores the number minus 1.46. spectral_type stores the string A1V. Once we give these values names, we can reuse them, print them, compare them, pass them to functions, and build more complex calculations.</a:t>
            </a:r>
          </a:p>
          <a:p>
            <a:pPr>
              <a:spcAft>
                <a:spcPts val="800"/>
              </a:spcAft>
            </a:pPr>
            <a:r>
              <a:rPr sz="1100">
                <a:latin typeface="Arial"/>
              </a:rPr>
              <a:t>In astronomy, good variable names matter because they carry physical meaning. A variable called x may be fine for a tiny example, but in real analysis, names like magnitude, orbital_period, flux, wavelength, or redshift help us understand what the code is doing. Clear names also help when you return to your notebook weeks later.</a:t>
            </a:r>
          </a:p>
          <a:p>
            <a:pPr>
              <a:spcAft>
                <a:spcPts val="800"/>
              </a:spcAft>
            </a:pPr>
            <a:r>
              <a:rPr sz="1100">
                <a:latin typeface="Arial"/>
              </a:rPr>
              <a:t>AI assistants can generate code with variables, but they may choose names that are too generic or misleading. If you understand variables, you can rewrite the code into something scientifically readable. Good code is not only code that runs; it is code that communicates.</a:t>
            </a:r>
          </a:p>
          <a:p>
            <a:pPr>
              <a:spcAft>
                <a:spcPts val="800"/>
              </a:spcAft>
            </a:pPr>
            <a:r>
              <a:rPr sz="1100">
                <a:latin typeface="Arial"/>
              </a:rPr>
              <a:t>You can ask students to suggest better variable names. For example, m is shorter, but magnitude is clearer. This helps them see that readable code is not only for computers. It is for humans reading the analysis.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dirty="0">
                <a:latin typeface="Arial"/>
              </a:rPr>
              <a:t>Data types tell Python what kind of value something is. In the example, magnitude is a floating-point number, </a:t>
            </a:r>
            <a:r>
              <a:rPr sz="1100" dirty="0" err="1">
                <a:latin typeface="Arial"/>
              </a:rPr>
              <a:t>star_name</a:t>
            </a:r>
            <a:r>
              <a:rPr sz="1100" dirty="0">
                <a:latin typeface="Arial"/>
              </a:rPr>
              <a:t> is a string, and </a:t>
            </a:r>
            <a:r>
              <a:rPr sz="1100" dirty="0" err="1">
                <a:latin typeface="Arial"/>
              </a:rPr>
              <a:t>is_bright</a:t>
            </a:r>
            <a:r>
              <a:rPr sz="1100" dirty="0">
                <a:latin typeface="Arial"/>
              </a:rPr>
              <a:t> is a </a:t>
            </a:r>
            <a:r>
              <a:rPr sz="1100" dirty="0" err="1">
                <a:latin typeface="Arial"/>
              </a:rPr>
              <a:t>boolean</a:t>
            </a:r>
            <a:r>
              <a:rPr sz="1100" dirty="0">
                <a:latin typeface="Arial"/>
              </a:rPr>
              <a:t> value, either True or False. This matters because different types support different operations.</a:t>
            </a:r>
          </a:p>
          <a:p>
            <a:pPr>
              <a:spcAft>
                <a:spcPts val="800"/>
              </a:spcAft>
            </a:pPr>
            <a:r>
              <a:rPr sz="1100" dirty="0">
                <a:latin typeface="Arial"/>
              </a:rPr>
              <a:t>For example, you can subtract or average magnitudes if they are numbers. But if a magnitude is accidentally read as text, the calculation may fail or produce strange behavior. You can join strings to create filenames, but you cannot treat a filename like a number. Boolean values are useful for conditions, such as whether an object passes a selection cut.</a:t>
            </a:r>
          </a:p>
          <a:p>
            <a:pPr>
              <a:spcAft>
                <a:spcPts val="800"/>
              </a:spcAft>
            </a:pPr>
            <a:r>
              <a:rPr sz="1100" dirty="0">
                <a:latin typeface="Arial"/>
              </a:rPr>
              <a:t>In real astronomical data analysis, many problems begin with data types. A catalog column may look numeric but be stored as text. Missing values may appear as blanks, </a:t>
            </a:r>
            <a:r>
              <a:rPr sz="1100" dirty="0" err="1">
                <a:latin typeface="Arial"/>
              </a:rPr>
              <a:t>NaN</a:t>
            </a:r>
            <a:r>
              <a:rPr sz="1100" dirty="0">
                <a:latin typeface="Arial"/>
              </a:rPr>
              <a:t>, or special flags. Dates and times may require careful handling. So when code behaves strangely, one of the first questions is: what type is this value? Understanding types is a debugging skill and a scientific safety skill.</a:t>
            </a:r>
          </a:p>
          <a:p>
            <a:pPr>
              <a:spcAft>
                <a:spcPts val="800"/>
              </a:spcAft>
            </a:pPr>
            <a:r>
              <a:rPr sz="1100" dirty="0">
                <a:latin typeface="Arial"/>
              </a:rPr>
              <a:t>A practical demonstration later is to read a value from a text file and then convert it to a number. That moment shows why types matter: the characters '1.11' and the number 1.11 look similar to us, but they behave differently in Python.</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Data structures let us organize many values. A list is useful for an ordered collection, such as several star names. A tuple can store a fixed pair of values, such as right ascension and declination. A set stores unique items, such as the different spectral types that appear in a catalog. A dictionary stores named fields, such as name and magnitude for one star.</a:t>
            </a:r>
          </a:p>
          <a:p>
            <a:pPr>
              <a:spcAft>
                <a:spcPts val="800"/>
              </a:spcAft>
            </a:pPr>
            <a:r>
              <a:rPr sz="1100">
                <a:latin typeface="Arial"/>
              </a:rPr>
              <a:t>Astronomy is full of structured data. A catalog is not just one number; it is many objects, each with many properties. A spectrum is a sequence of wavelength and flux values. A light curve is a sequence of times and brightness measurements. A simulation output may contain positions, velocities, masses, and many other quantities.</a:t>
            </a:r>
          </a:p>
          <a:p>
            <a:pPr>
              <a:spcAft>
                <a:spcPts val="800"/>
              </a:spcAft>
            </a:pPr>
            <a:r>
              <a:rPr sz="1100">
                <a:latin typeface="Arial"/>
              </a:rPr>
              <a:t>Choosing the right structure helps us think clearly. If every object has named properties, a dictionary may be natural. If order matters, a list may be useful. Later, we will use more powerful structures such as NumPy arrays, pandas DataFrames, and Astropy Tables. But the Week 1 structures are the foundation.</a:t>
            </a:r>
          </a:p>
          <a:p>
            <a:pPr>
              <a:spcAft>
                <a:spcPts val="800"/>
              </a:spcAft>
            </a:pPr>
            <a:r>
              <a:rPr sz="1100">
                <a:latin typeface="Arial"/>
              </a:rPr>
              <a:t>You can connect this to future tools by saying that pandas DataFrames and Astropy Tables are more advanced structures, but they are built on the same idea: organize many values so that we can ask questions systematically.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Strings are text values, and astronomy uses them constantly. Object names are strings: TRAPPIST-1e, Kepler-186f, Sirius A. File names are strings. Catalog column names are strings. Filter names, observing logs, coordinate labels, and metadata often appear as strings.</a:t>
            </a:r>
          </a:p>
          <a:p>
            <a:pPr>
              <a:spcAft>
                <a:spcPts val="800"/>
              </a:spcAft>
            </a:pPr>
            <a:r>
              <a:rPr sz="1100">
                <a:latin typeface="Arial"/>
              </a:rPr>
              <a:t>In the example, we create a planet name and then build a filename by joining text. We also use a string method, lower, to convert the name to lowercase. These simple operations become very useful when managing many files or cleaning inconsistent catalog entries.</a:t>
            </a:r>
          </a:p>
          <a:p>
            <a:pPr>
              <a:spcAft>
                <a:spcPts val="800"/>
              </a:spcAft>
            </a:pPr>
            <a:r>
              <a:rPr sz="1100">
                <a:latin typeface="Arial"/>
              </a:rPr>
              <a:t>String mistakes are common in real work. A filename may have a capital letter in one place and not another. A catalog may contain extra spaces. An object name may use a different convention. A path may point to the wrong directory. These are not glamorous problems, but they can stop an analysis completely. Learning string operations makes you more effective at handling the practical side of data analysis.</a:t>
            </a:r>
          </a:p>
          <a:p>
            <a:pPr>
              <a:spcAft>
                <a:spcPts val="800"/>
              </a:spcAft>
            </a:pPr>
            <a:r>
              <a:rPr sz="1100">
                <a:latin typeface="Arial"/>
              </a:rPr>
              <a:t>This is a good slide for practical humor: many real research problems are not deep physics at first; they are file names, paths, spaces, capitalization, and column labels. Mastering strings saves enormous time.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Loops allow us to repeat an operation without copying code. This is one of the moments when programming becomes obviously useful for astronomy. If you can analyze one planet, a loop lets you apply the same step to many planets. If you can process one file, a loop can process a directory of files. If you can compute one measurement, a loop can compute it for a whole catalog.</a:t>
            </a:r>
          </a:p>
          <a:p>
            <a:pPr>
              <a:spcAft>
                <a:spcPts val="800"/>
              </a:spcAft>
            </a:pPr>
            <a:r>
              <a:rPr sz="1100">
                <a:latin typeface="Arial"/>
              </a:rPr>
              <a:t>In the example, the for loop goes through each planet in the list and prints the name in uppercase. The example is simple, but the structure is powerful: for each object, do something.</a:t>
            </a:r>
          </a:p>
          <a:p>
            <a:pPr>
              <a:spcAft>
                <a:spcPts val="800"/>
              </a:spcAft>
            </a:pPr>
            <a:r>
              <a:rPr sz="1100">
                <a:latin typeface="Arial"/>
              </a:rPr>
              <a:t>However, loops also multiply mistakes. If the operation inside the loop is wrong, the wrong operation is repeated many times. That is why we often test loops on a small sample first. Print intermediate results. Check the first few objects. Make sure the loop is doing what you think. In scientific programming, a loop is a tool for scale, but it also requires careful checking.</a:t>
            </a:r>
          </a:p>
          <a:p>
            <a:pPr>
              <a:spcAft>
                <a:spcPts val="800"/>
              </a:spcAft>
            </a:pPr>
            <a:r>
              <a:rPr sz="1100">
                <a:latin typeface="Arial"/>
              </a:rPr>
              <a:t>When demonstrating loops, start with three objects, not three thousand. If the loop works for three and the output is understandable, then scaling up becomes safer. This is a habit students can use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Conditions allow a program to choose what to do. In astronomy, conditions often represent selection rules. If the magnitude is less than one, call the object bright. If the orbital period is shorter than ten days, select it as a short-period planet. If the signal-to-noise ratio is too low, reject the measurement.</a:t>
            </a:r>
          </a:p>
          <a:p>
            <a:pPr>
              <a:spcAft>
                <a:spcPts val="800"/>
              </a:spcAft>
            </a:pPr>
            <a:r>
              <a:rPr sz="1100">
                <a:latin typeface="Arial"/>
              </a:rPr>
              <a:t>This is where programming connects very directly to scientific judgment. A threshold is not just a programming detail. It defines your sample. If you change the threshold, you may change the population you study, the plot you make, and the conclusion you reach.</a:t>
            </a:r>
          </a:p>
          <a:p>
            <a:pPr>
              <a:spcAft>
                <a:spcPts val="800"/>
              </a:spcAft>
            </a:pPr>
            <a:r>
              <a:rPr sz="1100">
                <a:latin typeface="Arial"/>
              </a:rPr>
              <a:t>So when you see an if statement, ask two questions. First, what does the code do technically? Second, what scientific decision does this represent? AI can write if statements easily, but it cannot automatically know whether your selection rule is scientifically appropriate. That responsibility belongs to you. Conditions are small pieces of code, but they often carry large scientific meaning.</a:t>
            </a:r>
          </a:p>
          <a:p>
            <a:pPr>
              <a:spcAft>
                <a:spcPts val="800"/>
              </a:spcAft>
            </a:pPr>
            <a:r>
              <a:rPr sz="1100">
                <a:latin typeface="Arial"/>
              </a:rPr>
              <a:t>You can make the scientific point stronger by saying that every catalog paper has selection criteria. In code, those criteria often appear as conditions. Therefore, reading conditions is part of reading the scientific method.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Functions package a reusable idea. In the example, earth_radius_to_km converts a radius measured in Earth radii into kilometers. The function has a name, takes an input, performs a calculation, and returns an output.</a:t>
            </a:r>
          </a:p>
          <a:p>
            <a:pPr>
              <a:spcAft>
                <a:spcPts val="800"/>
              </a:spcAft>
            </a:pPr>
            <a:r>
              <a:rPr sz="1100">
                <a:latin typeface="Arial"/>
              </a:rPr>
              <a:t>Functions are useful because scientific analysis often repeats the same step many times. If you write the same calculation in five different places, it is easy to make inconsistent changes. If you put the calculation in one function, you can test it once and reuse it. Functions also make code easier to read because the function name tells us the purpose of the calculation.</a:t>
            </a:r>
          </a:p>
          <a:p>
            <a:pPr>
              <a:spcAft>
                <a:spcPts val="800"/>
              </a:spcAft>
            </a:pPr>
            <a:r>
              <a:rPr sz="1100">
                <a:latin typeface="Arial"/>
              </a:rPr>
              <a:t>A good function should usually do one clear thing. It should have meaningful input names and a meaningful output. When you use AI to generate code, asking for a small function is often better than asking for a whole analysis pipeline. A small function can be read, tested, and explained. That is exactly the kind of code we want in scientific notebooks.</a:t>
            </a:r>
          </a:p>
          <a:p>
            <a:pPr>
              <a:spcAft>
                <a:spcPts val="800"/>
              </a:spcAft>
            </a:pPr>
            <a:r>
              <a:rPr sz="1100">
                <a:latin typeface="Arial"/>
              </a:rPr>
              <a:t>A good example is unit conversion. If the same conversion appears repeatedly, it should probably become a function. This reduces copy-paste errors and makes the notebook easier to audit.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Classes are a more advanced idea, so do not worry if they feel abstract today. A class lets us define a custom object that combines data and behavior. In the example, a Planet has a name and a radius. We could also add methods that compute the radius in kilometers, estimate density, or format the planet for printing.</a:t>
            </a:r>
          </a:p>
          <a:p>
            <a:pPr>
              <a:spcAft>
                <a:spcPts val="800"/>
              </a:spcAft>
            </a:pPr>
            <a:r>
              <a:rPr sz="1100">
                <a:latin typeface="Arial"/>
              </a:rPr>
              <a:t>Why would this matter in astronomy? Because we often think in terms of scientific objects: stars, galaxies, spectra, images, observations, detectors, and simulations. Each object has properties, and there are actions we may want to perform on it. A class is one way to organize that relationship in code.</a:t>
            </a:r>
          </a:p>
          <a:p>
            <a:pPr>
              <a:spcAft>
                <a:spcPts val="800"/>
              </a:spcAft>
            </a:pPr>
            <a:r>
              <a:rPr sz="1100">
                <a:latin typeface="Arial"/>
              </a:rPr>
              <a:t>For this introductory course, the most important thing is not to become an expert in object-oriented programming immediately. The important thing is to recognize the idea: sometimes we want to group related information and functions together. Later, when you use astronomy packages, many tools will be built around objects and methods, so this concept will become familiar.</a:t>
            </a:r>
          </a:p>
          <a:p>
            <a:pPr>
              <a:spcAft>
                <a:spcPts val="800"/>
              </a:spcAft>
            </a:pPr>
            <a:r>
              <a:rPr sz="1100">
                <a:latin typeface="Arial"/>
              </a:rPr>
              <a:t>If students look worried, tell them that many researchers use classes for years before fully understanding all object-oriented details. For today, it is enough to understand the intuition: a class is a template for a scientific object.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Files connect our notebook to data outside the notebook. In real astronomy, data usually live in files, archives, or databases. A notebook that only contains numbers typed by hand is useful for learning, but research analysis must read external data.</a:t>
            </a:r>
          </a:p>
          <a:p>
            <a:pPr>
              <a:spcAft>
                <a:spcPts val="800"/>
              </a:spcAft>
            </a:pPr>
            <a:r>
              <a:rPr sz="1100">
                <a:latin typeface="Arial"/>
              </a:rPr>
              <a:t>The example opens a file called star_catalog.txt and prints each line. This is a simple first step, but it introduces several important ideas. We need to know where the file is. We need to open it safely. We need to read lines, remove extra spaces, split values, and sometimes convert text into numbers. Later, we will use specialized tools to read CSV files, FITS files, tables, and images.</a:t>
            </a:r>
          </a:p>
          <a:p>
            <a:pPr>
              <a:spcAft>
                <a:spcPts val="800"/>
              </a:spcAft>
            </a:pPr>
            <a:r>
              <a:rPr sz="1100">
                <a:latin typeface="Arial"/>
              </a:rPr>
              <a:t>File handling is also where many practical errors occur. The file path may be wrong. The file may have unexpected columns. A number may be stored as text. The data may have missing values. So when reading files, always inspect the first few lines and ask whether the data look like what you expected.</a:t>
            </a:r>
          </a:p>
          <a:p>
            <a:pPr>
              <a:spcAft>
                <a:spcPts val="800"/>
              </a:spcAft>
            </a:pPr>
            <a:r>
              <a:rPr sz="1100">
                <a:latin typeface="Arial"/>
              </a:rPr>
              <a:t>During the live demo, show the first few lines of the catalog before analyzing it. This simple habit is powerful. It prevents many mistakes because students can compare what the code expects with what the file actually contains.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Modules let us use code written by other people. This is one of the reasons Python is so powerful for astronomy. Instead of writing every mathematical function, plotting routine, or table parser ourselves, we import modules and packages.</a:t>
            </a:r>
          </a:p>
          <a:p>
            <a:pPr>
              <a:spcAft>
                <a:spcPts val="800"/>
              </a:spcAft>
            </a:pPr>
            <a:r>
              <a:rPr sz="1100">
                <a:latin typeface="Arial"/>
              </a:rPr>
              <a:t>In the example, we import math and use square root. Later, we will import much more powerful scientific packages. NumPy helps with arrays and numerical operations. pandas helps with tables. matplotlib helps with plots. Astropy provides astronomy-specific tools for units, coordinates, times, FITS files, and more. scikit-learn provides machine-learning methods.</a:t>
            </a:r>
          </a:p>
          <a:p>
            <a:pPr>
              <a:spcAft>
                <a:spcPts val="800"/>
              </a:spcAft>
            </a:pPr>
            <a:r>
              <a:rPr sz="1100">
                <a:latin typeface="Arial"/>
              </a:rPr>
              <a:t>Using modules is not cheating. Science depends on shared tools. But using a package responsibly means understanding enough to know what function you are calling, what inputs it expects, what output it returns, and what assumptions it makes. AI assistants can suggest packages and functions, but you should still check documentation and test small examples. Modules give power, and fundamentals give control.</a:t>
            </a:r>
          </a:p>
          <a:p>
            <a:pPr>
              <a:spcAft>
                <a:spcPts val="800"/>
              </a:spcAft>
            </a:pPr>
            <a:r>
              <a:rPr sz="1100">
                <a:latin typeface="Arial"/>
              </a:rPr>
              <a:t>You can mention that importing a module is also a trust relationship. We trust community packages because they are tested and documented, but we still need to understand how to call them and how to interpret their outputs.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Programming mistakes can become scientific mistakes. This is why we care about good habits from the beginning. A wrong type can make a number behave like text. A wrong loop can skip rows or double-count objects. A wrong file path can make you analyze yesterday's catalog while thinking you are analyzing today's data.</a:t>
            </a:r>
          </a:p>
          <a:p>
            <a:pPr>
              <a:spcAft>
                <a:spcPts val="800"/>
              </a:spcAft>
            </a:pPr>
            <a:r>
              <a:rPr sz="1100">
                <a:latin typeface="Arial"/>
              </a:rPr>
              <a:t>These mistakes are normal. Every programmer makes errors. The goal is not to become a person who never makes mistakes. The goal is to build a workflow that exposes mistakes early. Print intermediate values. Plot diagnostic figures. Test on a small example where you know the answer. Read error messages carefully. Check units. Check shapes of arrays. Check whether the number of selected objects is plausible.</a:t>
            </a:r>
          </a:p>
          <a:p>
            <a:pPr>
              <a:spcAft>
                <a:spcPts val="800"/>
              </a:spcAft>
            </a:pPr>
            <a:r>
              <a:rPr sz="1100">
                <a:latin typeface="Arial"/>
              </a:rPr>
              <a:t>This is also important when using AI. AI-generated code may look clean, but you still need to test it. A beautiful plot can still be based on the wrong column. A program that runs without errors can still answer the wrong question. Scientific coding is about verification.</a:t>
            </a:r>
          </a:p>
          <a:p>
            <a:pPr>
              <a:spcAft>
                <a:spcPts val="800"/>
              </a:spcAft>
            </a:pPr>
            <a:r>
              <a:rPr sz="1100">
                <a:latin typeface="Arial"/>
              </a:rPr>
              <a:t>This slide is important for research culture. Students should not feel embarrassed by errors. A visible error is often better than a silent mistake. Silent mistakes are dangerous because they can produce clean-looking but wrong results.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Here is the learning loop I want you to practice in the Jupyter hour. First, read the cell. Do not run it immediately without looking. Ask what the code is supposed to do. Second, predict the output. Even a rough prediction is useful. Third, run the cell. Fourth, change one thing: a number, a string, a threshold, or a list element. Fifth, sometimes break the code on purpose. Errors are part of learning. Finally, explain what happened.</a:t>
            </a:r>
          </a:p>
          <a:p>
            <a:pPr>
              <a:spcAft>
                <a:spcPts val="800"/>
              </a:spcAft>
            </a:pPr>
            <a:r>
              <a:rPr sz="1100">
                <a:latin typeface="Arial"/>
              </a:rPr>
              <a:t>This loop is much more effective than passively watching code run. If the code works, ask why it works. If it fails, read the error message and identify the first wrong assumption. If AI helps you fix it, inspect the suggestion before trusting it.</a:t>
            </a:r>
          </a:p>
          <a:p>
            <a:pPr>
              <a:spcAft>
                <a:spcPts val="800"/>
              </a:spcAft>
            </a:pPr>
            <a:r>
              <a:rPr sz="1100">
                <a:latin typeface="Arial"/>
              </a:rPr>
              <a:t>In research, this loop never disappears. Advanced analysis is still built from reading, predicting, running, changing, debugging, and explaining. Today we practice it with simple notebooks so that later we can apply it to real astronomical datasets.</a:t>
            </a:r>
          </a:p>
          <a:p>
            <a:pPr>
              <a:spcAft>
                <a:spcPts val="800"/>
              </a:spcAft>
            </a:pPr>
            <a:r>
              <a:rPr sz="1100">
                <a:latin typeface="Arial"/>
              </a:rPr>
              <a:t>Before moving to the demo plan, tell students that active learning may feel slower at first. But predicting and explaining outputs builds real understanding. Simply copying working code does not.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For the Jupyter hour, this is a realistic route. We probably cannot study every notebook deeply in one hour, and that is fine. The goal is not to complete every cell. The goal is to learn how to use a notebook actively.</a:t>
            </a:r>
          </a:p>
          <a:p>
            <a:pPr>
              <a:spcAft>
                <a:spcPts val="800"/>
              </a:spcAft>
            </a:pPr>
            <a:r>
              <a:rPr sz="1100">
                <a:latin typeface="Arial"/>
              </a:rPr>
              <a:t>We will start with 01 Getting Started: opening the notebook, running cells, editing a cell, and seeing outputs. Then we move to variables, data structures, and strings. These are the basic ways to represent information. Next we look at loops, conditions, and functions. These are the basic ways to describe actions and logic. Near the end, we connect to files and modules, because real data live outside the notebook and real analysis uses shared packages.</a:t>
            </a:r>
          </a:p>
          <a:p>
            <a:pPr>
              <a:spcAft>
                <a:spcPts val="800"/>
              </a:spcAft>
            </a:pPr>
            <a:r>
              <a:rPr sz="1100">
                <a:latin typeface="Arial"/>
              </a:rPr>
              <a:t>Classes are optional today. If the room is comfortable, we can discuss them briefly. If not, it is better to spend time on variables, loops, functions, and files, because those are immediately useful. Remember: understanding a few concepts well is better than rushing through many concepts superficially.</a:t>
            </a:r>
          </a:p>
          <a:p>
            <a:pPr>
              <a:spcAft>
                <a:spcPts val="800"/>
              </a:spcAft>
            </a:pPr>
            <a:r>
              <a:rPr sz="1100">
                <a:latin typeface="Arial"/>
              </a:rPr>
              <a:t>You can adjust this schedule depending on the room. If students are very new, spend more time on variables and loops. If they move quickly, use the file examples to show a more realistic astronomy workflow.</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This mini workflow is a small version of real astronomical analysis. We begin with a question: which objects meet our selection rule? The data may be star_catalog.txt or exoplanet_catalog.txt. The output may be a short list of selected objects, a small table, or eventually a plot.</a:t>
            </a:r>
          </a:p>
          <a:p>
            <a:pPr>
              <a:spcAft>
                <a:spcPts val="800"/>
              </a:spcAft>
            </a:pPr>
            <a:r>
              <a:rPr sz="1100">
                <a:latin typeface="Arial"/>
              </a:rPr>
              <a:t>The workflow has several steps. Open the file. Read the rows. Parse values from text into useful variables. Select objects using a rule. Print or plot the result. Then check whether the result makes sense. Each step corresponds to a programming concept from Week 1.</a:t>
            </a:r>
          </a:p>
          <a:p>
            <a:pPr>
              <a:spcAft>
                <a:spcPts val="800"/>
              </a:spcAft>
            </a:pPr>
            <a:r>
              <a:rPr sz="1100">
                <a:latin typeface="Arial"/>
              </a:rPr>
              <a:t>A good live exercise is to change the selection threshold. For example, what happens if the magnitude limit changes? Which objects are selected now? Before running the code, students should predict the result. Another good AI-era exercise is to ask an AI assistant for code to read the file, then inspect whether the code matches the actual file format. This teaches both programming and critical AI use.</a:t>
            </a:r>
          </a:p>
          <a:p>
            <a:pPr>
              <a:spcAft>
                <a:spcPts val="800"/>
              </a:spcAft>
            </a:pPr>
            <a:r>
              <a:rPr sz="1100">
                <a:latin typeface="Arial"/>
              </a:rPr>
              <a:t>This workflow is deliberately small. Small workflows are good teaching tools because students can see the whole chain from question to data to result. Later, the same chain becomes larger, but the logic remains recognizable.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Let us return to AI one more time before the live demo. A responsible workflow for AI coding assistants is: ask, read, run, test, and explain. Ask for a small piece of code, not for an entire scientific conclusion. Read the code before running it. Run it on a small example. Test it against a case where you know the answer. Then explain the result in astronomical terms.</a:t>
            </a:r>
          </a:p>
          <a:p>
            <a:pPr>
              <a:spcAft>
                <a:spcPts val="800"/>
              </a:spcAft>
            </a:pPr>
            <a:r>
              <a:rPr sz="1100">
                <a:latin typeface="Arial"/>
              </a:rPr>
              <a:t>This is a healthier relationship with AI. The AI assistant can help with syntax, common patterns, and debugging hints. It can also explain error messages. But it does not know your scientific context unless you provide it, and even then it can misunderstand. It may generate code that is plausible but not appropriate.</a:t>
            </a:r>
          </a:p>
          <a:p>
            <a:pPr>
              <a:spcAft>
                <a:spcPts val="800"/>
              </a:spcAft>
            </a:pPr>
            <a:r>
              <a:rPr sz="1100">
                <a:latin typeface="Arial"/>
              </a:rPr>
              <a:t>So when you use AI, treat it like a fast collaborator whose work must be checked. Programming fundamentals are what allow you to check. If you can read variables, loops, functions, and file operations, you can turn AI from a black box into a useful partner.</a:t>
            </a:r>
          </a:p>
          <a:p>
            <a:pPr>
              <a:spcAft>
                <a:spcPts val="800"/>
              </a:spcAft>
            </a:pPr>
            <a:r>
              <a:rPr sz="1100">
                <a:latin typeface="Arial"/>
              </a:rPr>
              <a:t>A strong final AI point is: "AI can help you get code, but programming helps you know whether the code deserves your trust." That sentence connects the AI discussion back to the entire Week 1 curriculum.</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Let us summarize what programming gives an astronomer. First, scale. Programming lets you apply one analysis to many objects, many files, many images, or many simulations. Second, memory. Code records what you did, so you can rerun the analysis when data change or when someone asks how a figure was made. Third, collaboration. A notebook can be shared with classmates, collaborators, supervisors, and AI tools.</a:t>
            </a:r>
          </a:p>
          <a:p>
            <a:pPr>
              <a:spcAft>
                <a:spcPts val="800"/>
              </a:spcAft>
            </a:pPr>
            <a:r>
              <a:rPr sz="1100">
                <a:latin typeface="Arial"/>
              </a:rPr>
              <a:t>Most importantly, programming turns an astronomical idea into something measurable. A question like which stars are bright becomes a selection rule. A question like how large is this exoplanet becomes a calculation. A question like is this signal periodic becomes an algorithm and a plot.</a:t>
            </a:r>
          </a:p>
          <a:p>
            <a:pPr>
              <a:spcAft>
                <a:spcPts val="800"/>
              </a:spcAft>
            </a:pPr>
            <a:r>
              <a:rPr sz="1100">
                <a:latin typeface="Arial"/>
              </a:rPr>
              <a:t>So programming is not separate from astronomy. It is one of the modern languages of astronomy. Today we have only introduced the vocabulary. Now we will use Jupyter to practice speaking that language with small examples.</a:t>
            </a:r>
          </a:p>
          <a:p>
            <a:pPr>
              <a:spcAft>
                <a:spcPts val="800"/>
              </a:spcAft>
            </a:pPr>
            <a:r>
              <a:rPr sz="1100">
                <a:latin typeface="Arial"/>
              </a:rPr>
              <a:t>End with confidence. Tell students that the first steps may feel mechanical, but every expert began by learning names, values, loops, and files. These simple ideas are the foundation of much more sophisticated astronomical analysis.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D5E28-2168-C974-38FC-57B47D972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C17C8-84D6-6ADB-0CE7-FF4EE03D3F7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8FEA96-7110-6874-AAC9-798FAC7F3614}"/>
              </a:ext>
            </a:extLst>
          </p:cNvPr>
          <p:cNvSpPr>
            <a:spLocks noGrp="1"/>
          </p:cNvSpPr>
          <p:nvPr>
            <p:ph type="body" sz="quarter" idx="3"/>
          </p:nvPr>
        </p:nvSpPr>
        <p:spPr/>
        <p:txBody>
          <a:bodyPr/>
          <a:lstStyle/>
          <a:p>
            <a:pPr>
              <a:spcAft>
                <a:spcPts val="800"/>
              </a:spcAft>
            </a:pPr>
            <a:r>
              <a:rPr sz="1100" dirty="0">
                <a:latin typeface="Arial"/>
              </a:rPr>
              <a:t>Now we switch from slides to </a:t>
            </a:r>
            <a:r>
              <a:rPr sz="1100" dirty="0" err="1">
                <a:latin typeface="Arial"/>
              </a:rPr>
              <a:t>Jupyter</a:t>
            </a:r>
            <a:r>
              <a:rPr sz="1100" dirty="0">
                <a:latin typeface="Arial"/>
              </a:rPr>
              <a:t>. Please open Week 1/01_getting_started.ipynb. The goal is not to type perfectly or to finish everything quickly. The goal is to learn the workflow: run a cell, read the output, change something, run again, and explain what happened.</a:t>
            </a:r>
          </a:p>
          <a:p>
            <a:pPr>
              <a:spcAft>
                <a:spcPts val="800"/>
              </a:spcAft>
            </a:pPr>
            <a:r>
              <a:rPr sz="1100" dirty="0">
                <a:latin typeface="Arial"/>
              </a:rPr>
              <a:t>As we go through the notebook, keep connecting the code to the concepts from the slides. When you see a name assigned to a value, call it a variable. When you see a list or dictionary, ask what information it organizes. When you see a loop, ask what is being repeated. When you see a function, ask what idea is being packaged. When you read a file, ask where the data live and what format they have.</a:t>
            </a:r>
          </a:p>
          <a:p>
            <a:pPr>
              <a:spcAft>
                <a:spcPts val="800"/>
              </a:spcAft>
            </a:pPr>
            <a:r>
              <a:rPr sz="1100" dirty="0">
                <a:latin typeface="Arial"/>
              </a:rPr>
              <a:t>If something breaks, that is useful. We will read the error message together. Debugging is not a failure of programming; debugging is one of the main ways we learn how the computer understood our instructions.</a:t>
            </a:r>
          </a:p>
          <a:p>
            <a:pPr>
              <a:spcAft>
                <a:spcPts val="800"/>
              </a:spcAft>
            </a:pPr>
            <a:r>
              <a:rPr lang="en-CN" sz="1100" dirty="0">
                <a:latin typeface="Arial"/>
              </a:rPr>
              <a:t>Let</a:t>
            </a:r>
            <a:r>
              <a:rPr lang="en-US" altLang="zh-CN" sz="1100" dirty="0">
                <a:latin typeface="Arial"/>
              </a:rPr>
              <a:t>’s</a:t>
            </a:r>
            <a:r>
              <a:rPr lang="zh-CN" altLang="en-US" sz="1100" dirty="0">
                <a:latin typeface="Arial"/>
              </a:rPr>
              <a:t> </a:t>
            </a:r>
            <a:r>
              <a:rPr sz="1100" dirty="0">
                <a:latin typeface="Arial"/>
              </a:rPr>
              <a:t>switch screens</a:t>
            </a:r>
            <a:r>
              <a:rPr lang="zh-CN" altLang="en-US" sz="1100" dirty="0">
                <a:latin typeface="Arial"/>
              </a:rPr>
              <a:t> </a:t>
            </a:r>
            <a:r>
              <a:rPr lang="en-US" altLang="zh-CN" sz="1100" dirty="0">
                <a:latin typeface="Arial"/>
              </a:rPr>
              <a:t>to</a:t>
            </a:r>
            <a:r>
              <a:rPr lang="zh-CN" altLang="en-US" sz="1100" dirty="0">
                <a:latin typeface="Arial"/>
              </a:rPr>
              <a:t> </a:t>
            </a:r>
            <a:r>
              <a:rPr lang="en-US" altLang="zh-CN" sz="1100" dirty="0">
                <a:latin typeface="Arial"/>
              </a:rPr>
              <a:t>have</a:t>
            </a:r>
            <a:r>
              <a:rPr lang="zh-CN" altLang="en-US" sz="1100" dirty="0">
                <a:latin typeface="Arial"/>
              </a:rPr>
              <a:t> </a:t>
            </a:r>
            <a:r>
              <a:rPr sz="1100" dirty="0">
                <a:latin typeface="Arial"/>
              </a:rPr>
              <a:t>a practical </a:t>
            </a:r>
            <a:r>
              <a:rPr lang="en-US" altLang="zh-CN" sz="1100" dirty="0">
                <a:latin typeface="Arial"/>
              </a:rPr>
              <a:t>exercise</a:t>
            </a:r>
            <a:r>
              <a:rPr sz="1100" dirty="0">
                <a:latin typeface="Arial"/>
              </a:rPr>
              <a:t>: keep the slides in mind, but focus on doing. </a:t>
            </a:r>
          </a:p>
        </p:txBody>
      </p:sp>
      <p:sp>
        <p:nvSpPr>
          <p:cNvPr id="4" name="Slide Number Placeholder 3">
            <a:extLst>
              <a:ext uri="{FF2B5EF4-FFF2-40B4-BE49-F238E27FC236}">
                <a16:creationId xmlns:a16="http://schemas.microsoft.com/office/drawing/2014/main" id="{69399CC4-D6A1-6AB6-EA46-2E596FE8E392}"/>
              </a:ext>
            </a:extLst>
          </p:cNvPr>
          <p:cNvSpPr>
            <a:spLocks noGrp="1"/>
          </p:cNvSpPr>
          <p:nvPr>
            <p:ph type="sldNum" sz="quarter" idx="5"/>
          </p:nvPr>
        </p:nvSpPr>
        <p:spPr/>
      </p:sp>
    </p:spTree>
    <p:extLst>
      <p:ext uri="{BB962C8B-B14F-4D97-AF65-F5344CB8AC3E}">
        <p14:creationId xmlns:p14="http://schemas.microsoft.com/office/powerpoint/2010/main" val="6782951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100">
                <a:latin typeface="Arial"/>
              </a:rPr>
              <a:t>Now we switch from slides to Jupyter. Please open Week 1/01_getting_started.ipynb. The goal is not to type perfectly or to finish everything quickly. The goal is to learn the workflow: run a cell, read the output, change something, run again, and explain what happened.</a:t>
            </a:r>
          </a:p>
          <a:p>
            <a:pPr>
              <a:spcAft>
                <a:spcPts val="800"/>
              </a:spcAft>
            </a:pPr>
            <a:r>
              <a:rPr sz="1100">
                <a:latin typeface="Arial"/>
              </a:rPr>
              <a:t>As we go through the notebook, keep connecting the code to the concepts from the slides. When you see a name assigned to a value, call it a variable. When you see a list or dictionary, ask what information it organizes. When you see a loop, ask what is being repeated. When you see a function, ask what idea is being packaged. When you read a file, ask where the data live and what format they have.</a:t>
            </a:r>
          </a:p>
          <a:p>
            <a:pPr>
              <a:spcAft>
                <a:spcPts val="800"/>
              </a:spcAft>
            </a:pPr>
            <a:r>
              <a:rPr sz="1100">
                <a:latin typeface="Arial"/>
              </a:rPr>
              <a:t>If something breaks, that is useful. We will read the error message together. Debugging is not a failure of programming; debugging is one of the main ways we learn how the computer understood our instructions.</a:t>
            </a:r>
          </a:p>
          <a:p>
            <a:pPr>
              <a:spcAft>
                <a:spcPts val="800"/>
              </a:spcAft>
            </a:pPr>
            <a:r>
              <a:rPr sz="1100">
                <a:latin typeface="Arial"/>
              </a:rPr>
              <a:t>As you switch screens, give students a practical instruction: keep the slides in mind, but focus on doing. The notebook hour is successful if they run code, make at least one change, and understand at least one error message.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tags" Target="../tags/tag3.xml"/><Relationship Id="rId7" Type="http://schemas.openxmlformats.org/officeDocument/2006/relationships/image" Target="../media/image9.png"/><Relationship Id="rId12" Type="http://schemas.openxmlformats.org/officeDocument/2006/relationships/image" Target="../media/image14.jpe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4.xml"/><Relationship Id="rId11" Type="http://schemas.openxmlformats.org/officeDocument/2006/relationships/image" Target="../media/image13.jpeg"/><Relationship Id="rId5" Type="http://schemas.openxmlformats.org/officeDocument/2006/relationships/slideLayout" Target="../slideLayouts/slideLayout7.xml"/><Relationship Id="rId10" Type="http://schemas.openxmlformats.org/officeDocument/2006/relationships/image" Target="../media/image12.png"/><Relationship Id="rId4" Type="http://schemas.openxmlformats.org/officeDocument/2006/relationships/tags" Target="../tags/tag4.xml"/><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1.jpg"/><Relationship Id="rId4" Type="http://schemas.openxmlformats.org/officeDocument/2006/relationships/image" Target="../media/image20.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4160520"/>
            <a:ext cx="12191999" cy="1417320"/>
          </a:xfrm>
          <a:prstGeom prst="rect">
            <a:avLst/>
          </a:prstGeom>
          <a:solidFill>
            <a:srgbClr val="04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2651760"/>
            <a:ext cx="11021568" cy="320040"/>
          </a:xfrm>
          <a:prstGeom prst="rect">
            <a:avLst/>
          </a:prstGeom>
          <a:noFill/>
        </p:spPr>
        <p:txBody>
          <a:bodyPr wrap="square" lIns="54864" tIns="54864" rIns="54864" bIns="54864">
            <a:noAutofit/>
          </a:bodyPr>
          <a:lstStyle/>
          <a:p>
            <a:r>
              <a:rPr lang="en-US" sz="2800" b="1" dirty="0">
                <a:latin typeface="Arial"/>
              </a:rPr>
              <a:t>2026 BRICS Astronomy Data Analytics &amp; AI Training </a:t>
            </a:r>
            <a:r>
              <a:rPr lang="en-US" sz="2800" b="1" dirty="0" err="1">
                <a:latin typeface="Arial"/>
              </a:rPr>
              <a:t>Programme</a:t>
            </a:r>
            <a:endParaRPr sz="2800" b="1" dirty="0">
              <a:latin typeface="Arial"/>
            </a:endParaRPr>
          </a:p>
        </p:txBody>
      </p:sp>
      <p:sp>
        <p:nvSpPr>
          <p:cNvPr id="5" name="TextBox 4"/>
          <p:cNvSpPr txBox="1"/>
          <p:nvPr/>
        </p:nvSpPr>
        <p:spPr>
          <a:xfrm>
            <a:off x="731520" y="4315968"/>
            <a:ext cx="10789920" cy="566928"/>
          </a:xfrm>
          <a:prstGeom prst="rect">
            <a:avLst/>
          </a:prstGeom>
          <a:noFill/>
        </p:spPr>
        <p:txBody>
          <a:bodyPr wrap="square" lIns="54864" tIns="54864" rIns="54864" bIns="54864">
            <a:normAutofit fontScale="92500" lnSpcReduction="10000"/>
          </a:bodyPr>
          <a:lstStyle/>
          <a:p>
            <a:r>
              <a:rPr sz="3400" b="1" dirty="0">
                <a:solidFill>
                  <a:srgbClr val="FFFFFF"/>
                </a:solidFill>
                <a:latin typeface="Arial"/>
              </a:rPr>
              <a:t>Programming </a:t>
            </a:r>
            <a:r>
              <a:rPr lang="en-US" altLang="zh-CN" sz="3400" b="1" dirty="0">
                <a:solidFill>
                  <a:srgbClr val="FFFFFF"/>
                </a:solidFill>
                <a:latin typeface="Arial"/>
              </a:rPr>
              <a:t>with</a:t>
            </a:r>
            <a:r>
              <a:rPr lang="zh-CN" altLang="en-US" sz="3400" b="1" dirty="0">
                <a:solidFill>
                  <a:srgbClr val="FFFFFF"/>
                </a:solidFill>
                <a:latin typeface="Arial"/>
              </a:rPr>
              <a:t> </a:t>
            </a:r>
            <a:r>
              <a:rPr lang="en-US" altLang="zh-CN" sz="3400" b="1" dirty="0">
                <a:solidFill>
                  <a:srgbClr val="FFFFFF"/>
                </a:solidFill>
                <a:latin typeface="Arial"/>
              </a:rPr>
              <a:t>Python</a:t>
            </a:r>
            <a:r>
              <a:rPr lang="zh-CN" altLang="en-US" sz="3400" b="1" dirty="0">
                <a:solidFill>
                  <a:srgbClr val="FFFFFF"/>
                </a:solidFill>
                <a:latin typeface="Arial"/>
              </a:rPr>
              <a:t> </a:t>
            </a:r>
            <a:r>
              <a:rPr lang="en-US" altLang="zh-CN" sz="3400" b="1" dirty="0">
                <a:solidFill>
                  <a:srgbClr val="FFFFFF"/>
                </a:solidFill>
                <a:latin typeface="Arial"/>
              </a:rPr>
              <a:t>–</a:t>
            </a:r>
            <a:r>
              <a:rPr lang="zh-CN" altLang="en-US" sz="3400" b="1" dirty="0">
                <a:solidFill>
                  <a:srgbClr val="FFFFFF"/>
                </a:solidFill>
                <a:latin typeface="Arial"/>
              </a:rPr>
              <a:t> </a:t>
            </a:r>
            <a:r>
              <a:rPr lang="en-US" altLang="zh-CN" sz="3400" b="1" dirty="0">
                <a:solidFill>
                  <a:srgbClr val="FFFFFF"/>
                </a:solidFill>
                <a:latin typeface="Arial"/>
              </a:rPr>
              <a:t>The</a:t>
            </a:r>
            <a:r>
              <a:rPr lang="zh-CN" altLang="en-US" sz="3400" b="1" dirty="0">
                <a:solidFill>
                  <a:srgbClr val="FFFFFF"/>
                </a:solidFill>
                <a:latin typeface="Arial"/>
              </a:rPr>
              <a:t> </a:t>
            </a:r>
            <a:r>
              <a:rPr lang="en-US" altLang="zh-CN" sz="3400" b="1" dirty="0">
                <a:solidFill>
                  <a:srgbClr val="FFFFFF"/>
                </a:solidFill>
                <a:latin typeface="Arial"/>
              </a:rPr>
              <a:t>Introduction</a:t>
            </a:r>
            <a:endParaRPr sz="3400" b="1" dirty="0">
              <a:solidFill>
                <a:srgbClr val="FFFFFF"/>
              </a:solidFill>
              <a:latin typeface="Arial"/>
            </a:endParaRPr>
          </a:p>
        </p:txBody>
      </p:sp>
      <p:sp>
        <p:nvSpPr>
          <p:cNvPr id="7" name="TextBox 6"/>
          <p:cNvSpPr txBox="1"/>
          <p:nvPr/>
        </p:nvSpPr>
        <p:spPr>
          <a:xfrm>
            <a:off x="685800" y="6047232"/>
            <a:ext cx="8431696" cy="512636"/>
          </a:xfrm>
          <a:prstGeom prst="rect">
            <a:avLst/>
          </a:prstGeom>
          <a:noFill/>
        </p:spPr>
        <p:txBody>
          <a:bodyPr wrap="square" lIns="54864" tIns="54864" rIns="54864" bIns="54864">
            <a:noAutofit/>
          </a:bodyPr>
          <a:lstStyle/>
          <a:p>
            <a:r>
              <a:rPr b="1" dirty="0">
                <a:latin typeface="Arial"/>
              </a:rPr>
              <a:t>Feng Wang</a:t>
            </a:r>
            <a:r>
              <a:rPr lang="zh-CN" altLang="en-US" b="1" dirty="0">
                <a:latin typeface="Arial"/>
              </a:rPr>
              <a:t> </a:t>
            </a:r>
            <a:r>
              <a:rPr lang="en-US" altLang="zh-CN" b="1" dirty="0">
                <a:latin typeface="Arial"/>
              </a:rPr>
              <a:t>(Guangzhou</a:t>
            </a:r>
            <a:r>
              <a:rPr lang="zh-CN" altLang="en-US" b="1" dirty="0">
                <a:latin typeface="Arial"/>
              </a:rPr>
              <a:t> </a:t>
            </a:r>
            <a:r>
              <a:rPr lang="en-US" altLang="zh-CN" b="1" dirty="0">
                <a:latin typeface="Arial"/>
              </a:rPr>
              <a:t>University,</a:t>
            </a:r>
            <a:r>
              <a:rPr lang="zh-CN" altLang="en-US" b="1" dirty="0">
                <a:latin typeface="Arial"/>
              </a:rPr>
              <a:t> </a:t>
            </a:r>
            <a:r>
              <a:rPr lang="en-US" altLang="zh-CN" b="1" dirty="0">
                <a:latin typeface="Arial"/>
              </a:rPr>
              <a:t>China)</a:t>
            </a:r>
            <a:r>
              <a:rPr b="1" dirty="0">
                <a:latin typeface="Arial"/>
              </a:rPr>
              <a:t> | Week 1</a:t>
            </a:r>
          </a:p>
        </p:txBody>
      </p:sp>
      <p:pic>
        <p:nvPicPr>
          <p:cNvPr id="1026" name="Picture 2">
            <a:extLst>
              <a:ext uri="{FF2B5EF4-FFF2-40B4-BE49-F238E27FC236}">
                <a16:creationId xmlns:a16="http://schemas.microsoft.com/office/drawing/2014/main" id="{22FD3F30-1383-897C-FF88-B4EB922644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932" y="-120396"/>
            <a:ext cx="2697480" cy="26974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D437C6B-7071-930C-744C-6D39D4123B3D}"/>
              </a:ext>
            </a:extLst>
          </p:cNvPr>
          <p:cNvPicPr>
            <a:picLocks noChangeAspect="1"/>
          </p:cNvPicPr>
          <p:nvPr/>
        </p:nvPicPr>
        <p:blipFill>
          <a:blip r:embed="rId4"/>
          <a:stretch>
            <a:fillRect/>
          </a:stretch>
        </p:blipFill>
        <p:spPr>
          <a:xfrm>
            <a:off x="1947989" y="298132"/>
            <a:ext cx="2692400" cy="1655826"/>
          </a:xfrm>
          <a:prstGeom prst="rect">
            <a:avLst/>
          </a:prstGeom>
        </p:spPr>
      </p:pic>
      <p:pic>
        <p:nvPicPr>
          <p:cNvPr id="1028" name="Picture 4" descr="Guangzhou University - Site Name">
            <a:extLst>
              <a:ext uri="{FF2B5EF4-FFF2-40B4-BE49-F238E27FC236}">
                <a16:creationId xmlns:a16="http://schemas.microsoft.com/office/drawing/2014/main" id="{129252A1-D452-0F38-9783-7F32757E40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1788" y="346471"/>
            <a:ext cx="1417320" cy="14173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ROADMAP</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Today: astronomy first, code second, Jupyter next</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02</a:t>
            </a:r>
          </a:p>
        </p:txBody>
      </p:sp>
      <p:sp>
        <p:nvSpPr>
          <p:cNvPr id="7" name="Rounded Rectangle 6"/>
          <p:cNvSpPr/>
          <p:nvPr/>
        </p:nvSpPr>
        <p:spPr>
          <a:xfrm>
            <a:off x="777240" y="1325880"/>
            <a:ext cx="1691640" cy="603504"/>
          </a:xfrm>
          <a:prstGeom prst="roundRect">
            <a:avLst>
              <a:gd name="adj" fmla="val 6000"/>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3816"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Hot topics</a:t>
            </a:r>
          </a:p>
        </p:txBody>
      </p:sp>
      <p:sp>
        <p:nvSpPr>
          <p:cNvPr id="9" name="TextBox 8"/>
          <p:cNvSpPr txBox="1"/>
          <p:nvPr/>
        </p:nvSpPr>
        <p:spPr>
          <a:xfrm>
            <a:off x="2487168"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0" name="Rounded Rectangle 9"/>
          <p:cNvSpPr/>
          <p:nvPr/>
        </p:nvSpPr>
        <p:spPr>
          <a:xfrm>
            <a:off x="2724912" y="1325880"/>
            <a:ext cx="1691640" cy="603504"/>
          </a:xfrm>
          <a:prstGeom prst="roundRect">
            <a:avLst>
              <a:gd name="adj" fmla="val 6000"/>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61488"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BRICS facilities</a:t>
            </a:r>
          </a:p>
        </p:txBody>
      </p:sp>
      <p:sp>
        <p:nvSpPr>
          <p:cNvPr id="12" name="TextBox 11"/>
          <p:cNvSpPr txBox="1"/>
          <p:nvPr/>
        </p:nvSpPr>
        <p:spPr>
          <a:xfrm>
            <a:off x="4434840"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3" name="Rounded Rectangle 12"/>
          <p:cNvSpPr/>
          <p:nvPr/>
        </p:nvSpPr>
        <p:spPr>
          <a:xfrm>
            <a:off x="4672584" y="1325880"/>
            <a:ext cx="1691640" cy="603504"/>
          </a:xfrm>
          <a:prstGeom prst="roundRect">
            <a:avLst>
              <a:gd name="adj" fmla="val 6000"/>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09160"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Data problem</a:t>
            </a:r>
          </a:p>
        </p:txBody>
      </p:sp>
      <p:sp>
        <p:nvSpPr>
          <p:cNvPr id="15" name="TextBox 14"/>
          <p:cNvSpPr txBox="1"/>
          <p:nvPr/>
        </p:nvSpPr>
        <p:spPr>
          <a:xfrm>
            <a:off x="6382512"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6" name="Rounded Rectangle 15"/>
          <p:cNvSpPr/>
          <p:nvPr/>
        </p:nvSpPr>
        <p:spPr>
          <a:xfrm>
            <a:off x="6620256" y="1325880"/>
            <a:ext cx="1691640" cy="603504"/>
          </a:xfrm>
          <a:prstGeom prst="roundRect">
            <a:avLst>
              <a:gd name="adj" fmla="val 6000"/>
            </a:avLst>
          </a:prstGeom>
          <a:solidFill>
            <a:srgbClr val="D9A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56832"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AI context</a:t>
            </a:r>
          </a:p>
        </p:txBody>
      </p:sp>
      <p:sp>
        <p:nvSpPr>
          <p:cNvPr id="18" name="TextBox 17"/>
          <p:cNvSpPr txBox="1"/>
          <p:nvPr/>
        </p:nvSpPr>
        <p:spPr>
          <a:xfrm>
            <a:off x="8330184"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9" name="Rounded Rectangle 18"/>
          <p:cNvSpPr/>
          <p:nvPr/>
        </p:nvSpPr>
        <p:spPr>
          <a:xfrm>
            <a:off x="8567928" y="1325880"/>
            <a:ext cx="1691640" cy="603504"/>
          </a:xfrm>
          <a:prstGeom prst="roundRect">
            <a:avLst>
              <a:gd name="adj" fmla="val 6000"/>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04504"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Python basics</a:t>
            </a:r>
          </a:p>
        </p:txBody>
      </p:sp>
      <p:sp>
        <p:nvSpPr>
          <p:cNvPr id="21" name="TextBox 20"/>
          <p:cNvSpPr txBox="1"/>
          <p:nvPr/>
        </p:nvSpPr>
        <p:spPr>
          <a:xfrm>
            <a:off x="10277856"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22" name="Rounded Rectangle 21"/>
          <p:cNvSpPr/>
          <p:nvPr/>
        </p:nvSpPr>
        <p:spPr>
          <a:xfrm>
            <a:off x="10515600" y="1325880"/>
            <a:ext cx="1691640" cy="603504"/>
          </a:xfrm>
          <a:prstGeom prst="roundRect">
            <a:avLst>
              <a:gd name="adj" fmla="val 6000"/>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52176"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Jupyter demo</a:t>
            </a:r>
          </a:p>
        </p:txBody>
      </p:sp>
      <p:sp>
        <p:nvSpPr>
          <p:cNvPr id="24" name="Rounded Rectangle 23"/>
          <p:cNvSpPr/>
          <p:nvPr/>
        </p:nvSpPr>
        <p:spPr>
          <a:xfrm>
            <a:off x="777240" y="2514600"/>
            <a:ext cx="3383280" cy="18288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77240" y="2514600"/>
            <a:ext cx="73152" cy="182880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2624328"/>
            <a:ext cx="306324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First hour: concepts</a:t>
            </a:r>
          </a:p>
        </p:txBody>
      </p:sp>
      <p:sp>
        <p:nvSpPr>
          <p:cNvPr id="27" name="TextBox 26"/>
          <p:cNvSpPr txBox="1"/>
          <p:nvPr/>
        </p:nvSpPr>
        <p:spPr>
          <a:xfrm>
            <a:off x="978408" y="2953512"/>
            <a:ext cx="3072384" cy="1325880"/>
          </a:xfrm>
          <a:prstGeom prst="rect">
            <a:avLst/>
          </a:prstGeom>
          <a:noFill/>
        </p:spPr>
        <p:txBody>
          <a:bodyPr wrap="square" lIns="128016" tIns="36576" rIns="109728" bIns="36576">
            <a:normAutofit lnSpcReduction="10000"/>
          </a:bodyPr>
          <a:lstStyle/>
          <a:p>
            <a:pPr>
              <a:spcAft>
                <a:spcPts val="200"/>
              </a:spcAft>
            </a:pPr>
            <a:r>
              <a:rPr sz="1380" b="0">
                <a:solidFill>
                  <a:srgbClr val="191E26"/>
                </a:solidFill>
                <a:latin typeface="Arial"/>
              </a:rPr>
              <a:t>Why current astronomy is data-driven</a:t>
            </a:r>
          </a:p>
          <a:p>
            <a:pPr>
              <a:spcAft>
                <a:spcPts val="200"/>
              </a:spcAft>
            </a:pPr>
            <a:r>
              <a:rPr sz="1380" b="0">
                <a:solidFill>
                  <a:srgbClr val="191E26"/>
                </a:solidFill>
                <a:latin typeface="Arial"/>
              </a:rPr>
              <a:t>Why programming is now a basic research skill</a:t>
            </a:r>
          </a:p>
          <a:p>
            <a:pPr>
              <a:spcAft>
                <a:spcPts val="200"/>
              </a:spcAft>
            </a:pPr>
            <a:r>
              <a:rPr sz="1380" b="0">
                <a:solidFill>
                  <a:srgbClr val="191E26"/>
                </a:solidFill>
                <a:latin typeface="Arial"/>
              </a:rPr>
              <a:t>What algorithms and Python concepts mean</a:t>
            </a:r>
          </a:p>
        </p:txBody>
      </p:sp>
      <p:sp>
        <p:nvSpPr>
          <p:cNvPr id="28" name="Rounded Rectangle 27"/>
          <p:cNvSpPr/>
          <p:nvPr/>
        </p:nvSpPr>
        <p:spPr>
          <a:xfrm>
            <a:off x="4434840" y="2514600"/>
            <a:ext cx="3383280" cy="18288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434840" y="2514600"/>
            <a:ext cx="73152" cy="182880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36008" y="2624328"/>
            <a:ext cx="306324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Second hour: practice</a:t>
            </a:r>
          </a:p>
        </p:txBody>
      </p:sp>
      <p:sp>
        <p:nvSpPr>
          <p:cNvPr id="31" name="TextBox 30"/>
          <p:cNvSpPr txBox="1"/>
          <p:nvPr/>
        </p:nvSpPr>
        <p:spPr>
          <a:xfrm>
            <a:off x="4636008" y="2953512"/>
            <a:ext cx="3072384" cy="13258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Open Week 1 notebooks</a:t>
            </a:r>
          </a:p>
          <a:p>
            <a:pPr>
              <a:spcAft>
                <a:spcPts val="200"/>
              </a:spcAft>
            </a:pPr>
            <a:r>
              <a:rPr sz="1380" b="0">
                <a:solidFill>
                  <a:srgbClr val="191E26"/>
                </a:solidFill>
                <a:latin typeface="Arial"/>
              </a:rPr>
              <a:t>Run and modify cells</a:t>
            </a:r>
          </a:p>
          <a:p>
            <a:pPr>
              <a:spcAft>
                <a:spcPts val="200"/>
              </a:spcAft>
            </a:pPr>
            <a:r>
              <a:rPr sz="1380" b="0">
                <a:solidFill>
                  <a:srgbClr val="191E26"/>
                </a:solidFill>
                <a:latin typeface="Arial"/>
              </a:rPr>
              <a:t>Read small star and exoplanet catalogs</a:t>
            </a:r>
          </a:p>
        </p:txBody>
      </p:sp>
      <p:sp>
        <p:nvSpPr>
          <p:cNvPr id="32" name="Rounded Rectangle 31"/>
          <p:cNvSpPr/>
          <p:nvPr/>
        </p:nvSpPr>
        <p:spPr>
          <a:xfrm>
            <a:off x="8092440" y="2514600"/>
            <a:ext cx="3383280" cy="18288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092440" y="2514600"/>
            <a:ext cx="73152" cy="182880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93608" y="2624328"/>
            <a:ext cx="306324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Take-home message</a:t>
            </a:r>
          </a:p>
        </p:txBody>
      </p:sp>
      <p:sp>
        <p:nvSpPr>
          <p:cNvPr id="35" name="TextBox 34"/>
          <p:cNvSpPr txBox="1"/>
          <p:nvPr/>
        </p:nvSpPr>
        <p:spPr>
          <a:xfrm>
            <a:off x="8293608" y="2953512"/>
            <a:ext cx="3072384" cy="13258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Programming is a language for scientific reasoning</a:t>
            </a:r>
          </a:p>
          <a:p>
            <a:pPr>
              <a:spcAft>
                <a:spcPts val="200"/>
              </a:spcAft>
            </a:pPr>
            <a:r>
              <a:rPr sz="1380" b="0">
                <a:solidFill>
                  <a:srgbClr val="191E26"/>
                </a:solidFill>
                <a:latin typeface="Arial"/>
              </a:rPr>
              <a:t>AI can help, but understanding remains yours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ASTRONOMY NOW</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Current hot topics are also data challenges</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03</a:t>
            </a:r>
          </a:p>
        </p:txBody>
      </p:sp>
      <p:sp>
        <p:nvSpPr>
          <p:cNvPr id="27" name="Rounded Rectangle 26"/>
          <p:cNvSpPr/>
          <p:nvPr/>
        </p:nvSpPr>
        <p:spPr>
          <a:xfrm>
            <a:off x="8275320" y="3337560"/>
            <a:ext cx="3108960" cy="1905642"/>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275320" y="3337560"/>
            <a:ext cx="73152" cy="1508760"/>
          </a:xfrm>
          <a:prstGeom prst="rect">
            <a:avLst/>
          </a:prstGeom>
          <a:solidFill>
            <a:srgbClr val="209A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76488" y="3447288"/>
            <a:ext cx="3063240" cy="274320"/>
          </a:xfrm>
          <a:prstGeom prst="rect">
            <a:avLst/>
          </a:prstGeom>
          <a:noFill/>
        </p:spPr>
        <p:txBody>
          <a:bodyPr wrap="square" lIns="54864" tIns="54864" rIns="54864" bIns="54864">
            <a:normAutofit fontScale="85000" lnSpcReduction="20000"/>
          </a:bodyPr>
          <a:lstStyle/>
          <a:p>
            <a:r>
              <a:rPr sz="1550" b="1">
                <a:solidFill>
                  <a:srgbClr val="209AB2"/>
                </a:solidFill>
                <a:latin typeface="Arial"/>
              </a:rPr>
              <a:t>AI for discovery</a:t>
            </a:r>
          </a:p>
        </p:txBody>
      </p:sp>
      <p:sp>
        <p:nvSpPr>
          <p:cNvPr id="30" name="TextBox 29"/>
          <p:cNvSpPr txBox="1"/>
          <p:nvPr/>
        </p:nvSpPr>
        <p:spPr>
          <a:xfrm>
            <a:off x="8389620" y="4127846"/>
            <a:ext cx="3072384" cy="1005840"/>
          </a:xfrm>
          <a:prstGeom prst="rect">
            <a:avLst/>
          </a:prstGeom>
          <a:noFill/>
        </p:spPr>
        <p:txBody>
          <a:bodyPr wrap="square" lIns="128016" tIns="36576" rIns="109728" bIns="36576">
            <a:normAutofit/>
          </a:bodyPr>
          <a:lstStyle/>
          <a:p>
            <a:pPr>
              <a:spcAft>
                <a:spcPts val="200"/>
              </a:spcAft>
            </a:pPr>
            <a:r>
              <a:rPr sz="1380" b="0" dirty="0">
                <a:solidFill>
                  <a:srgbClr val="191E26"/>
                </a:solidFill>
                <a:latin typeface="Arial"/>
              </a:rPr>
              <a:t>Classification</a:t>
            </a:r>
          </a:p>
          <a:p>
            <a:pPr>
              <a:spcAft>
                <a:spcPts val="200"/>
              </a:spcAft>
            </a:pPr>
            <a:r>
              <a:rPr sz="1380" b="0" dirty="0">
                <a:solidFill>
                  <a:srgbClr val="191E26"/>
                </a:solidFill>
                <a:latin typeface="Arial"/>
              </a:rPr>
              <a:t>Anomaly search</a:t>
            </a:r>
          </a:p>
          <a:p>
            <a:pPr>
              <a:spcAft>
                <a:spcPts val="200"/>
              </a:spcAft>
            </a:pPr>
            <a:r>
              <a:rPr sz="1380" b="0" dirty="0">
                <a:solidFill>
                  <a:srgbClr val="191E26"/>
                </a:solidFill>
                <a:latin typeface="Arial"/>
              </a:rPr>
              <a:t>Simulation acceleration</a:t>
            </a:r>
          </a:p>
        </p:txBody>
      </p:sp>
      <p:sp>
        <p:nvSpPr>
          <p:cNvPr id="31" name="TextBox 30"/>
          <p:cNvSpPr txBox="1"/>
          <p:nvPr/>
        </p:nvSpPr>
        <p:spPr>
          <a:xfrm>
            <a:off x="868680" y="5623560"/>
            <a:ext cx="10515600" cy="384048"/>
          </a:xfrm>
          <a:prstGeom prst="rect">
            <a:avLst/>
          </a:prstGeom>
          <a:noFill/>
        </p:spPr>
        <p:txBody>
          <a:bodyPr wrap="square" lIns="54864" tIns="54864" rIns="54864" bIns="54864">
            <a:normAutofit fontScale="70000" lnSpcReduction="20000"/>
          </a:bodyPr>
          <a:lstStyle/>
          <a:p>
            <a:pPr algn="ctr"/>
            <a:r>
              <a:rPr sz="2000" b="1">
                <a:solidFill>
                  <a:srgbClr val="102238"/>
                </a:solidFill>
                <a:latin typeface="Arial"/>
              </a:rPr>
              <a:t>Modern astronomy asks physical questions through data pipelines, catalogs, images, spectra, and simulations.</a:t>
            </a:r>
          </a:p>
        </p:txBody>
      </p:sp>
      <p:grpSp>
        <p:nvGrpSpPr>
          <p:cNvPr id="35" name="Group 34">
            <a:extLst>
              <a:ext uri="{FF2B5EF4-FFF2-40B4-BE49-F238E27FC236}">
                <a16:creationId xmlns:a16="http://schemas.microsoft.com/office/drawing/2014/main" id="{5BE037D1-7086-6862-3AFD-77AF64842158}"/>
              </a:ext>
            </a:extLst>
          </p:cNvPr>
          <p:cNvGrpSpPr/>
          <p:nvPr/>
        </p:nvGrpSpPr>
        <p:grpSpPr>
          <a:xfrm>
            <a:off x="791038" y="1239012"/>
            <a:ext cx="3553463" cy="2034540"/>
            <a:chOff x="4784001" y="2578608"/>
            <a:chExt cx="3124200" cy="2034540"/>
          </a:xfrm>
        </p:grpSpPr>
        <p:pic>
          <p:nvPicPr>
            <p:cNvPr id="2054" name="Picture 6" descr="爱因斯坦探针首图发布，时域天文学将迎来新发展—新闻—科学网">
              <a:extLst>
                <a:ext uri="{FF2B5EF4-FFF2-40B4-BE49-F238E27FC236}">
                  <a16:creationId xmlns:a16="http://schemas.microsoft.com/office/drawing/2014/main" id="{1A709A1E-3F73-9CDE-69EA-A0DF576AFC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4001" y="2578608"/>
              <a:ext cx="3124200" cy="1879600"/>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1FA455B0-1B8D-6464-E256-1A0685061E0C}"/>
                </a:ext>
              </a:extLst>
            </p:cNvPr>
            <p:cNvSpPr txBox="1"/>
            <p:nvPr/>
          </p:nvSpPr>
          <p:spPr>
            <a:xfrm>
              <a:off x="4791456" y="3607308"/>
              <a:ext cx="3072384" cy="1005840"/>
            </a:xfrm>
            <a:prstGeom prst="rect">
              <a:avLst/>
            </a:prstGeom>
            <a:noFill/>
          </p:spPr>
          <p:txBody>
            <a:bodyPr wrap="square" lIns="128016" tIns="36576" rIns="109728" bIns="36576">
              <a:normAutofit/>
            </a:bodyPr>
            <a:lstStyle/>
            <a:p>
              <a:pPr>
                <a:spcAft>
                  <a:spcPts val="200"/>
                </a:spcAft>
              </a:pPr>
              <a:r>
                <a:rPr sz="1380" b="0" dirty="0">
                  <a:solidFill>
                    <a:schemeClr val="bg1"/>
                  </a:solidFill>
                  <a:latin typeface="Arial"/>
                </a:rPr>
                <a:t>Transient alerts</a:t>
              </a:r>
            </a:p>
            <a:p>
              <a:pPr>
                <a:spcAft>
                  <a:spcPts val="200"/>
                </a:spcAft>
              </a:pPr>
              <a:r>
                <a:rPr sz="1380" b="0" dirty="0">
                  <a:solidFill>
                    <a:schemeClr val="bg1"/>
                  </a:solidFill>
                  <a:latin typeface="Arial"/>
                </a:rPr>
                <a:t>Variable stars</a:t>
              </a:r>
            </a:p>
            <a:p>
              <a:pPr>
                <a:spcAft>
                  <a:spcPts val="200"/>
                </a:spcAft>
              </a:pPr>
              <a:r>
                <a:rPr sz="1380" b="0" dirty="0">
                  <a:solidFill>
                    <a:schemeClr val="bg1"/>
                  </a:solidFill>
                  <a:latin typeface="Arial"/>
                </a:rPr>
                <a:t>Multi-messenger follow-up</a:t>
              </a:r>
            </a:p>
          </p:txBody>
        </p:sp>
        <p:sp>
          <p:nvSpPr>
            <p:cNvPr id="34" name="TextBox 33">
              <a:extLst>
                <a:ext uri="{FF2B5EF4-FFF2-40B4-BE49-F238E27FC236}">
                  <a16:creationId xmlns:a16="http://schemas.microsoft.com/office/drawing/2014/main" id="{97A20AB3-1B24-6667-EFB8-A9502A7BF574}"/>
                </a:ext>
              </a:extLst>
            </p:cNvPr>
            <p:cNvSpPr txBox="1"/>
            <p:nvPr/>
          </p:nvSpPr>
          <p:spPr>
            <a:xfrm>
              <a:off x="4856019" y="2675736"/>
              <a:ext cx="2103368" cy="288951"/>
            </a:xfrm>
            <a:prstGeom prst="rect">
              <a:avLst/>
            </a:prstGeom>
            <a:noFill/>
          </p:spPr>
          <p:txBody>
            <a:bodyPr wrap="square" lIns="54864" tIns="54864" rIns="54864" bIns="54864">
              <a:normAutofit fontScale="92500" lnSpcReduction="20000"/>
            </a:bodyPr>
            <a:lstStyle/>
            <a:p>
              <a:r>
                <a:rPr sz="1550" b="1" dirty="0">
                  <a:solidFill>
                    <a:schemeClr val="bg1"/>
                  </a:solidFill>
                  <a:latin typeface="Arial"/>
                </a:rPr>
                <a:t>Time-domain sky</a:t>
              </a:r>
            </a:p>
          </p:txBody>
        </p:sp>
      </p:grpSp>
      <p:grpSp>
        <p:nvGrpSpPr>
          <p:cNvPr id="39" name="Group 38">
            <a:extLst>
              <a:ext uri="{FF2B5EF4-FFF2-40B4-BE49-F238E27FC236}">
                <a16:creationId xmlns:a16="http://schemas.microsoft.com/office/drawing/2014/main" id="{760829E1-CC6E-90B9-29BD-A5B94374759F}"/>
              </a:ext>
            </a:extLst>
          </p:cNvPr>
          <p:cNvGrpSpPr/>
          <p:nvPr/>
        </p:nvGrpSpPr>
        <p:grpSpPr>
          <a:xfrm>
            <a:off x="4480559" y="1250499"/>
            <a:ext cx="3417397" cy="1971849"/>
            <a:chOff x="3829132" y="4960736"/>
            <a:chExt cx="2535092" cy="1899093"/>
          </a:xfrm>
        </p:grpSpPr>
        <p:pic>
          <p:nvPicPr>
            <p:cNvPr id="2052" name="Picture 4" descr="7,600+ 項太陽系外行星圖片照片檔、圖片和免版稅影像- iStock">
              <a:extLst>
                <a:ext uri="{FF2B5EF4-FFF2-40B4-BE49-F238E27FC236}">
                  <a16:creationId xmlns:a16="http://schemas.microsoft.com/office/drawing/2014/main" id="{AA81DF0B-872C-F50A-28DC-DA7B80D7F0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9132" y="4960736"/>
              <a:ext cx="2535092" cy="1812529"/>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66033501-20BE-8F1F-F030-EE481B8BA00C}"/>
                </a:ext>
              </a:extLst>
            </p:cNvPr>
            <p:cNvSpPr txBox="1"/>
            <p:nvPr/>
          </p:nvSpPr>
          <p:spPr>
            <a:xfrm>
              <a:off x="3864782" y="5853989"/>
              <a:ext cx="2353138" cy="1005840"/>
            </a:xfrm>
            <a:prstGeom prst="rect">
              <a:avLst/>
            </a:prstGeom>
            <a:noFill/>
          </p:spPr>
          <p:txBody>
            <a:bodyPr wrap="square" lIns="128016" tIns="36576" rIns="109728" bIns="36576">
              <a:normAutofit/>
            </a:bodyPr>
            <a:lstStyle/>
            <a:p>
              <a:pPr>
                <a:spcAft>
                  <a:spcPts val="200"/>
                </a:spcAft>
              </a:pPr>
              <a:r>
                <a:rPr sz="1380" b="0" dirty="0">
                  <a:solidFill>
                    <a:schemeClr val="bg1"/>
                  </a:solidFill>
                  <a:latin typeface="Arial"/>
                </a:rPr>
                <a:t>Transit light curves</a:t>
              </a:r>
            </a:p>
            <a:p>
              <a:pPr>
                <a:spcAft>
                  <a:spcPts val="200"/>
                </a:spcAft>
              </a:pPr>
              <a:r>
                <a:rPr sz="1380" b="0" dirty="0">
                  <a:solidFill>
                    <a:schemeClr val="bg1"/>
                  </a:solidFill>
                  <a:latin typeface="Arial"/>
                </a:rPr>
                <a:t>Radial velocities</a:t>
              </a:r>
            </a:p>
            <a:p>
              <a:pPr>
                <a:spcAft>
                  <a:spcPts val="200"/>
                </a:spcAft>
              </a:pPr>
              <a:r>
                <a:rPr sz="1380" b="0" dirty="0">
                  <a:solidFill>
                    <a:schemeClr val="bg1"/>
                  </a:solidFill>
                  <a:latin typeface="Arial"/>
                </a:rPr>
                <a:t>Atmospheric spectra</a:t>
              </a:r>
            </a:p>
          </p:txBody>
        </p:sp>
        <p:sp>
          <p:nvSpPr>
            <p:cNvPr id="38" name="TextBox 37">
              <a:extLst>
                <a:ext uri="{FF2B5EF4-FFF2-40B4-BE49-F238E27FC236}">
                  <a16:creationId xmlns:a16="http://schemas.microsoft.com/office/drawing/2014/main" id="{AA18540C-60AA-5688-C2E7-E393D20A0038}"/>
                </a:ext>
              </a:extLst>
            </p:cNvPr>
            <p:cNvSpPr txBox="1"/>
            <p:nvPr/>
          </p:nvSpPr>
          <p:spPr>
            <a:xfrm>
              <a:off x="3959352" y="5036820"/>
              <a:ext cx="2404872" cy="384048"/>
            </a:xfrm>
            <a:prstGeom prst="rect">
              <a:avLst/>
            </a:prstGeom>
            <a:noFill/>
          </p:spPr>
          <p:txBody>
            <a:bodyPr wrap="square" lIns="54864" tIns="54864" rIns="54864" bIns="54864">
              <a:normAutofit/>
            </a:bodyPr>
            <a:lstStyle/>
            <a:p>
              <a:r>
                <a:rPr sz="1550" b="1" dirty="0">
                  <a:solidFill>
                    <a:schemeClr val="bg1"/>
                  </a:solidFill>
                  <a:latin typeface="Arial"/>
                </a:rPr>
                <a:t>Exoplanets</a:t>
              </a:r>
            </a:p>
          </p:txBody>
        </p:sp>
      </p:grpSp>
      <p:grpSp>
        <p:nvGrpSpPr>
          <p:cNvPr id="42" name="Group 41">
            <a:extLst>
              <a:ext uri="{FF2B5EF4-FFF2-40B4-BE49-F238E27FC236}">
                <a16:creationId xmlns:a16="http://schemas.microsoft.com/office/drawing/2014/main" id="{1B20BA02-23A5-2726-A354-62B41C74C7E9}"/>
              </a:ext>
            </a:extLst>
          </p:cNvPr>
          <p:cNvGrpSpPr/>
          <p:nvPr/>
        </p:nvGrpSpPr>
        <p:grpSpPr>
          <a:xfrm>
            <a:off x="8205832" y="1212124"/>
            <a:ext cx="3236503" cy="1920344"/>
            <a:chOff x="2167550" y="4248547"/>
            <a:chExt cx="2795438" cy="2079019"/>
          </a:xfrm>
        </p:grpSpPr>
        <p:pic>
          <p:nvPicPr>
            <p:cNvPr id="2056" name="Picture 8" descr="爱因斯坦探针：宇宙天体爆发的捕手--中国科学院国家天文台">
              <a:extLst>
                <a:ext uri="{FF2B5EF4-FFF2-40B4-BE49-F238E27FC236}">
                  <a16:creationId xmlns:a16="http://schemas.microsoft.com/office/drawing/2014/main" id="{CDF8806B-685A-7C4B-4DFE-BEE89733A0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67550" y="4248547"/>
              <a:ext cx="2795438" cy="2079019"/>
            </a:xfrm>
            <a:prstGeom prst="rect">
              <a:avLst/>
            </a:prstGeom>
            <a:noFill/>
            <a:extLst>
              <a:ext uri="{909E8E84-426E-40DD-AFC4-6F175D3DCCD1}">
                <a14:hiddenFill xmlns:a14="http://schemas.microsoft.com/office/drawing/2010/main">
                  <a:solidFill>
                    <a:srgbClr val="FFFFFF"/>
                  </a:solidFill>
                </a14:hiddenFill>
              </a:ext>
            </a:extLst>
          </p:spPr>
        </p:pic>
        <p:sp>
          <p:nvSpPr>
            <p:cNvPr id="40" name="TextBox 39">
              <a:extLst>
                <a:ext uri="{FF2B5EF4-FFF2-40B4-BE49-F238E27FC236}">
                  <a16:creationId xmlns:a16="http://schemas.microsoft.com/office/drawing/2014/main" id="{A8069F59-6FEC-A25B-1EC7-15A9CEA5E406}"/>
                </a:ext>
              </a:extLst>
            </p:cNvPr>
            <p:cNvSpPr txBox="1"/>
            <p:nvPr/>
          </p:nvSpPr>
          <p:spPr>
            <a:xfrm>
              <a:off x="2167550" y="5332254"/>
              <a:ext cx="2795438" cy="870558"/>
            </a:xfrm>
            <a:prstGeom prst="rect">
              <a:avLst/>
            </a:prstGeom>
            <a:noFill/>
          </p:spPr>
          <p:txBody>
            <a:bodyPr wrap="square" lIns="128016" tIns="36576" rIns="109728" bIns="36576">
              <a:normAutofit/>
            </a:bodyPr>
            <a:lstStyle/>
            <a:p>
              <a:pPr>
                <a:spcAft>
                  <a:spcPts val="200"/>
                </a:spcAft>
              </a:pPr>
              <a:r>
                <a:rPr sz="1380" b="0" dirty="0">
                  <a:solidFill>
                    <a:schemeClr val="bg1"/>
                  </a:solidFill>
                  <a:latin typeface="Arial"/>
                </a:rPr>
                <a:t>Weak lensing</a:t>
              </a:r>
            </a:p>
            <a:p>
              <a:pPr>
                <a:spcAft>
                  <a:spcPts val="200"/>
                </a:spcAft>
              </a:pPr>
              <a:r>
                <a:rPr sz="1380" b="0" dirty="0">
                  <a:solidFill>
                    <a:schemeClr val="bg1"/>
                  </a:solidFill>
                  <a:latin typeface="Arial"/>
                </a:rPr>
                <a:t>Galaxy clustering</a:t>
              </a:r>
            </a:p>
            <a:p>
              <a:pPr>
                <a:spcAft>
                  <a:spcPts val="200"/>
                </a:spcAft>
              </a:pPr>
              <a:r>
                <a:rPr sz="1380" b="0" dirty="0">
                  <a:solidFill>
                    <a:schemeClr val="bg1"/>
                  </a:solidFill>
                  <a:latin typeface="Arial"/>
                </a:rPr>
                <a:t>Large simulations</a:t>
              </a:r>
            </a:p>
          </p:txBody>
        </p:sp>
        <p:sp>
          <p:nvSpPr>
            <p:cNvPr id="41" name="TextBox 40">
              <a:extLst>
                <a:ext uri="{FF2B5EF4-FFF2-40B4-BE49-F238E27FC236}">
                  <a16:creationId xmlns:a16="http://schemas.microsoft.com/office/drawing/2014/main" id="{EB9CD847-3D47-1F81-C989-6F68D18D3341}"/>
                </a:ext>
              </a:extLst>
            </p:cNvPr>
            <p:cNvSpPr txBox="1"/>
            <p:nvPr/>
          </p:nvSpPr>
          <p:spPr>
            <a:xfrm>
              <a:off x="2252894" y="4482027"/>
              <a:ext cx="2456266" cy="298372"/>
            </a:xfrm>
            <a:prstGeom prst="rect">
              <a:avLst/>
            </a:prstGeom>
            <a:noFill/>
          </p:spPr>
          <p:txBody>
            <a:bodyPr wrap="square" lIns="54864" tIns="54864" rIns="54864" bIns="54864">
              <a:normAutofit fontScale="85000" lnSpcReduction="20000"/>
            </a:bodyPr>
            <a:lstStyle/>
            <a:p>
              <a:r>
                <a:rPr sz="1550" b="1" dirty="0">
                  <a:solidFill>
                    <a:schemeClr val="bg1"/>
                  </a:solidFill>
                  <a:latin typeface="Arial"/>
                </a:rPr>
                <a:t>Cosmology</a:t>
              </a:r>
            </a:p>
          </p:txBody>
        </p:sp>
      </p:grpSp>
      <p:grpSp>
        <p:nvGrpSpPr>
          <p:cNvPr id="46" name="Group 45">
            <a:extLst>
              <a:ext uri="{FF2B5EF4-FFF2-40B4-BE49-F238E27FC236}">
                <a16:creationId xmlns:a16="http://schemas.microsoft.com/office/drawing/2014/main" id="{34ABC5A7-DC15-64A6-266D-4CEB8C27D788}"/>
              </a:ext>
            </a:extLst>
          </p:cNvPr>
          <p:cNvGrpSpPr/>
          <p:nvPr/>
        </p:nvGrpSpPr>
        <p:grpSpPr>
          <a:xfrm>
            <a:off x="791038" y="3260797"/>
            <a:ext cx="3503007" cy="2067107"/>
            <a:chOff x="3366944" y="4727913"/>
            <a:chExt cx="2805256" cy="1941237"/>
          </a:xfrm>
        </p:grpSpPr>
        <p:pic>
          <p:nvPicPr>
            <p:cNvPr id="2058" name="Picture 10" descr="SKA：人类认识宇宙的新纪元--中国科学院国家天文台">
              <a:extLst>
                <a:ext uri="{FF2B5EF4-FFF2-40B4-BE49-F238E27FC236}">
                  <a16:creationId xmlns:a16="http://schemas.microsoft.com/office/drawing/2014/main" id="{7DBA0492-7195-C093-11AF-1F99E19F9E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6944" y="4727913"/>
              <a:ext cx="2805256" cy="1941237"/>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C207BE35-CDB2-2E49-C6D5-7025648C33E4}"/>
                </a:ext>
              </a:extLst>
            </p:cNvPr>
            <p:cNvSpPr txBox="1"/>
            <p:nvPr/>
          </p:nvSpPr>
          <p:spPr>
            <a:xfrm>
              <a:off x="3459480" y="5751745"/>
              <a:ext cx="2270760" cy="837861"/>
            </a:xfrm>
            <a:prstGeom prst="rect">
              <a:avLst/>
            </a:prstGeom>
            <a:noFill/>
          </p:spPr>
          <p:txBody>
            <a:bodyPr wrap="square" lIns="128016" tIns="36576" rIns="109728" bIns="36576">
              <a:normAutofit/>
            </a:bodyPr>
            <a:lstStyle/>
            <a:p>
              <a:pPr>
                <a:spcAft>
                  <a:spcPts val="200"/>
                </a:spcAft>
              </a:pPr>
              <a:r>
                <a:rPr sz="1380" b="0" dirty="0">
                  <a:solidFill>
                    <a:schemeClr val="bg1"/>
                  </a:solidFill>
                  <a:latin typeface="Arial"/>
                </a:rPr>
                <a:t>Pulsars</a:t>
              </a:r>
            </a:p>
            <a:p>
              <a:pPr>
                <a:spcAft>
                  <a:spcPts val="200"/>
                </a:spcAft>
              </a:pPr>
              <a:r>
                <a:rPr sz="1380" b="0" dirty="0">
                  <a:solidFill>
                    <a:schemeClr val="bg1"/>
                  </a:solidFill>
                  <a:latin typeface="Arial"/>
                </a:rPr>
                <a:t>HI surveys</a:t>
              </a:r>
            </a:p>
            <a:p>
              <a:pPr>
                <a:spcAft>
                  <a:spcPts val="200"/>
                </a:spcAft>
              </a:pPr>
              <a:r>
                <a:rPr sz="1380" b="0" dirty="0">
                  <a:solidFill>
                    <a:schemeClr val="bg1"/>
                  </a:solidFill>
                  <a:latin typeface="Arial"/>
                </a:rPr>
                <a:t>FRBs and interferometry</a:t>
              </a:r>
            </a:p>
          </p:txBody>
        </p:sp>
        <p:sp>
          <p:nvSpPr>
            <p:cNvPr id="44" name="TextBox 43">
              <a:extLst>
                <a:ext uri="{FF2B5EF4-FFF2-40B4-BE49-F238E27FC236}">
                  <a16:creationId xmlns:a16="http://schemas.microsoft.com/office/drawing/2014/main" id="{380E43DB-64AD-CCD5-BE8D-94C6AAED17D5}"/>
                </a:ext>
              </a:extLst>
            </p:cNvPr>
            <p:cNvSpPr txBox="1"/>
            <p:nvPr/>
          </p:nvSpPr>
          <p:spPr>
            <a:xfrm>
              <a:off x="3435096" y="4823460"/>
              <a:ext cx="2563368" cy="397764"/>
            </a:xfrm>
            <a:prstGeom prst="rect">
              <a:avLst/>
            </a:prstGeom>
            <a:noFill/>
          </p:spPr>
          <p:txBody>
            <a:bodyPr wrap="square" lIns="54864" tIns="54864" rIns="54864" bIns="54864">
              <a:normAutofit/>
            </a:bodyPr>
            <a:lstStyle/>
            <a:p>
              <a:r>
                <a:rPr sz="1550" b="1" dirty="0">
                  <a:solidFill>
                    <a:schemeClr val="bg1"/>
                  </a:solidFill>
                  <a:latin typeface="Arial"/>
                </a:rPr>
                <a:t>Radio universe</a:t>
              </a:r>
            </a:p>
          </p:txBody>
        </p:sp>
      </p:grpSp>
      <p:grpSp>
        <p:nvGrpSpPr>
          <p:cNvPr id="49" name="Group 48">
            <a:extLst>
              <a:ext uri="{FF2B5EF4-FFF2-40B4-BE49-F238E27FC236}">
                <a16:creationId xmlns:a16="http://schemas.microsoft.com/office/drawing/2014/main" id="{737A1C79-605F-A4B7-4CB8-585EC0A541A5}"/>
              </a:ext>
            </a:extLst>
          </p:cNvPr>
          <p:cNvGrpSpPr/>
          <p:nvPr/>
        </p:nvGrpSpPr>
        <p:grpSpPr>
          <a:xfrm>
            <a:off x="4480560" y="3273552"/>
            <a:ext cx="3383279" cy="2151888"/>
            <a:chOff x="5824837" y="4797108"/>
            <a:chExt cx="3456214" cy="2075910"/>
          </a:xfrm>
        </p:grpSpPr>
        <p:pic>
          <p:nvPicPr>
            <p:cNvPr id="2062" name="Picture 14" descr="太阳物理学家：太阳怎么了？">
              <a:extLst>
                <a:ext uri="{FF2B5EF4-FFF2-40B4-BE49-F238E27FC236}">
                  <a16:creationId xmlns:a16="http://schemas.microsoft.com/office/drawing/2014/main" id="{4FCEE719-08FB-0AF9-5704-827FDAB01B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4837" y="4797108"/>
              <a:ext cx="3456214" cy="1935480"/>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7D287B97-1A8D-D5A7-603E-3F41F03B23F0}"/>
                </a:ext>
              </a:extLst>
            </p:cNvPr>
            <p:cNvSpPr txBox="1"/>
            <p:nvPr/>
          </p:nvSpPr>
          <p:spPr>
            <a:xfrm>
              <a:off x="5931411" y="5867178"/>
              <a:ext cx="1993392" cy="1005840"/>
            </a:xfrm>
            <a:prstGeom prst="rect">
              <a:avLst/>
            </a:prstGeom>
            <a:noFill/>
          </p:spPr>
          <p:txBody>
            <a:bodyPr wrap="square" lIns="128016" tIns="36576" rIns="109728" bIns="36576">
              <a:normAutofit/>
            </a:bodyPr>
            <a:lstStyle/>
            <a:p>
              <a:pPr>
                <a:spcAft>
                  <a:spcPts val="200"/>
                </a:spcAft>
              </a:pPr>
              <a:r>
                <a:rPr sz="1380" b="0" dirty="0">
                  <a:solidFill>
                    <a:schemeClr val="bg1"/>
                  </a:solidFill>
                  <a:latin typeface="Arial"/>
                </a:rPr>
                <a:t>Space weather</a:t>
              </a:r>
            </a:p>
            <a:p>
              <a:pPr>
                <a:spcAft>
                  <a:spcPts val="200"/>
                </a:spcAft>
              </a:pPr>
              <a:r>
                <a:rPr sz="1380" b="0" dirty="0">
                  <a:solidFill>
                    <a:schemeClr val="bg1"/>
                  </a:solidFill>
                  <a:latin typeface="Arial"/>
                </a:rPr>
                <a:t>High-cadence images</a:t>
              </a:r>
            </a:p>
            <a:p>
              <a:pPr>
                <a:spcAft>
                  <a:spcPts val="200"/>
                </a:spcAft>
              </a:pPr>
              <a:r>
                <a:rPr sz="1380" b="0" dirty="0">
                  <a:solidFill>
                    <a:schemeClr val="bg1"/>
                  </a:solidFill>
                  <a:latin typeface="Arial"/>
                </a:rPr>
                <a:t>Magnetic fields</a:t>
              </a:r>
            </a:p>
          </p:txBody>
        </p:sp>
        <p:sp>
          <p:nvSpPr>
            <p:cNvPr id="48" name="TextBox 47">
              <a:extLst>
                <a:ext uri="{FF2B5EF4-FFF2-40B4-BE49-F238E27FC236}">
                  <a16:creationId xmlns:a16="http://schemas.microsoft.com/office/drawing/2014/main" id="{AA321CCB-1213-55B8-EC50-070F8D08EA8C}"/>
                </a:ext>
              </a:extLst>
            </p:cNvPr>
            <p:cNvSpPr txBox="1"/>
            <p:nvPr/>
          </p:nvSpPr>
          <p:spPr>
            <a:xfrm>
              <a:off x="5931410" y="4912340"/>
              <a:ext cx="3224781" cy="405525"/>
            </a:xfrm>
            <a:prstGeom prst="rect">
              <a:avLst/>
            </a:prstGeom>
            <a:noFill/>
          </p:spPr>
          <p:txBody>
            <a:bodyPr wrap="square" lIns="54864" tIns="54864" rIns="54864" bIns="54864">
              <a:normAutofit/>
            </a:bodyPr>
            <a:lstStyle/>
            <a:p>
              <a:r>
                <a:rPr sz="1550" b="1" dirty="0">
                  <a:solidFill>
                    <a:schemeClr val="bg1"/>
                  </a:solidFill>
                  <a:latin typeface="Arial"/>
                </a:rPr>
                <a:t>Solar physics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BRICS ASTRONOMY</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BRICS astronomy is broad, multi-wavelength, and international</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04</a:t>
            </a:r>
          </a:p>
        </p:txBody>
      </p:sp>
      <p:pic>
        <p:nvPicPr>
          <p:cNvPr id="31" name="图片 31" descr="f68582dd3266d5e40ac54e4744e13c4">
            <a:extLst>
              <a:ext uri="{FF2B5EF4-FFF2-40B4-BE49-F238E27FC236}">
                <a16:creationId xmlns:a16="http://schemas.microsoft.com/office/drawing/2014/main" id="{B3D6D674-32C7-B0F7-3FC8-1EF25BE110B2}"/>
              </a:ext>
            </a:extLst>
          </p:cNvPr>
          <p:cNvPicPr>
            <a:picLocks noChangeAspect="1"/>
          </p:cNvPicPr>
          <p:nvPr>
            <p:custDataLst>
              <p:tags r:id="rId1"/>
            </p:custDataLst>
          </p:nvPr>
        </p:nvPicPr>
        <p:blipFill>
          <a:blip r:embed="rId7"/>
          <a:srcRect l="7749" r="6000"/>
          <a:stretch>
            <a:fillRect/>
          </a:stretch>
        </p:blipFill>
        <p:spPr>
          <a:xfrm>
            <a:off x="4995081" y="5038858"/>
            <a:ext cx="2319020" cy="1788160"/>
          </a:xfrm>
          <a:prstGeom prst="rect">
            <a:avLst/>
          </a:prstGeom>
        </p:spPr>
      </p:pic>
      <p:pic>
        <p:nvPicPr>
          <p:cNvPr id="32" name="图片 40">
            <a:extLst>
              <a:ext uri="{FF2B5EF4-FFF2-40B4-BE49-F238E27FC236}">
                <a16:creationId xmlns:a16="http://schemas.microsoft.com/office/drawing/2014/main" id="{E83D7973-ECA7-4F6F-BAA4-3F5961BCB996}"/>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rcRect t="31099" b="11578"/>
          <a:stretch>
            <a:fillRect/>
          </a:stretch>
        </p:blipFill>
        <p:spPr>
          <a:xfrm>
            <a:off x="5840430" y="3210595"/>
            <a:ext cx="1975485" cy="1738210"/>
          </a:xfrm>
          <a:prstGeom prst="rect">
            <a:avLst/>
          </a:prstGeom>
          <a:ln>
            <a:noFill/>
          </a:ln>
          <a:effectLst/>
        </p:spPr>
      </p:pic>
      <p:pic>
        <p:nvPicPr>
          <p:cNvPr id="33" name="图片 24">
            <a:extLst>
              <a:ext uri="{FF2B5EF4-FFF2-40B4-BE49-F238E27FC236}">
                <a16:creationId xmlns:a16="http://schemas.microsoft.com/office/drawing/2014/main" id="{8DACD506-F3B0-7E38-F7DD-C7800F32B6D4}"/>
              </a:ext>
            </a:extLst>
          </p:cNvPr>
          <p:cNvPicPr>
            <a:picLocks noChangeAspect="1"/>
          </p:cNvPicPr>
          <p:nvPr>
            <p:custDataLst>
              <p:tags r:id="rId3"/>
            </p:custDataLst>
          </p:nvPr>
        </p:nvPicPr>
        <p:blipFill>
          <a:blip r:embed="rId9"/>
          <a:stretch>
            <a:fillRect/>
          </a:stretch>
        </p:blipFill>
        <p:spPr>
          <a:xfrm>
            <a:off x="7419200" y="4679188"/>
            <a:ext cx="1975485" cy="1785620"/>
          </a:xfrm>
          <a:prstGeom prst="rect">
            <a:avLst/>
          </a:prstGeom>
        </p:spPr>
      </p:pic>
      <p:pic>
        <p:nvPicPr>
          <p:cNvPr id="34" name="图片 38" descr="/Users/xuyunfei/Library/Containers/com.kingsoft.wpsoffice.mac/Data/tmp/picturecompress_20241208202314/output_1.pngoutput_1">
            <a:extLst>
              <a:ext uri="{FF2B5EF4-FFF2-40B4-BE49-F238E27FC236}">
                <a16:creationId xmlns:a16="http://schemas.microsoft.com/office/drawing/2014/main" id="{A55D1B54-7346-FF19-FD0C-4BCE56842B0B}"/>
              </a:ext>
            </a:extLst>
          </p:cNvPr>
          <p:cNvPicPr>
            <a:picLocks noChangeAspect="1"/>
          </p:cNvPicPr>
          <p:nvPr>
            <p:custDataLst>
              <p:tags r:id="rId4"/>
            </p:custDataLst>
          </p:nvPr>
        </p:nvPicPr>
        <p:blipFill>
          <a:blip r:embed="rId10"/>
          <a:srcRect/>
          <a:stretch>
            <a:fillRect/>
          </a:stretch>
        </p:blipFill>
        <p:spPr>
          <a:xfrm>
            <a:off x="9242425" y="5061326"/>
            <a:ext cx="1913255" cy="1848485"/>
          </a:xfrm>
          <a:prstGeom prst="rect">
            <a:avLst/>
          </a:prstGeom>
        </p:spPr>
      </p:pic>
      <p:pic>
        <p:nvPicPr>
          <p:cNvPr id="3074" name="Picture 2" descr="Giant Metrewave Radio Telescope - Wikipedia">
            <a:extLst>
              <a:ext uri="{FF2B5EF4-FFF2-40B4-BE49-F238E27FC236}">
                <a16:creationId xmlns:a16="http://schemas.microsoft.com/office/drawing/2014/main" id="{BFD6B1E8-3DDC-39F6-9F79-61C9E232501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97238" y="3386071"/>
            <a:ext cx="1989115" cy="1484186"/>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2F7B54D4-A494-4961-5382-6B9C344E0ADB}"/>
              </a:ext>
            </a:extLst>
          </p:cNvPr>
          <p:cNvSpPr txBox="1"/>
          <p:nvPr/>
        </p:nvSpPr>
        <p:spPr>
          <a:xfrm>
            <a:off x="475488" y="1217787"/>
            <a:ext cx="4519593" cy="1477328"/>
          </a:xfrm>
          <a:prstGeom prst="rect">
            <a:avLst/>
          </a:prstGeom>
          <a:noFill/>
        </p:spPr>
        <p:txBody>
          <a:bodyPr wrap="square" rtlCol="0">
            <a:spAutoFit/>
          </a:bodyPr>
          <a:lstStyle/>
          <a:p>
            <a:r>
              <a:rPr lang="en-CN" dirty="0"/>
              <a:t>🇨🇳 </a:t>
            </a:r>
            <a:r>
              <a:rPr lang="en-US" b="1" dirty="0"/>
              <a:t>China</a:t>
            </a:r>
          </a:p>
          <a:p>
            <a:r>
              <a:rPr lang="en-US" b="1" dirty="0"/>
              <a:t>FAST</a:t>
            </a:r>
            <a:r>
              <a:rPr lang="en-US" dirty="0"/>
              <a:t> (radio) – world’s largest single-dish radio telescope </a:t>
            </a:r>
          </a:p>
          <a:p>
            <a:r>
              <a:rPr lang="en-US" b="1" dirty="0"/>
              <a:t>LAMOST</a:t>
            </a:r>
            <a:r>
              <a:rPr lang="en-US" dirty="0"/>
              <a:t> (optical spectroscopy survey) </a:t>
            </a:r>
          </a:p>
          <a:p>
            <a:r>
              <a:rPr lang="en-US" dirty="0"/>
              <a:t>Solar &amp; low-frequency arrays: </a:t>
            </a:r>
            <a:r>
              <a:rPr lang="en-US" b="1" dirty="0"/>
              <a:t>CSRH</a:t>
            </a:r>
            <a:r>
              <a:rPr lang="en-US" dirty="0"/>
              <a:t>, </a:t>
            </a:r>
            <a:r>
              <a:rPr lang="en-US" b="1" dirty="0"/>
              <a:t>21CMA</a:t>
            </a:r>
            <a:r>
              <a:rPr lang="en-US" dirty="0"/>
              <a:t> </a:t>
            </a:r>
          </a:p>
        </p:txBody>
      </p:sp>
      <p:sp>
        <p:nvSpPr>
          <p:cNvPr id="37" name="TextBox 36">
            <a:extLst>
              <a:ext uri="{FF2B5EF4-FFF2-40B4-BE49-F238E27FC236}">
                <a16:creationId xmlns:a16="http://schemas.microsoft.com/office/drawing/2014/main" id="{315D9FC0-E4F9-DC1D-528E-57B7E51C6A52}"/>
              </a:ext>
            </a:extLst>
          </p:cNvPr>
          <p:cNvSpPr txBox="1"/>
          <p:nvPr/>
        </p:nvSpPr>
        <p:spPr>
          <a:xfrm>
            <a:off x="450007" y="2715908"/>
            <a:ext cx="6100548" cy="1200329"/>
          </a:xfrm>
          <a:prstGeom prst="rect">
            <a:avLst/>
          </a:prstGeom>
          <a:noFill/>
        </p:spPr>
        <p:txBody>
          <a:bodyPr wrap="square">
            <a:spAutoFit/>
          </a:bodyPr>
          <a:lstStyle/>
          <a:p>
            <a:pPr>
              <a:buNone/>
            </a:pPr>
            <a:r>
              <a:rPr lang="en-CN" b="1" dirty="0"/>
              <a:t>🇮🇳 </a:t>
            </a:r>
            <a:r>
              <a:rPr lang="en-US" b="1" dirty="0"/>
              <a:t>India</a:t>
            </a:r>
          </a:p>
          <a:p>
            <a:pPr>
              <a:buFont typeface="Arial" panose="020B0604020202020204" pitchFamily="34" charset="0"/>
              <a:buChar char="•"/>
            </a:pPr>
            <a:r>
              <a:rPr lang="en-US" b="1" dirty="0"/>
              <a:t>Giant </a:t>
            </a:r>
            <a:r>
              <a:rPr lang="en-US" b="1" dirty="0" err="1"/>
              <a:t>Metrewave</a:t>
            </a:r>
            <a:r>
              <a:rPr lang="en-US" b="1" dirty="0"/>
              <a:t> Radio Telescope</a:t>
            </a:r>
            <a:r>
              <a:rPr lang="en-US" dirty="0"/>
              <a:t> / </a:t>
            </a:r>
            <a:r>
              <a:rPr lang="en-US" dirty="0" err="1"/>
              <a:t>uGMRT</a:t>
            </a:r>
            <a:r>
              <a:rPr lang="en-US" dirty="0"/>
              <a:t> (radio) </a:t>
            </a:r>
          </a:p>
          <a:p>
            <a:pPr>
              <a:buFont typeface="Arial" panose="020B0604020202020204" pitchFamily="34" charset="0"/>
              <a:buChar char="•"/>
            </a:pPr>
            <a:r>
              <a:rPr lang="en-US" b="1" dirty="0" err="1"/>
              <a:t>AstroSat</a:t>
            </a:r>
            <a:r>
              <a:rPr lang="en-US" dirty="0"/>
              <a:t> (space-based multi-wavelength) </a:t>
            </a:r>
          </a:p>
          <a:p>
            <a:pPr>
              <a:buFont typeface="Arial" panose="020B0604020202020204" pitchFamily="34" charset="0"/>
              <a:buChar char="•"/>
            </a:pPr>
            <a:r>
              <a:rPr lang="en-US" dirty="0"/>
              <a:t>SKA partner</a:t>
            </a:r>
          </a:p>
        </p:txBody>
      </p:sp>
      <p:sp>
        <p:nvSpPr>
          <p:cNvPr id="39" name="TextBox 38">
            <a:extLst>
              <a:ext uri="{FF2B5EF4-FFF2-40B4-BE49-F238E27FC236}">
                <a16:creationId xmlns:a16="http://schemas.microsoft.com/office/drawing/2014/main" id="{2AED43E4-7565-830B-B9AB-FCA8CAA20A83}"/>
              </a:ext>
            </a:extLst>
          </p:cNvPr>
          <p:cNvSpPr txBox="1"/>
          <p:nvPr/>
        </p:nvSpPr>
        <p:spPr>
          <a:xfrm>
            <a:off x="459753" y="3993945"/>
            <a:ext cx="6100548" cy="1200329"/>
          </a:xfrm>
          <a:prstGeom prst="rect">
            <a:avLst/>
          </a:prstGeom>
          <a:noFill/>
        </p:spPr>
        <p:txBody>
          <a:bodyPr wrap="square">
            <a:spAutoFit/>
          </a:bodyPr>
          <a:lstStyle/>
          <a:p>
            <a:pPr>
              <a:buNone/>
            </a:pPr>
            <a:r>
              <a:rPr lang="en-CN" b="1" dirty="0"/>
              <a:t>🇷🇺 </a:t>
            </a:r>
            <a:r>
              <a:rPr lang="en-US" b="1" dirty="0"/>
              <a:t>Russia</a:t>
            </a:r>
          </a:p>
          <a:p>
            <a:pPr>
              <a:buFont typeface="Arial" panose="020B0604020202020204" pitchFamily="34" charset="0"/>
              <a:buChar char="•"/>
            </a:pPr>
            <a:r>
              <a:rPr lang="en-US" b="1" dirty="0"/>
              <a:t>RATAN-600</a:t>
            </a:r>
            <a:r>
              <a:rPr lang="en-US" dirty="0"/>
              <a:t> (radio ring telescope) </a:t>
            </a:r>
          </a:p>
          <a:p>
            <a:pPr>
              <a:buFont typeface="Arial" panose="020B0604020202020204" pitchFamily="34" charset="0"/>
              <a:buChar char="•"/>
            </a:pPr>
            <a:r>
              <a:rPr lang="en-US" b="1" dirty="0"/>
              <a:t>BTA-6</a:t>
            </a:r>
            <a:r>
              <a:rPr lang="en-US" dirty="0"/>
              <a:t> (6-m optical) </a:t>
            </a:r>
          </a:p>
          <a:p>
            <a:pPr>
              <a:buFont typeface="Arial" panose="020B0604020202020204" pitchFamily="34" charset="0"/>
              <a:buChar char="•"/>
            </a:pPr>
            <a:r>
              <a:rPr lang="en-US" dirty="0"/>
              <a:t>Strong heritage in radio and VLBI</a:t>
            </a:r>
          </a:p>
        </p:txBody>
      </p:sp>
      <p:sp>
        <p:nvSpPr>
          <p:cNvPr id="41" name="TextBox 40">
            <a:extLst>
              <a:ext uri="{FF2B5EF4-FFF2-40B4-BE49-F238E27FC236}">
                <a16:creationId xmlns:a16="http://schemas.microsoft.com/office/drawing/2014/main" id="{2754F5D5-CFC7-5B81-8181-F15505C70697}"/>
              </a:ext>
            </a:extLst>
          </p:cNvPr>
          <p:cNvSpPr txBox="1"/>
          <p:nvPr/>
        </p:nvSpPr>
        <p:spPr>
          <a:xfrm>
            <a:off x="459753" y="5194274"/>
            <a:ext cx="6100548" cy="1477328"/>
          </a:xfrm>
          <a:prstGeom prst="rect">
            <a:avLst/>
          </a:prstGeom>
          <a:noFill/>
        </p:spPr>
        <p:txBody>
          <a:bodyPr wrap="square">
            <a:spAutoFit/>
          </a:bodyPr>
          <a:lstStyle/>
          <a:p>
            <a:pPr>
              <a:buNone/>
            </a:pPr>
            <a:r>
              <a:rPr lang="en-CN" b="1" dirty="0"/>
              <a:t>🇧🇷 </a:t>
            </a:r>
            <a:r>
              <a:rPr lang="en-US" b="1" dirty="0"/>
              <a:t>Brazil</a:t>
            </a:r>
          </a:p>
          <a:p>
            <a:pPr>
              <a:buFont typeface="Arial" panose="020B0604020202020204" pitchFamily="34" charset="0"/>
              <a:buChar char="•"/>
            </a:pPr>
            <a:r>
              <a:rPr lang="en-US" b="1" dirty="0"/>
              <a:t>BINGO Telescope</a:t>
            </a:r>
            <a:r>
              <a:rPr lang="en-US" dirty="0"/>
              <a:t> (radio, under construction) </a:t>
            </a:r>
          </a:p>
          <a:p>
            <a:pPr>
              <a:buFont typeface="Arial" panose="020B0604020202020204" pitchFamily="34" charset="0"/>
              <a:buChar char="•"/>
            </a:pPr>
            <a:r>
              <a:rPr lang="ar-AE" dirty="0"/>
              <a:t>مشار مشار (</a:t>
            </a:r>
            <a:r>
              <a:rPr lang="en-US" dirty="0"/>
              <a:t>international collaborations): </a:t>
            </a:r>
          </a:p>
          <a:p>
            <a:pPr marL="742950" lvl="1" indent="-285750">
              <a:buFont typeface="Arial" panose="020B0604020202020204" pitchFamily="34" charset="0"/>
              <a:buChar char="•"/>
            </a:pPr>
            <a:r>
              <a:rPr lang="en-US" b="1" dirty="0"/>
              <a:t>SOAR Telescope</a:t>
            </a:r>
            <a:r>
              <a:rPr lang="en-US" dirty="0"/>
              <a:t> </a:t>
            </a:r>
          </a:p>
          <a:p>
            <a:pPr marL="742950" lvl="1" indent="-285750">
              <a:buFont typeface="Arial" panose="020B0604020202020204" pitchFamily="34" charset="0"/>
              <a:buChar char="•"/>
            </a:pPr>
            <a:r>
              <a:rPr lang="en-US" b="1" dirty="0"/>
              <a:t>Gemini Observatory</a:t>
            </a:r>
            <a:endParaRPr lang="en-US" dirty="0"/>
          </a:p>
        </p:txBody>
      </p:sp>
      <p:sp>
        <p:nvSpPr>
          <p:cNvPr id="43" name="TextBox 42">
            <a:extLst>
              <a:ext uri="{FF2B5EF4-FFF2-40B4-BE49-F238E27FC236}">
                <a16:creationId xmlns:a16="http://schemas.microsoft.com/office/drawing/2014/main" id="{7A673987-D5E5-CF65-D25D-51AE7342FBCC}"/>
              </a:ext>
            </a:extLst>
          </p:cNvPr>
          <p:cNvSpPr txBox="1"/>
          <p:nvPr/>
        </p:nvSpPr>
        <p:spPr>
          <a:xfrm>
            <a:off x="5152030" y="1274736"/>
            <a:ext cx="6100548" cy="1200329"/>
          </a:xfrm>
          <a:prstGeom prst="rect">
            <a:avLst/>
          </a:prstGeom>
          <a:noFill/>
        </p:spPr>
        <p:txBody>
          <a:bodyPr wrap="square">
            <a:spAutoFit/>
          </a:bodyPr>
          <a:lstStyle/>
          <a:p>
            <a:pPr>
              <a:buNone/>
            </a:pPr>
            <a:r>
              <a:rPr lang="en-CN" b="1" dirty="0"/>
              <a:t>🇿🇦 </a:t>
            </a:r>
            <a:r>
              <a:rPr lang="en-US" b="1" dirty="0"/>
              <a:t>South Africa</a:t>
            </a:r>
          </a:p>
          <a:p>
            <a:pPr>
              <a:buFont typeface="Arial" panose="020B0604020202020204" pitchFamily="34" charset="0"/>
              <a:buChar char="•"/>
            </a:pPr>
            <a:r>
              <a:rPr lang="en-US" b="1" dirty="0"/>
              <a:t>Southern African Large Telescope</a:t>
            </a:r>
            <a:r>
              <a:rPr lang="en-US" dirty="0"/>
              <a:t> (optical, 10-m class) </a:t>
            </a:r>
          </a:p>
          <a:p>
            <a:pPr>
              <a:buFont typeface="Arial" panose="020B0604020202020204" pitchFamily="34" charset="0"/>
              <a:buChar char="•"/>
            </a:pPr>
            <a:r>
              <a:rPr lang="en-US" b="1" dirty="0" err="1"/>
              <a:t>MeerKAT</a:t>
            </a:r>
            <a:r>
              <a:rPr lang="en-US" dirty="0"/>
              <a:t> (radio array, SKA precursor) </a:t>
            </a:r>
          </a:p>
          <a:p>
            <a:pPr>
              <a:buFont typeface="Arial" panose="020B0604020202020204" pitchFamily="34" charset="0"/>
              <a:buChar char="•"/>
            </a:pPr>
            <a:r>
              <a:rPr lang="en-US" dirty="0"/>
              <a:t>Core host of </a:t>
            </a:r>
            <a:r>
              <a:rPr lang="en-US" b="1" dirty="0"/>
              <a:t>SKA</a:t>
            </a:r>
            <a:endParaRPr lang="en-US" dirty="0"/>
          </a:p>
        </p:txBody>
      </p:sp>
      <p:pic>
        <p:nvPicPr>
          <p:cNvPr id="3076" name="Picture 4" descr="中巴合作大型射电望远镜出厂发运">
            <a:extLst>
              <a:ext uri="{FF2B5EF4-FFF2-40B4-BE49-F238E27FC236}">
                <a16:creationId xmlns:a16="http://schemas.microsoft.com/office/drawing/2014/main" id="{F54F9ECD-06C3-3269-5215-FC843E4269D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82050" y="2334163"/>
            <a:ext cx="2435195" cy="13682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DATA GROWTH</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Facilities produce streams, not just pictures</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06</a:t>
            </a:r>
          </a:p>
        </p:txBody>
      </p:sp>
      <p:pic>
        <p:nvPicPr>
          <p:cNvPr id="7" name="Picture 6" descr="data_network_crop.jpg"/>
          <p:cNvPicPr>
            <a:picLocks noChangeAspect="1"/>
          </p:cNvPicPr>
          <p:nvPr/>
        </p:nvPicPr>
        <p:blipFill>
          <a:blip r:embed="rId3"/>
          <a:stretch>
            <a:fillRect/>
          </a:stretch>
        </p:blipFill>
        <p:spPr>
          <a:xfrm>
            <a:off x="685800" y="1325880"/>
            <a:ext cx="4800600" cy="3154680"/>
          </a:xfrm>
          <a:prstGeom prst="rect">
            <a:avLst/>
          </a:prstGeom>
        </p:spPr>
      </p:pic>
      <p:sp>
        <p:nvSpPr>
          <p:cNvPr id="8" name="TextBox 7"/>
          <p:cNvSpPr txBox="1"/>
          <p:nvPr/>
        </p:nvSpPr>
        <p:spPr>
          <a:xfrm>
            <a:off x="5806440" y="1325880"/>
            <a:ext cx="5440680" cy="3566160"/>
          </a:xfrm>
          <a:prstGeom prst="rect">
            <a:avLst/>
          </a:prstGeom>
          <a:noFill/>
        </p:spPr>
        <p:txBody>
          <a:bodyPr wrap="square" lIns="128016" tIns="36576" rIns="109728" bIns="36576">
            <a:normAutofit/>
          </a:bodyPr>
          <a:lstStyle/>
          <a:p>
            <a:pPr>
              <a:spcAft>
                <a:spcPts val="900"/>
              </a:spcAft>
            </a:pPr>
            <a:r>
              <a:rPr sz="2100" b="0">
                <a:solidFill>
                  <a:srgbClr val="191E26"/>
                </a:solidFill>
                <a:latin typeface="Arial"/>
              </a:rPr>
              <a:t>From single observations to repeated surveys</a:t>
            </a:r>
          </a:p>
          <a:p>
            <a:pPr>
              <a:spcAft>
                <a:spcPts val="900"/>
              </a:spcAft>
            </a:pPr>
            <a:r>
              <a:rPr sz="2100" b="0">
                <a:solidFill>
                  <a:srgbClr val="191E26"/>
                </a:solidFill>
                <a:latin typeface="Arial"/>
              </a:rPr>
              <a:t>From local files to distributed archives</a:t>
            </a:r>
          </a:p>
          <a:p>
            <a:pPr>
              <a:spcAft>
                <a:spcPts val="900"/>
              </a:spcAft>
            </a:pPr>
            <a:r>
              <a:rPr sz="2100" b="0">
                <a:solidFill>
                  <a:srgbClr val="191E26"/>
                </a:solidFill>
                <a:latin typeface="Arial"/>
              </a:rPr>
              <a:t>From static datasets to alert streams</a:t>
            </a:r>
          </a:p>
          <a:p>
            <a:pPr>
              <a:spcAft>
                <a:spcPts val="900"/>
              </a:spcAft>
            </a:pPr>
            <a:r>
              <a:rPr sz="2100" b="0">
                <a:solidFill>
                  <a:srgbClr val="191E26"/>
                </a:solidFill>
                <a:latin typeface="Arial"/>
              </a:rPr>
              <a:t>From hand inspection to automated pipelines</a:t>
            </a:r>
          </a:p>
          <a:p>
            <a:pPr>
              <a:spcAft>
                <a:spcPts val="900"/>
              </a:spcAft>
            </a:pPr>
            <a:r>
              <a:rPr sz="2100" b="0">
                <a:solidFill>
                  <a:srgbClr val="191E26"/>
                </a:solidFill>
                <a:latin typeface="Arial"/>
              </a:rPr>
              <a:t>From one wavelength to multi-messenger context</a:t>
            </a:r>
          </a:p>
        </p:txBody>
      </p:sp>
      <p:sp>
        <p:nvSpPr>
          <p:cNvPr id="9" name="TextBox 8"/>
          <p:cNvSpPr txBox="1"/>
          <p:nvPr/>
        </p:nvSpPr>
        <p:spPr>
          <a:xfrm>
            <a:off x="1005840" y="5074920"/>
            <a:ext cx="10241280" cy="475488"/>
          </a:xfrm>
          <a:prstGeom prst="rect">
            <a:avLst/>
          </a:prstGeom>
          <a:noFill/>
        </p:spPr>
        <p:txBody>
          <a:bodyPr wrap="square" lIns="54864" tIns="54864" rIns="54864" bIns="54864">
            <a:normAutofit fontScale="70000" lnSpcReduction="20000"/>
          </a:bodyPr>
          <a:lstStyle/>
          <a:p>
            <a:pPr algn="ctr"/>
            <a:r>
              <a:rPr sz="2200" b="1">
                <a:solidFill>
                  <a:srgbClr val="102238"/>
                </a:solidFill>
                <a:latin typeface="Arial"/>
              </a:rPr>
              <a:t>A modern astronomer often studies a physical object through many data products created by many instruments.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DATA COMPLEXITY</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The challenge is not only volume; it is complexity</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07</a:t>
            </a:r>
          </a:p>
        </p:txBody>
      </p:sp>
      <p:pic>
        <p:nvPicPr>
          <p:cNvPr id="7" name="Picture 6" descr="complex_data_crop.jpg"/>
          <p:cNvPicPr>
            <a:picLocks noChangeAspect="1"/>
          </p:cNvPicPr>
          <p:nvPr/>
        </p:nvPicPr>
        <p:blipFill>
          <a:blip r:embed="rId3"/>
          <a:stretch>
            <a:fillRect/>
          </a:stretch>
        </p:blipFill>
        <p:spPr>
          <a:xfrm>
            <a:off x="6903720" y="1325880"/>
            <a:ext cx="4343400" cy="2834640"/>
          </a:xfrm>
          <a:prstGeom prst="rect">
            <a:avLst/>
          </a:prstGeom>
        </p:spPr>
      </p:pic>
      <p:sp>
        <p:nvSpPr>
          <p:cNvPr id="8" name="Rounded Rectangle 7"/>
          <p:cNvSpPr/>
          <p:nvPr/>
        </p:nvSpPr>
        <p:spPr>
          <a:xfrm>
            <a:off x="685800" y="1325880"/>
            <a:ext cx="2743200" cy="123444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1325880"/>
            <a:ext cx="73152" cy="123444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1435608"/>
            <a:ext cx="2423160" cy="274320"/>
          </a:xfrm>
          <a:prstGeom prst="rect">
            <a:avLst/>
          </a:prstGeom>
          <a:noFill/>
        </p:spPr>
        <p:txBody>
          <a:bodyPr wrap="square" lIns="54864" tIns="54864" rIns="54864" bIns="54864">
            <a:noAutofit/>
          </a:bodyPr>
          <a:lstStyle/>
          <a:p>
            <a:r>
              <a:rPr sz="1550" b="1" dirty="0">
                <a:solidFill>
                  <a:srgbClr val="2265B8"/>
                </a:solidFill>
                <a:latin typeface="Arial"/>
              </a:rPr>
              <a:t>Heterogeneous</a:t>
            </a:r>
          </a:p>
        </p:txBody>
      </p:sp>
      <p:sp>
        <p:nvSpPr>
          <p:cNvPr id="11" name="TextBox 10"/>
          <p:cNvSpPr txBox="1"/>
          <p:nvPr/>
        </p:nvSpPr>
        <p:spPr>
          <a:xfrm>
            <a:off x="886968" y="1764792"/>
            <a:ext cx="2432304" cy="731520"/>
          </a:xfrm>
          <a:prstGeom prst="rect">
            <a:avLst/>
          </a:prstGeom>
          <a:noFill/>
        </p:spPr>
        <p:txBody>
          <a:bodyPr wrap="square" lIns="128016" tIns="36576" rIns="109728" bIns="36576">
            <a:normAutofit/>
          </a:bodyPr>
          <a:lstStyle/>
          <a:p>
            <a:pPr>
              <a:spcAft>
                <a:spcPts val="200"/>
              </a:spcAft>
            </a:pPr>
            <a:r>
              <a:rPr sz="1380" b="0" dirty="0">
                <a:solidFill>
                  <a:srgbClr val="191E26"/>
                </a:solidFill>
                <a:latin typeface="Arial"/>
              </a:rPr>
              <a:t>images + spectra + catalogs + simulations</a:t>
            </a:r>
          </a:p>
        </p:txBody>
      </p:sp>
      <p:sp>
        <p:nvSpPr>
          <p:cNvPr id="12" name="Rounded Rectangle 11"/>
          <p:cNvSpPr/>
          <p:nvPr/>
        </p:nvSpPr>
        <p:spPr>
          <a:xfrm>
            <a:off x="3657600" y="1325880"/>
            <a:ext cx="2743200" cy="123444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0" y="1325880"/>
            <a:ext cx="73152" cy="1234440"/>
          </a:xfrm>
          <a:prstGeom prst="rect">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58768" y="1435608"/>
            <a:ext cx="2423160" cy="274320"/>
          </a:xfrm>
          <a:prstGeom prst="rect">
            <a:avLst/>
          </a:prstGeom>
          <a:noFill/>
        </p:spPr>
        <p:txBody>
          <a:bodyPr wrap="square" lIns="54864" tIns="54864" rIns="54864" bIns="54864">
            <a:normAutofit fontScale="85000" lnSpcReduction="20000"/>
          </a:bodyPr>
          <a:lstStyle/>
          <a:p>
            <a:r>
              <a:rPr sz="1550" b="1" dirty="0">
                <a:solidFill>
                  <a:srgbClr val="B5494E"/>
                </a:solidFill>
                <a:latin typeface="Arial"/>
              </a:rPr>
              <a:t>Noisy</a:t>
            </a:r>
          </a:p>
        </p:txBody>
      </p:sp>
      <p:sp>
        <p:nvSpPr>
          <p:cNvPr id="15" name="TextBox 14"/>
          <p:cNvSpPr txBox="1"/>
          <p:nvPr/>
        </p:nvSpPr>
        <p:spPr>
          <a:xfrm>
            <a:off x="3858768" y="1764792"/>
            <a:ext cx="2432304" cy="731520"/>
          </a:xfrm>
          <a:prstGeom prst="rect">
            <a:avLst/>
          </a:prstGeom>
          <a:noFill/>
        </p:spPr>
        <p:txBody>
          <a:bodyPr wrap="square" lIns="128016" tIns="36576" rIns="109728" bIns="36576">
            <a:normAutofit/>
          </a:bodyPr>
          <a:lstStyle/>
          <a:p>
            <a:pPr>
              <a:spcAft>
                <a:spcPts val="200"/>
              </a:spcAft>
            </a:pPr>
            <a:r>
              <a:rPr sz="1380" b="0" dirty="0">
                <a:solidFill>
                  <a:srgbClr val="191E26"/>
                </a:solidFill>
                <a:latin typeface="Arial"/>
              </a:rPr>
              <a:t>calibration errors, artifacts, missing values</a:t>
            </a:r>
          </a:p>
        </p:txBody>
      </p:sp>
      <p:sp>
        <p:nvSpPr>
          <p:cNvPr id="16" name="Rounded Rectangle 15"/>
          <p:cNvSpPr/>
          <p:nvPr/>
        </p:nvSpPr>
        <p:spPr>
          <a:xfrm>
            <a:off x="685800" y="2880360"/>
            <a:ext cx="2743200" cy="123444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85800" y="2880360"/>
            <a:ext cx="73152" cy="123444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6968" y="2990088"/>
            <a:ext cx="242316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High-dimensional</a:t>
            </a:r>
          </a:p>
        </p:txBody>
      </p:sp>
      <p:sp>
        <p:nvSpPr>
          <p:cNvPr id="19" name="TextBox 18"/>
          <p:cNvSpPr txBox="1"/>
          <p:nvPr/>
        </p:nvSpPr>
        <p:spPr>
          <a:xfrm>
            <a:off x="886968" y="3319272"/>
            <a:ext cx="2432304" cy="73152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many measured quantities per object</a:t>
            </a:r>
          </a:p>
        </p:txBody>
      </p:sp>
      <p:sp>
        <p:nvSpPr>
          <p:cNvPr id="20" name="Rounded Rectangle 19"/>
          <p:cNvSpPr/>
          <p:nvPr/>
        </p:nvSpPr>
        <p:spPr>
          <a:xfrm>
            <a:off x="3657600" y="2880360"/>
            <a:ext cx="2743200" cy="123444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0" y="2880360"/>
            <a:ext cx="73152" cy="123444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58768" y="2990088"/>
            <a:ext cx="242316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Time-dependent</a:t>
            </a:r>
          </a:p>
        </p:txBody>
      </p:sp>
      <p:sp>
        <p:nvSpPr>
          <p:cNvPr id="23" name="TextBox 22"/>
          <p:cNvSpPr txBox="1"/>
          <p:nvPr/>
        </p:nvSpPr>
        <p:spPr>
          <a:xfrm>
            <a:off x="3858768" y="3319272"/>
            <a:ext cx="2432304" cy="73152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alerts, light curves, changing sky</a:t>
            </a:r>
          </a:p>
        </p:txBody>
      </p:sp>
      <p:sp>
        <p:nvSpPr>
          <p:cNvPr id="24" name="TextBox 23"/>
          <p:cNvSpPr txBox="1"/>
          <p:nvPr/>
        </p:nvSpPr>
        <p:spPr>
          <a:xfrm>
            <a:off x="822960" y="4983480"/>
            <a:ext cx="10561320" cy="530352"/>
          </a:xfrm>
          <a:prstGeom prst="rect">
            <a:avLst/>
          </a:prstGeom>
          <a:noFill/>
        </p:spPr>
        <p:txBody>
          <a:bodyPr wrap="square" lIns="54864" tIns="54864" rIns="54864" bIns="54864">
            <a:normAutofit fontScale="70000" lnSpcReduction="20000"/>
          </a:bodyPr>
          <a:lstStyle/>
          <a:p>
            <a:pPr algn="ctr"/>
            <a:r>
              <a:rPr sz="2300" b="1" dirty="0">
                <a:solidFill>
                  <a:srgbClr val="102238"/>
                </a:solidFill>
                <a:latin typeface="Arial"/>
              </a:rPr>
              <a:t>Programming gives us a repeatable way to clean, combine, select, visualize, and test complex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ASTROINFORMATICS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Astroinformatics connects astronomy with data science</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08</a:t>
            </a:r>
          </a:p>
        </p:txBody>
      </p:sp>
      <p:sp>
        <p:nvSpPr>
          <p:cNvPr id="8" name="Rounded Rectangle 7"/>
          <p:cNvSpPr/>
          <p:nvPr/>
        </p:nvSpPr>
        <p:spPr>
          <a:xfrm>
            <a:off x="6126480" y="1325880"/>
            <a:ext cx="251460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126480" y="132588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7648" y="1435608"/>
            <a:ext cx="219456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Data access</a:t>
            </a:r>
          </a:p>
        </p:txBody>
      </p:sp>
      <p:sp>
        <p:nvSpPr>
          <p:cNvPr id="11" name="TextBox 10"/>
          <p:cNvSpPr txBox="1"/>
          <p:nvPr/>
        </p:nvSpPr>
        <p:spPr>
          <a:xfrm>
            <a:off x="6327648" y="1764792"/>
            <a:ext cx="220370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archives</a:t>
            </a:r>
          </a:p>
          <a:p>
            <a:pPr>
              <a:spcAft>
                <a:spcPts val="200"/>
              </a:spcAft>
            </a:pPr>
            <a:r>
              <a:rPr sz="1380" b="0">
                <a:solidFill>
                  <a:srgbClr val="191E26"/>
                </a:solidFill>
                <a:latin typeface="Arial"/>
              </a:rPr>
              <a:t>queries</a:t>
            </a:r>
          </a:p>
          <a:p>
            <a:pPr>
              <a:spcAft>
                <a:spcPts val="200"/>
              </a:spcAft>
            </a:pPr>
            <a:r>
              <a:rPr sz="1380" b="0">
                <a:solidFill>
                  <a:srgbClr val="191E26"/>
                </a:solidFill>
                <a:latin typeface="Arial"/>
              </a:rPr>
              <a:t>catalog services</a:t>
            </a:r>
          </a:p>
        </p:txBody>
      </p:sp>
      <p:sp>
        <p:nvSpPr>
          <p:cNvPr id="12" name="Rounded Rectangle 11"/>
          <p:cNvSpPr/>
          <p:nvPr/>
        </p:nvSpPr>
        <p:spPr>
          <a:xfrm>
            <a:off x="8915400" y="1325880"/>
            <a:ext cx="251460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915400" y="1325880"/>
            <a:ext cx="73152" cy="132588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16568" y="1435608"/>
            <a:ext cx="219456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Data analysis</a:t>
            </a:r>
          </a:p>
        </p:txBody>
      </p:sp>
      <p:sp>
        <p:nvSpPr>
          <p:cNvPr id="15" name="TextBox 14"/>
          <p:cNvSpPr txBox="1"/>
          <p:nvPr/>
        </p:nvSpPr>
        <p:spPr>
          <a:xfrm>
            <a:off x="9116568" y="1764792"/>
            <a:ext cx="220370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pipelines</a:t>
            </a:r>
          </a:p>
          <a:p>
            <a:pPr>
              <a:spcAft>
                <a:spcPts val="200"/>
              </a:spcAft>
            </a:pPr>
            <a:r>
              <a:rPr sz="1380" b="0">
                <a:solidFill>
                  <a:srgbClr val="191E26"/>
                </a:solidFill>
                <a:latin typeface="Arial"/>
              </a:rPr>
              <a:t>statistics</a:t>
            </a:r>
          </a:p>
          <a:p>
            <a:pPr>
              <a:spcAft>
                <a:spcPts val="200"/>
              </a:spcAft>
            </a:pPr>
            <a:r>
              <a:rPr sz="1380" b="0">
                <a:solidFill>
                  <a:srgbClr val="191E26"/>
                </a:solidFill>
                <a:latin typeface="Arial"/>
              </a:rPr>
              <a:t>visualization</a:t>
            </a:r>
          </a:p>
        </p:txBody>
      </p:sp>
      <p:sp>
        <p:nvSpPr>
          <p:cNvPr id="16" name="Rounded Rectangle 15"/>
          <p:cNvSpPr/>
          <p:nvPr/>
        </p:nvSpPr>
        <p:spPr>
          <a:xfrm>
            <a:off x="6126480" y="2971800"/>
            <a:ext cx="251460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26480" y="2971800"/>
            <a:ext cx="73152" cy="132588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27648" y="3081528"/>
            <a:ext cx="219456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Discovery</a:t>
            </a:r>
          </a:p>
        </p:txBody>
      </p:sp>
      <p:sp>
        <p:nvSpPr>
          <p:cNvPr id="19" name="TextBox 18"/>
          <p:cNvSpPr txBox="1"/>
          <p:nvPr/>
        </p:nvSpPr>
        <p:spPr>
          <a:xfrm>
            <a:off x="6327648" y="3410712"/>
            <a:ext cx="220370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classification</a:t>
            </a:r>
          </a:p>
          <a:p>
            <a:pPr>
              <a:spcAft>
                <a:spcPts val="200"/>
              </a:spcAft>
            </a:pPr>
            <a:r>
              <a:rPr sz="1380" b="0">
                <a:solidFill>
                  <a:srgbClr val="191E26"/>
                </a:solidFill>
                <a:latin typeface="Arial"/>
              </a:rPr>
              <a:t>outliers</a:t>
            </a:r>
          </a:p>
          <a:p>
            <a:pPr>
              <a:spcAft>
                <a:spcPts val="200"/>
              </a:spcAft>
            </a:pPr>
            <a:r>
              <a:rPr sz="1380" b="0">
                <a:solidFill>
                  <a:srgbClr val="191E26"/>
                </a:solidFill>
                <a:latin typeface="Arial"/>
              </a:rPr>
              <a:t>physical inference</a:t>
            </a:r>
          </a:p>
        </p:txBody>
      </p:sp>
      <p:sp>
        <p:nvSpPr>
          <p:cNvPr id="20" name="Rounded Rectangle 19"/>
          <p:cNvSpPr/>
          <p:nvPr/>
        </p:nvSpPr>
        <p:spPr>
          <a:xfrm>
            <a:off x="8915400" y="2971800"/>
            <a:ext cx="251460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915400" y="2971800"/>
            <a:ext cx="73152" cy="1325880"/>
          </a:xfrm>
          <a:prstGeom prst="rect">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16568" y="3081528"/>
            <a:ext cx="2194560" cy="274320"/>
          </a:xfrm>
          <a:prstGeom prst="rect">
            <a:avLst/>
          </a:prstGeom>
          <a:noFill/>
        </p:spPr>
        <p:txBody>
          <a:bodyPr wrap="square" lIns="54864" tIns="54864" rIns="54864" bIns="54864">
            <a:normAutofit fontScale="85000" lnSpcReduction="20000"/>
          </a:bodyPr>
          <a:lstStyle/>
          <a:p>
            <a:r>
              <a:rPr sz="1550" b="1">
                <a:solidFill>
                  <a:srgbClr val="B5494E"/>
                </a:solidFill>
                <a:latin typeface="Arial"/>
              </a:rPr>
              <a:t>Reproducibility</a:t>
            </a:r>
          </a:p>
        </p:txBody>
      </p:sp>
      <p:sp>
        <p:nvSpPr>
          <p:cNvPr id="23" name="TextBox 22"/>
          <p:cNvSpPr txBox="1"/>
          <p:nvPr/>
        </p:nvSpPr>
        <p:spPr>
          <a:xfrm>
            <a:off x="9116568" y="3410712"/>
            <a:ext cx="220370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notebooks</a:t>
            </a:r>
          </a:p>
          <a:p>
            <a:pPr>
              <a:spcAft>
                <a:spcPts val="200"/>
              </a:spcAft>
            </a:pPr>
            <a:r>
              <a:rPr sz="1380" b="0">
                <a:solidFill>
                  <a:srgbClr val="191E26"/>
                </a:solidFill>
                <a:latin typeface="Arial"/>
              </a:rPr>
              <a:t>versioning</a:t>
            </a:r>
          </a:p>
          <a:p>
            <a:pPr>
              <a:spcAft>
                <a:spcPts val="200"/>
              </a:spcAft>
            </a:pPr>
            <a:r>
              <a:rPr sz="1380" b="0">
                <a:solidFill>
                  <a:srgbClr val="191E26"/>
                </a:solidFill>
                <a:latin typeface="Arial"/>
              </a:rPr>
              <a:t>shared workflows</a:t>
            </a:r>
          </a:p>
        </p:txBody>
      </p:sp>
      <p:sp>
        <p:nvSpPr>
          <p:cNvPr id="24" name="TextBox 23"/>
          <p:cNvSpPr txBox="1"/>
          <p:nvPr/>
        </p:nvSpPr>
        <p:spPr>
          <a:xfrm>
            <a:off x="6263640" y="5074920"/>
            <a:ext cx="4937760" cy="438912"/>
          </a:xfrm>
          <a:prstGeom prst="rect">
            <a:avLst/>
          </a:prstGeom>
          <a:noFill/>
        </p:spPr>
        <p:txBody>
          <a:bodyPr wrap="square" lIns="54864" tIns="54864" rIns="54864" bIns="54864">
            <a:normAutofit fontScale="62500" lnSpcReduction="20000"/>
          </a:bodyPr>
          <a:lstStyle/>
          <a:p>
            <a:pPr algn="ctr"/>
            <a:r>
              <a:rPr sz="2000" b="1">
                <a:solidFill>
                  <a:srgbClr val="102238"/>
                </a:solidFill>
                <a:latin typeface="Arial"/>
              </a:rPr>
              <a:t>Python is one of the practical languages of astroinformatics.</a:t>
            </a:r>
          </a:p>
        </p:txBody>
      </p:sp>
      <p:pic>
        <p:nvPicPr>
          <p:cNvPr id="4098" name="Picture 2" descr="紅色箭頭向右方向| Premium矢量">
            <a:extLst>
              <a:ext uri="{FF2B5EF4-FFF2-40B4-BE49-F238E27FC236}">
                <a16:creationId xmlns:a16="http://schemas.microsoft.com/office/drawing/2014/main" id="{9A503BA5-7172-E21E-860A-4A27BCF7F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069" y="1572768"/>
            <a:ext cx="3876095"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AI CONTEXT</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AI/ML is now widely recognized in astronomy</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09</a:t>
            </a:r>
          </a:p>
        </p:txBody>
      </p:sp>
      <p:pic>
        <p:nvPicPr>
          <p:cNvPr id="7" name="Picture 6" descr="ai_papers_crop.jpg"/>
          <p:cNvPicPr>
            <a:picLocks noChangeAspect="1"/>
          </p:cNvPicPr>
          <p:nvPr/>
        </p:nvPicPr>
        <p:blipFill>
          <a:blip r:embed="rId3"/>
          <a:stretch>
            <a:fillRect/>
          </a:stretch>
        </p:blipFill>
        <p:spPr>
          <a:xfrm>
            <a:off x="685800" y="1325880"/>
            <a:ext cx="4983480" cy="3154680"/>
          </a:xfrm>
          <a:prstGeom prst="rect">
            <a:avLst/>
          </a:prstGeom>
        </p:spPr>
      </p:pic>
      <p:sp>
        <p:nvSpPr>
          <p:cNvPr id="8" name="TextBox 7"/>
          <p:cNvSpPr txBox="1"/>
          <p:nvPr/>
        </p:nvSpPr>
        <p:spPr>
          <a:xfrm>
            <a:off x="5989320" y="1325880"/>
            <a:ext cx="5349240" cy="3383280"/>
          </a:xfrm>
          <a:prstGeom prst="rect">
            <a:avLst/>
          </a:prstGeom>
          <a:noFill/>
        </p:spPr>
        <p:txBody>
          <a:bodyPr wrap="square" lIns="128016" tIns="36576" rIns="109728" bIns="36576">
            <a:normAutofit/>
          </a:bodyPr>
          <a:lstStyle/>
          <a:p>
            <a:pPr>
              <a:spcAft>
                <a:spcPts val="700"/>
              </a:spcAft>
            </a:pPr>
            <a:r>
              <a:rPr sz="1920" b="0">
                <a:solidFill>
                  <a:srgbClr val="191E26"/>
                </a:solidFill>
                <a:latin typeface="Arial"/>
              </a:rPr>
              <a:t>AI/ML methods appear in survey pipelines, catalogs, simulations, and classification tasks.</a:t>
            </a:r>
          </a:p>
          <a:p>
            <a:pPr>
              <a:spcAft>
                <a:spcPts val="700"/>
              </a:spcAft>
            </a:pPr>
            <a:r>
              <a:rPr sz="1920" b="0">
                <a:solidFill>
                  <a:srgbClr val="191E26"/>
                </a:solidFill>
                <a:latin typeface="Arial"/>
              </a:rPr>
              <a:t>The Rubin/LSST era makes automation unavoidable.</a:t>
            </a:r>
          </a:p>
          <a:p>
            <a:pPr>
              <a:spcAft>
                <a:spcPts val="700"/>
              </a:spcAft>
            </a:pPr>
            <a:r>
              <a:rPr sz="1920" b="0">
                <a:solidFill>
                  <a:srgbClr val="191E26"/>
                </a:solidFill>
                <a:latin typeface="Arial"/>
              </a:rPr>
              <a:t>Community discussions increasingly focus on reliability, uncertainty, and interpretability.</a:t>
            </a:r>
          </a:p>
          <a:p>
            <a:pPr>
              <a:spcAft>
                <a:spcPts val="700"/>
              </a:spcAft>
            </a:pPr>
            <a:r>
              <a:rPr sz="1920" b="0">
                <a:solidFill>
                  <a:srgbClr val="191E26"/>
                </a:solidFill>
                <a:latin typeface="Arial"/>
              </a:rPr>
              <a:t>Programming literacy is what lets us audit and adapt AI tools.</a:t>
            </a:r>
          </a:p>
        </p:txBody>
      </p:sp>
      <p:sp>
        <p:nvSpPr>
          <p:cNvPr id="9" name="TextBox 8"/>
          <p:cNvSpPr txBox="1"/>
          <p:nvPr/>
        </p:nvSpPr>
        <p:spPr>
          <a:xfrm>
            <a:off x="502920" y="6492240"/>
            <a:ext cx="10972800" cy="219456"/>
          </a:xfrm>
          <a:prstGeom prst="rect">
            <a:avLst/>
          </a:prstGeom>
          <a:noFill/>
        </p:spPr>
        <p:txBody>
          <a:bodyPr wrap="square" lIns="54864" tIns="54864" rIns="54864" bIns="54864">
            <a:normAutofit lnSpcReduction="10000"/>
          </a:bodyPr>
          <a:lstStyle/>
          <a:p>
            <a:r>
              <a:rPr sz="750" b="0">
                <a:solidFill>
                  <a:srgbClr val="545F70"/>
                </a:solidFill>
                <a:latin typeface="Arial"/>
              </a:rPr>
              <a:t>Example reference: LSST DESC, Opportunities in AI/ML for Rubin LSST, arXiv:2601.14235.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AI EXAMPLES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AI methods appear across the astronomical workflow</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10</a:t>
            </a:r>
          </a:p>
        </p:txBody>
      </p:sp>
      <p:pic>
        <p:nvPicPr>
          <p:cNvPr id="7" name="Picture 6" descr="galaxy_ml_crop.jpg"/>
          <p:cNvPicPr>
            <a:picLocks noChangeAspect="1"/>
          </p:cNvPicPr>
          <p:nvPr/>
        </p:nvPicPr>
        <p:blipFill>
          <a:blip r:embed="rId3"/>
          <a:stretch>
            <a:fillRect/>
          </a:stretch>
        </p:blipFill>
        <p:spPr>
          <a:xfrm>
            <a:off x="685800" y="1325880"/>
            <a:ext cx="2926080" cy="1737360"/>
          </a:xfrm>
          <a:prstGeom prst="rect">
            <a:avLst/>
          </a:prstGeom>
        </p:spPr>
      </p:pic>
      <p:pic>
        <p:nvPicPr>
          <p:cNvPr id="8" name="Picture 7" descr="photoz_crop.jpg"/>
          <p:cNvPicPr>
            <a:picLocks noChangeAspect="1"/>
          </p:cNvPicPr>
          <p:nvPr/>
        </p:nvPicPr>
        <p:blipFill>
          <a:blip r:embed="rId4"/>
          <a:stretch>
            <a:fillRect/>
          </a:stretch>
        </p:blipFill>
        <p:spPr>
          <a:xfrm>
            <a:off x="3840480" y="1325880"/>
            <a:ext cx="2926080" cy="1737360"/>
          </a:xfrm>
          <a:prstGeom prst="rect">
            <a:avLst/>
          </a:prstGeom>
        </p:spPr>
      </p:pic>
      <p:pic>
        <p:nvPicPr>
          <p:cNvPr id="9" name="Picture 8" descr="time_domain_crop.jpg"/>
          <p:cNvPicPr>
            <a:picLocks noChangeAspect="1"/>
          </p:cNvPicPr>
          <p:nvPr/>
        </p:nvPicPr>
        <p:blipFill>
          <a:blip r:embed="rId5"/>
          <a:stretch>
            <a:fillRect/>
          </a:stretch>
        </p:blipFill>
        <p:spPr>
          <a:xfrm>
            <a:off x="6995160" y="1325880"/>
            <a:ext cx="2926080" cy="1737360"/>
          </a:xfrm>
          <a:prstGeom prst="rect">
            <a:avLst/>
          </a:prstGeom>
        </p:spPr>
      </p:pic>
      <p:sp>
        <p:nvSpPr>
          <p:cNvPr id="10" name="Rounded Rectangle 9"/>
          <p:cNvSpPr/>
          <p:nvPr/>
        </p:nvSpPr>
        <p:spPr>
          <a:xfrm>
            <a:off x="685800" y="3429000"/>
            <a:ext cx="2926080" cy="13716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85800" y="3429000"/>
            <a:ext cx="73152" cy="137160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6968" y="3538728"/>
            <a:ext cx="260604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Morphology</a:t>
            </a:r>
          </a:p>
        </p:txBody>
      </p:sp>
      <p:sp>
        <p:nvSpPr>
          <p:cNvPr id="13" name="TextBox 12"/>
          <p:cNvSpPr txBox="1"/>
          <p:nvPr/>
        </p:nvSpPr>
        <p:spPr>
          <a:xfrm>
            <a:off x="886968" y="3867912"/>
            <a:ext cx="2615184" cy="8686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galaxy classification</a:t>
            </a:r>
          </a:p>
          <a:p>
            <a:pPr>
              <a:spcAft>
                <a:spcPts val="200"/>
              </a:spcAft>
            </a:pPr>
            <a:r>
              <a:rPr sz="1380" b="0">
                <a:solidFill>
                  <a:srgbClr val="191E26"/>
                </a:solidFill>
                <a:latin typeface="Arial"/>
              </a:rPr>
              <a:t>image features</a:t>
            </a:r>
          </a:p>
        </p:txBody>
      </p:sp>
      <p:sp>
        <p:nvSpPr>
          <p:cNvPr id="14" name="Rounded Rectangle 13"/>
          <p:cNvSpPr/>
          <p:nvPr/>
        </p:nvSpPr>
        <p:spPr>
          <a:xfrm>
            <a:off x="3840480" y="3429000"/>
            <a:ext cx="2926080" cy="13716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840480" y="3429000"/>
            <a:ext cx="73152" cy="137160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41648" y="3538728"/>
            <a:ext cx="260604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Photo-z</a:t>
            </a:r>
          </a:p>
        </p:txBody>
      </p:sp>
      <p:sp>
        <p:nvSpPr>
          <p:cNvPr id="17" name="TextBox 16"/>
          <p:cNvSpPr txBox="1"/>
          <p:nvPr/>
        </p:nvSpPr>
        <p:spPr>
          <a:xfrm>
            <a:off x="4041648" y="3867912"/>
            <a:ext cx="2615184" cy="8686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estimate redshifts</a:t>
            </a:r>
          </a:p>
          <a:p>
            <a:pPr>
              <a:spcAft>
                <a:spcPts val="200"/>
              </a:spcAft>
            </a:pPr>
            <a:r>
              <a:rPr sz="1380" b="0">
                <a:solidFill>
                  <a:srgbClr val="191E26"/>
                </a:solidFill>
                <a:latin typeface="Arial"/>
              </a:rPr>
              <a:t>represent uncertainty</a:t>
            </a:r>
          </a:p>
        </p:txBody>
      </p:sp>
      <p:sp>
        <p:nvSpPr>
          <p:cNvPr id="18" name="Rounded Rectangle 17"/>
          <p:cNvSpPr/>
          <p:nvPr/>
        </p:nvSpPr>
        <p:spPr>
          <a:xfrm>
            <a:off x="6995160" y="3429000"/>
            <a:ext cx="2926080" cy="13716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995160" y="3429000"/>
            <a:ext cx="73152" cy="137160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96328" y="3538728"/>
            <a:ext cx="260604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Time domain</a:t>
            </a:r>
          </a:p>
        </p:txBody>
      </p:sp>
      <p:sp>
        <p:nvSpPr>
          <p:cNvPr id="21" name="TextBox 20"/>
          <p:cNvSpPr txBox="1"/>
          <p:nvPr/>
        </p:nvSpPr>
        <p:spPr>
          <a:xfrm>
            <a:off x="7196328" y="3867912"/>
            <a:ext cx="2615184" cy="8686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filter alerts</a:t>
            </a:r>
          </a:p>
          <a:p>
            <a:pPr>
              <a:spcAft>
                <a:spcPts val="200"/>
              </a:spcAft>
            </a:pPr>
            <a:r>
              <a:rPr sz="1380" b="0">
                <a:solidFill>
                  <a:srgbClr val="191E26"/>
                </a:solidFill>
                <a:latin typeface="Arial"/>
              </a:rPr>
              <a:t>classify variables</a:t>
            </a:r>
          </a:p>
        </p:txBody>
      </p:sp>
      <p:sp>
        <p:nvSpPr>
          <p:cNvPr id="22" name="TextBox 21"/>
          <p:cNvSpPr txBox="1"/>
          <p:nvPr/>
        </p:nvSpPr>
        <p:spPr>
          <a:xfrm>
            <a:off x="10012680" y="1600200"/>
            <a:ext cx="1417320" cy="3291840"/>
          </a:xfrm>
          <a:prstGeom prst="rect">
            <a:avLst/>
          </a:prstGeom>
          <a:noFill/>
        </p:spPr>
        <p:txBody>
          <a:bodyPr wrap="square" lIns="54864" tIns="54864" rIns="54864" bIns="54864">
            <a:normAutofit/>
          </a:bodyPr>
          <a:lstStyle/>
          <a:p>
            <a:pPr algn="ctr"/>
            <a:r>
              <a:rPr sz="2000" b="1">
                <a:solidFill>
                  <a:srgbClr val="102238"/>
                </a:solidFill>
                <a:latin typeface="Arial"/>
              </a:rPr>
              <a:t>AI helps scale analysis.</a:t>
            </a:r>
            <a:br/>
            <a:r>
              <a:rPr sz="2000" b="1">
                <a:solidFill>
                  <a:srgbClr val="102238"/>
                </a:solidFill>
                <a:latin typeface="Arial"/>
              </a:rPr>
              <a:t>It does not remove scientific judgment.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VIBE CODING</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Vibe coding is hot, but it is not a shortcut around understanding</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11</a:t>
            </a:r>
          </a:p>
        </p:txBody>
      </p:sp>
      <p:sp>
        <p:nvSpPr>
          <p:cNvPr id="7" name="Rounded Rectangle 6"/>
          <p:cNvSpPr/>
          <p:nvPr/>
        </p:nvSpPr>
        <p:spPr>
          <a:xfrm>
            <a:off x="731520" y="1325880"/>
            <a:ext cx="1691640" cy="603504"/>
          </a:xfrm>
          <a:prstGeom prst="roundRect">
            <a:avLst>
              <a:gd name="adj" fmla="val 6000"/>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Describe</a:t>
            </a:r>
          </a:p>
        </p:txBody>
      </p:sp>
      <p:sp>
        <p:nvSpPr>
          <p:cNvPr id="9" name="TextBox 8"/>
          <p:cNvSpPr txBox="1"/>
          <p:nvPr/>
        </p:nvSpPr>
        <p:spPr>
          <a:xfrm>
            <a:off x="2441448"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0" name="Rounded Rectangle 9"/>
          <p:cNvSpPr/>
          <p:nvPr/>
        </p:nvSpPr>
        <p:spPr>
          <a:xfrm>
            <a:off x="2679192" y="1325880"/>
            <a:ext cx="1691640" cy="603504"/>
          </a:xfrm>
          <a:prstGeom prst="roundRect">
            <a:avLst>
              <a:gd name="adj" fmla="val 6000"/>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15768"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Generate</a:t>
            </a:r>
          </a:p>
        </p:txBody>
      </p:sp>
      <p:sp>
        <p:nvSpPr>
          <p:cNvPr id="12" name="TextBox 11"/>
          <p:cNvSpPr txBox="1"/>
          <p:nvPr/>
        </p:nvSpPr>
        <p:spPr>
          <a:xfrm>
            <a:off x="4389120"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3" name="Rounded Rectangle 12"/>
          <p:cNvSpPr/>
          <p:nvPr/>
        </p:nvSpPr>
        <p:spPr>
          <a:xfrm>
            <a:off x="4626864" y="1325880"/>
            <a:ext cx="1691640" cy="603504"/>
          </a:xfrm>
          <a:prstGeom prst="roundRect">
            <a:avLst>
              <a:gd name="adj" fmla="val 6000"/>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63440"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Run</a:t>
            </a:r>
          </a:p>
        </p:txBody>
      </p:sp>
      <p:sp>
        <p:nvSpPr>
          <p:cNvPr id="15" name="TextBox 14"/>
          <p:cNvSpPr txBox="1"/>
          <p:nvPr/>
        </p:nvSpPr>
        <p:spPr>
          <a:xfrm>
            <a:off x="6336792"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6" name="Rounded Rectangle 15"/>
          <p:cNvSpPr/>
          <p:nvPr/>
        </p:nvSpPr>
        <p:spPr>
          <a:xfrm>
            <a:off x="6574536" y="1325880"/>
            <a:ext cx="1691640" cy="603504"/>
          </a:xfrm>
          <a:prstGeom prst="roundRect">
            <a:avLst>
              <a:gd name="adj" fmla="val 6000"/>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11112"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Inspect</a:t>
            </a:r>
          </a:p>
        </p:txBody>
      </p:sp>
      <p:sp>
        <p:nvSpPr>
          <p:cNvPr id="18" name="TextBox 17"/>
          <p:cNvSpPr txBox="1"/>
          <p:nvPr/>
        </p:nvSpPr>
        <p:spPr>
          <a:xfrm>
            <a:off x="8284464"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9" name="Rounded Rectangle 18"/>
          <p:cNvSpPr/>
          <p:nvPr/>
        </p:nvSpPr>
        <p:spPr>
          <a:xfrm>
            <a:off x="8522208" y="1325880"/>
            <a:ext cx="1691640" cy="603504"/>
          </a:xfrm>
          <a:prstGeom prst="roundRect">
            <a:avLst>
              <a:gd name="adj" fmla="val 6000"/>
            </a:avLst>
          </a:prstGeom>
          <a:solidFill>
            <a:srgbClr val="209A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58784"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Revise</a:t>
            </a:r>
          </a:p>
        </p:txBody>
      </p:sp>
      <p:sp>
        <p:nvSpPr>
          <p:cNvPr id="21" name="TextBox 20"/>
          <p:cNvSpPr txBox="1"/>
          <p:nvPr/>
        </p:nvSpPr>
        <p:spPr>
          <a:xfrm>
            <a:off x="10232136"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22" name="Rounded Rectangle 21"/>
          <p:cNvSpPr/>
          <p:nvPr/>
        </p:nvSpPr>
        <p:spPr>
          <a:xfrm>
            <a:off x="10469880" y="1325880"/>
            <a:ext cx="1691640" cy="603504"/>
          </a:xfrm>
          <a:prstGeom prst="roundRect">
            <a:avLst>
              <a:gd name="adj" fmla="val 6000"/>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06456"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Explain</a:t>
            </a:r>
          </a:p>
        </p:txBody>
      </p:sp>
      <p:sp>
        <p:nvSpPr>
          <p:cNvPr id="24" name="Rounded Rectangle 23"/>
          <p:cNvSpPr/>
          <p:nvPr/>
        </p:nvSpPr>
        <p:spPr>
          <a:xfrm>
            <a:off x="777240" y="2423160"/>
            <a:ext cx="3337560" cy="1874519"/>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77240" y="2423160"/>
            <a:ext cx="73152" cy="1874519"/>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8408" y="2532888"/>
            <a:ext cx="301752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What AI can help with</a:t>
            </a:r>
          </a:p>
        </p:txBody>
      </p:sp>
      <p:sp>
        <p:nvSpPr>
          <p:cNvPr id="27" name="TextBox 26"/>
          <p:cNvSpPr txBox="1"/>
          <p:nvPr/>
        </p:nvSpPr>
        <p:spPr>
          <a:xfrm>
            <a:off x="978408" y="2862072"/>
            <a:ext cx="3026664" cy="1371599"/>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syntax examples</a:t>
            </a:r>
          </a:p>
          <a:p>
            <a:pPr>
              <a:spcAft>
                <a:spcPts val="200"/>
              </a:spcAft>
            </a:pPr>
            <a:r>
              <a:rPr sz="1380" b="0">
                <a:solidFill>
                  <a:srgbClr val="191E26"/>
                </a:solidFill>
                <a:latin typeface="Arial"/>
              </a:rPr>
              <a:t>debugging hints</a:t>
            </a:r>
          </a:p>
          <a:p>
            <a:pPr>
              <a:spcAft>
                <a:spcPts val="200"/>
              </a:spcAft>
            </a:pPr>
            <a:r>
              <a:rPr sz="1380" b="0">
                <a:solidFill>
                  <a:srgbClr val="191E26"/>
                </a:solidFill>
                <a:latin typeface="Arial"/>
              </a:rPr>
              <a:t>boilerplate code</a:t>
            </a:r>
          </a:p>
          <a:p>
            <a:pPr>
              <a:spcAft>
                <a:spcPts val="200"/>
              </a:spcAft>
            </a:pPr>
            <a:r>
              <a:rPr sz="1380" b="0">
                <a:solidFill>
                  <a:srgbClr val="191E26"/>
                </a:solidFill>
                <a:latin typeface="Arial"/>
              </a:rPr>
              <a:t>explaining error messages</a:t>
            </a:r>
          </a:p>
        </p:txBody>
      </p:sp>
      <p:sp>
        <p:nvSpPr>
          <p:cNvPr id="28" name="Rounded Rectangle 27"/>
          <p:cNvSpPr/>
          <p:nvPr/>
        </p:nvSpPr>
        <p:spPr>
          <a:xfrm>
            <a:off x="4434840" y="2423160"/>
            <a:ext cx="3337560" cy="1874519"/>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434840" y="2423160"/>
            <a:ext cx="73152" cy="1874519"/>
          </a:xfrm>
          <a:prstGeom prst="rect">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36008" y="2532888"/>
            <a:ext cx="3017520" cy="274320"/>
          </a:xfrm>
          <a:prstGeom prst="rect">
            <a:avLst/>
          </a:prstGeom>
          <a:noFill/>
        </p:spPr>
        <p:txBody>
          <a:bodyPr wrap="square" lIns="54864" tIns="54864" rIns="54864" bIns="54864">
            <a:normAutofit fontScale="85000" lnSpcReduction="20000"/>
          </a:bodyPr>
          <a:lstStyle/>
          <a:p>
            <a:r>
              <a:rPr sz="1550" b="1">
                <a:solidFill>
                  <a:srgbClr val="B5494E"/>
                </a:solidFill>
                <a:latin typeface="Arial"/>
              </a:rPr>
              <a:t>What you must still own</a:t>
            </a:r>
          </a:p>
        </p:txBody>
      </p:sp>
      <p:sp>
        <p:nvSpPr>
          <p:cNvPr id="31" name="TextBox 30"/>
          <p:cNvSpPr txBox="1"/>
          <p:nvPr/>
        </p:nvSpPr>
        <p:spPr>
          <a:xfrm>
            <a:off x="4636008" y="2862072"/>
            <a:ext cx="3026664" cy="1371599"/>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the scientific question</a:t>
            </a:r>
          </a:p>
          <a:p>
            <a:pPr>
              <a:spcAft>
                <a:spcPts val="200"/>
              </a:spcAft>
            </a:pPr>
            <a:r>
              <a:rPr sz="1380" b="0">
                <a:solidFill>
                  <a:srgbClr val="191E26"/>
                </a:solidFill>
                <a:latin typeface="Arial"/>
              </a:rPr>
              <a:t>the data selection</a:t>
            </a:r>
          </a:p>
          <a:p>
            <a:pPr>
              <a:spcAft>
                <a:spcPts val="200"/>
              </a:spcAft>
            </a:pPr>
            <a:r>
              <a:rPr sz="1380" b="0">
                <a:solidFill>
                  <a:srgbClr val="191E26"/>
                </a:solidFill>
                <a:latin typeface="Arial"/>
              </a:rPr>
              <a:t>units and assumptions</a:t>
            </a:r>
          </a:p>
          <a:p>
            <a:pPr>
              <a:spcAft>
                <a:spcPts val="200"/>
              </a:spcAft>
            </a:pPr>
            <a:r>
              <a:rPr sz="1380" b="0">
                <a:solidFill>
                  <a:srgbClr val="191E26"/>
                </a:solidFill>
                <a:latin typeface="Arial"/>
              </a:rPr>
              <a:t>whether the result is meaningful</a:t>
            </a:r>
          </a:p>
        </p:txBody>
      </p:sp>
      <p:sp>
        <p:nvSpPr>
          <p:cNvPr id="32" name="Rounded Rectangle 31"/>
          <p:cNvSpPr/>
          <p:nvPr/>
        </p:nvSpPr>
        <p:spPr>
          <a:xfrm>
            <a:off x="8092440" y="2423160"/>
            <a:ext cx="3337560" cy="1874519"/>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092440" y="2423160"/>
            <a:ext cx="73152" cy="1874519"/>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93608" y="2532888"/>
            <a:ext cx="301752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Therefore</a:t>
            </a:r>
          </a:p>
        </p:txBody>
      </p:sp>
      <p:sp>
        <p:nvSpPr>
          <p:cNvPr id="35" name="TextBox 34"/>
          <p:cNvSpPr txBox="1"/>
          <p:nvPr/>
        </p:nvSpPr>
        <p:spPr>
          <a:xfrm>
            <a:off x="8293608" y="2862072"/>
            <a:ext cx="3026664" cy="1371599"/>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Learn programming basics</a:t>
            </a:r>
          </a:p>
          <a:p>
            <a:pPr>
              <a:spcAft>
                <a:spcPts val="200"/>
              </a:spcAft>
            </a:pPr>
            <a:r>
              <a:rPr sz="1380" b="0">
                <a:solidFill>
                  <a:srgbClr val="191E26"/>
                </a:solidFill>
                <a:latin typeface="Arial"/>
              </a:rPr>
              <a:t>Use AI as a collaborator</a:t>
            </a:r>
          </a:p>
          <a:p>
            <a:pPr>
              <a:spcAft>
                <a:spcPts val="200"/>
              </a:spcAft>
            </a:pPr>
            <a:r>
              <a:rPr sz="1380" b="0">
                <a:solidFill>
                  <a:srgbClr val="191E26"/>
                </a:solidFill>
                <a:latin typeface="Arial"/>
              </a:rPr>
              <a:t>Never outsource understanding</a:t>
            </a:r>
          </a:p>
        </p:txBody>
      </p:sp>
      <p:sp>
        <p:nvSpPr>
          <p:cNvPr id="36" name="TextBox 35"/>
          <p:cNvSpPr txBox="1"/>
          <p:nvPr/>
        </p:nvSpPr>
        <p:spPr>
          <a:xfrm>
            <a:off x="914400" y="5257800"/>
            <a:ext cx="10287000" cy="411480"/>
          </a:xfrm>
          <a:prstGeom prst="rect">
            <a:avLst/>
          </a:prstGeom>
          <a:noFill/>
        </p:spPr>
        <p:txBody>
          <a:bodyPr wrap="square" lIns="54864" tIns="54864" rIns="54864" bIns="54864">
            <a:normAutofit fontScale="77500" lnSpcReduction="20000"/>
          </a:bodyPr>
          <a:lstStyle/>
          <a:p>
            <a:pPr algn="ctr"/>
            <a:r>
              <a:rPr sz="2100" b="1">
                <a:solidFill>
                  <a:srgbClr val="102238"/>
                </a:solidFill>
                <a:latin typeface="Arial"/>
              </a:rPr>
              <a:t>Vibe coding without fundamentals is fast but fragile. Vibe coding with fundamentals can be powerful.</a:t>
            </a:r>
          </a:p>
        </p:txBody>
      </p:sp>
      <p:sp>
        <p:nvSpPr>
          <p:cNvPr id="37" name="TextBox 36"/>
          <p:cNvSpPr txBox="1"/>
          <p:nvPr/>
        </p:nvSpPr>
        <p:spPr>
          <a:xfrm>
            <a:off x="502920" y="6492240"/>
            <a:ext cx="10972800" cy="219456"/>
          </a:xfrm>
          <a:prstGeom prst="rect">
            <a:avLst/>
          </a:prstGeom>
          <a:noFill/>
        </p:spPr>
        <p:txBody>
          <a:bodyPr wrap="square" lIns="54864" tIns="54864" rIns="54864" bIns="54864">
            <a:normAutofit lnSpcReduction="10000"/>
          </a:bodyPr>
          <a:lstStyle/>
          <a:p>
            <a:r>
              <a:rPr sz="750" b="0">
                <a:solidFill>
                  <a:srgbClr val="545F70"/>
                </a:solidFill>
                <a:latin typeface="Arial"/>
              </a:rPr>
              <a:t>Context: Collins selected 'vibe coding' as its 2025 Word of the Year.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THESIS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AI changes the workflow, not the responsibility</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12</a:t>
            </a:r>
          </a:p>
        </p:txBody>
      </p:sp>
      <p:sp>
        <p:nvSpPr>
          <p:cNvPr id="7" name="TextBox 6"/>
          <p:cNvSpPr txBox="1"/>
          <p:nvPr/>
        </p:nvSpPr>
        <p:spPr>
          <a:xfrm>
            <a:off x="868680" y="1417320"/>
            <a:ext cx="10424160" cy="566928"/>
          </a:xfrm>
          <a:prstGeom prst="rect">
            <a:avLst/>
          </a:prstGeom>
          <a:noFill/>
        </p:spPr>
        <p:txBody>
          <a:bodyPr wrap="square" lIns="54864" tIns="54864" rIns="54864" bIns="54864">
            <a:normAutofit/>
          </a:bodyPr>
          <a:lstStyle/>
          <a:p>
            <a:pPr algn="ctr"/>
            <a:r>
              <a:rPr sz="2800" b="1">
                <a:solidFill>
                  <a:srgbClr val="191E26"/>
                </a:solidFill>
                <a:latin typeface="Arial"/>
              </a:rPr>
              <a:t>We do not learn programming only to type code.</a:t>
            </a:r>
          </a:p>
        </p:txBody>
      </p:sp>
      <p:sp>
        <p:nvSpPr>
          <p:cNvPr id="8" name="TextBox 7"/>
          <p:cNvSpPr txBox="1"/>
          <p:nvPr/>
        </p:nvSpPr>
        <p:spPr>
          <a:xfrm>
            <a:off x="868680" y="2240280"/>
            <a:ext cx="10424160" cy="566928"/>
          </a:xfrm>
          <a:prstGeom prst="rect">
            <a:avLst/>
          </a:prstGeom>
          <a:noFill/>
        </p:spPr>
        <p:txBody>
          <a:bodyPr wrap="square" lIns="54864" tIns="54864" rIns="54864" bIns="54864">
            <a:normAutofit/>
          </a:bodyPr>
          <a:lstStyle/>
          <a:p>
            <a:pPr algn="ctr"/>
            <a:r>
              <a:rPr sz="2800" b="1">
                <a:solidFill>
                  <a:srgbClr val="2265B8"/>
                </a:solidFill>
                <a:latin typeface="Arial"/>
              </a:rPr>
              <a:t>We learn programming to express scientific ideas precisely.</a:t>
            </a:r>
          </a:p>
        </p:txBody>
      </p:sp>
      <p:sp>
        <p:nvSpPr>
          <p:cNvPr id="9" name="Rounded Rectangle 8"/>
          <p:cNvSpPr/>
          <p:nvPr/>
        </p:nvSpPr>
        <p:spPr>
          <a:xfrm>
            <a:off x="914400" y="3657600"/>
            <a:ext cx="315468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14400" y="3657600"/>
            <a:ext cx="73152" cy="132588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5568" y="3767328"/>
            <a:ext cx="283464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Understand</a:t>
            </a:r>
          </a:p>
        </p:txBody>
      </p:sp>
      <p:sp>
        <p:nvSpPr>
          <p:cNvPr id="12" name="TextBox 11"/>
          <p:cNvSpPr txBox="1"/>
          <p:nvPr/>
        </p:nvSpPr>
        <p:spPr>
          <a:xfrm>
            <a:off x="1115568" y="4096512"/>
            <a:ext cx="284378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What data represent</a:t>
            </a:r>
          </a:p>
          <a:p>
            <a:pPr>
              <a:spcAft>
                <a:spcPts val="200"/>
              </a:spcAft>
            </a:pPr>
            <a:r>
              <a:rPr sz="1380" b="0">
                <a:solidFill>
                  <a:srgbClr val="191E26"/>
                </a:solidFill>
                <a:latin typeface="Arial"/>
              </a:rPr>
              <a:t>What assumptions enter</a:t>
            </a:r>
          </a:p>
        </p:txBody>
      </p:sp>
      <p:sp>
        <p:nvSpPr>
          <p:cNvPr id="13" name="Rounded Rectangle 12"/>
          <p:cNvSpPr/>
          <p:nvPr/>
        </p:nvSpPr>
        <p:spPr>
          <a:xfrm>
            <a:off x="4480560" y="3657600"/>
            <a:ext cx="315468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80560" y="3657600"/>
            <a:ext cx="73152" cy="132588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81728" y="3767328"/>
            <a:ext cx="283464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Verify</a:t>
            </a:r>
          </a:p>
        </p:txBody>
      </p:sp>
      <p:sp>
        <p:nvSpPr>
          <p:cNvPr id="16" name="TextBox 15"/>
          <p:cNvSpPr txBox="1"/>
          <p:nvPr/>
        </p:nvSpPr>
        <p:spPr>
          <a:xfrm>
            <a:off x="4681728" y="4096512"/>
            <a:ext cx="284378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Whether code is correct</a:t>
            </a:r>
          </a:p>
          <a:p>
            <a:pPr>
              <a:spcAft>
                <a:spcPts val="200"/>
              </a:spcAft>
            </a:pPr>
            <a:r>
              <a:rPr sz="1380" b="0">
                <a:solidFill>
                  <a:srgbClr val="191E26"/>
                </a:solidFill>
                <a:latin typeface="Arial"/>
              </a:rPr>
              <a:t>Whether outputs make sense</a:t>
            </a:r>
          </a:p>
        </p:txBody>
      </p:sp>
      <p:sp>
        <p:nvSpPr>
          <p:cNvPr id="17" name="Rounded Rectangle 16"/>
          <p:cNvSpPr/>
          <p:nvPr/>
        </p:nvSpPr>
        <p:spPr>
          <a:xfrm>
            <a:off x="8046720" y="3657600"/>
            <a:ext cx="315468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20" y="3657600"/>
            <a:ext cx="73152" cy="1325880"/>
          </a:xfrm>
          <a:prstGeom prst="rect">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47888" y="3767328"/>
            <a:ext cx="2834640" cy="274320"/>
          </a:xfrm>
          <a:prstGeom prst="rect">
            <a:avLst/>
          </a:prstGeom>
          <a:noFill/>
        </p:spPr>
        <p:txBody>
          <a:bodyPr wrap="square" lIns="54864" tIns="54864" rIns="54864" bIns="54864">
            <a:normAutofit fontScale="85000" lnSpcReduction="20000"/>
          </a:bodyPr>
          <a:lstStyle/>
          <a:p>
            <a:r>
              <a:rPr sz="1550" b="1">
                <a:solidFill>
                  <a:srgbClr val="B5494E"/>
                </a:solidFill>
                <a:latin typeface="Arial"/>
              </a:rPr>
              <a:t>Communicate</a:t>
            </a:r>
          </a:p>
        </p:txBody>
      </p:sp>
      <p:sp>
        <p:nvSpPr>
          <p:cNvPr id="20" name="TextBox 19"/>
          <p:cNvSpPr txBox="1"/>
          <p:nvPr/>
        </p:nvSpPr>
        <p:spPr>
          <a:xfrm>
            <a:off x="8247888" y="4096512"/>
            <a:ext cx="284378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Show your method</a:t>
            </a:r>
          </a:p>
          <a:p>
            <a:pPr>
              <a:spcAft>
                <a:spcPts val="200"/>
              </a:spcAft>
            </a:pPr>
            <a:r>
              <a:rPr sz="1380" b="0">
                <a:solidFill>
                  <a:srgbClr val="191E26"/>
                </a:solidFill>
                <a:latin typeface="Arial"/>
              </a:rPr>
              <a:t>Share reproducible work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PROGRAMMING</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What is a program?</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13</a:t>
            </a:r>
          </a:p>
        </p:txBody>
      </p:sp>
      <p:sp>
        <p:nvSpPr>
          <p:cNvPr id="7" name="TextBox 6"/>
          <p:cNvSpPr txBox="1"/>
          <p:nvPr/>
        </p:nvSpPr>
        <p:spPr>
          <a:xfrm>
            <a:off x="868680" y="1280160"/>
            <a:ext cx="10469880" cy="658368"/>
          </a:xfrm>
          <a:prstGeom prst="rect">
            <a:avLst/>
          </a:prstGeom>
          <a:noFill/>
        </p:spPr>
        <p:txBody>
          <a:bodyPr wrap="square" lIns="54864" tIns="54864" rIns="54864" bIns="54864">
            <a:normAutofit fontScale="77500" lnSpcReduction="20000"/>
          </a:bodyPr>
          <a:lstStyle/>
          <a:p>
            <a:pPr algn="ctr"/>
            <a:r>
              <a:rPr sz="2700" b="1">
                <a:solidFill>
                  <a:srgbClr val="102238"/>
                </a:solidFill>
                <a:latin typeface="Arial"/>
              </a:rPr>
              <a:t>A program is a precise set of instructions that transforms input data into output results.</a:t>
            </a:r>
          </a:p>
        </p:txBody>
      </p:sp>
      <p:sp>
        <p:nvSpPr>
          <p:cNvPr id="8" name="Rounded Rectangle 7"/>
          <p:cNvSpPr/>
          <p:nvPr/>
        </p:nvSpPr>
        <p:spPr>
          <a:xfrm>
            <a:off x="1417320" y="2514600"/>
            <a:ext cx="1691640" cy="603504"/>
          </a:xfrm>
          <a:prstGeom prst="roundRect">
            <a:avLst>
              <a:gd name="adj" fmla="val 6000"/>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453896" y="266090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Input</a:t>
            </a:r>
          </a:p>
        </p:txBody>
      </p:sp>
      <p:sp>
        <p:nvSpPr>
          <p:cNvPr id="10" name="TextBox 9"/>
          <p:cNvSpPr txBox="1"/>
          <p:nvPr/>
        </p:nvSpPr>
        <p:spPr>
          <a:xfrm>
            <a:off x="3127248" y="267004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1" name="Rounded Rectangle 10"/>
          <p:cNvSpPr/>
          <p:nvPr/>
        </p:nvSpPr>
        <p:spPr>
          <a:xfrm>
            <a:off x="3364992" y="2514600"/>
            <a:ext cx="1691640" cy="603504"/>
          </a:xfrm>
          <a:prstGeom prst="roundRect">
            <a:avLst>
              <a:gd name="adj" fmla="val 6000"/>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01568" y="266090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Operations</a:t>
            </a:r>
          </a:p>
        </p:txBody>
      </p:sp>
      <p:sp>
        <p:nvSpPr>
          <p:cNvPr id="13" name="TextBox 12"/>
          <p:cNvSpPr txBox="1"/>
          <p:nvPr/>
        </p:nvSpPr>
        <p:spPr>
          <a:xfrm>
            <a:off x="5074920" y="267004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4" name="Rounded Rectangle 13"/>
          <p:cNvSpPr/>
          <p:nvPr/>
        </p:nvSpPr>
        <p:spPr>
          <a:xfrm>
            <a:off x="5312664" y="2514600"/>
            <a:ext cx="1691640" cy="603504"/>
          </a:xfrm>
          <a:prstGeom prst="roundRect">
            <a:avLst>
              <a:gd name="adj" fmla="val 6000"/>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49240" y="266090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Control flow</a:t>
            </a:r>
          </a:p>
        </p:txBody>
      </p:sp>
      <p:sp>
        <p:nvSpPr>
          <p:cNvPr id="16" name="TextBox 15"/>
          <p:cNvSpPr txBox="1"/>
          <p:nvPr/>
        </p:nvSpPr>
        <p:spPr>
          <a:xfrm>
            <a:off x="7022592" y="267004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7" name="Rounded Rectangle 16"/>
          <p:cNvSpPr/>
          <p:nvPr/>
        </p:nvSpPr>
        <p:spPr>
          <a:xfrm>
            <a:off x="7260336" y="2514600"/>
            <a:ext cx="1691640" cy="603504"/>
          </a:xfrm>
          <a:prstGeom prst="roundRect">
            <a:avLst>
              <a:gd name="adj" fmla="val 6000"/>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96912" y="266090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Output</a:t>
            </a:r>
          </a:p>
        </p:txBody>
      </p:sp>
      <p:sp>
        <p:nvSpPr>
          <p:cNvPr id="19" name="Rounded Rectangle 18"/>
          <p:cNvSpPr/>
          <p:nvPr/>
        </p:nvSpPr>
        <p:spPr>
          <a:xfrm>
            <a:off x="868680" y="3886200"/>
            <a:ext cx="2514600" cy="11430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8680" y="3886200"/>
            <a:ext cx="73152" cy="114300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69848" y="3995928"/>
            <a:ext cx="219456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Input</a:t>
            </a:r>
          </a:p>
        </p:txBody>
      </p:sp>
      <p:sp>
        <p:nvSpPr>
          <p:cNvPr id="22" name="TextBox 21"/>
          <p:cNvSpPr txBox="1"/>
          <p:nvPr/>
        </p:nvSpPr>
        <p:spPr>
          <a:xfrm>
            <a:off x="1069848" y="4325112"/>
            <a:ext cx="2203704" cy="6400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catalogs, images, spectra</a:t>
            </a:r>
          </a:p>
        </p:txBody>
      </p:sp>
      <p:sp>
        <p:nvSpPr>
          <p:cNvPr id="23" name="Rounded Rectangle 22"/>
          <p:cNvSpPr/>
          <p:nvPr/>
        </p:nvSpPr>
        <p:spPr>
          <a:xfrm>
            <a:off x="3611880" y="3886200"/>
            <a:ext cx="2514600" cy="11430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11880" y="3886200"/>
            <a:ext cx="73152" cy="114300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13048" y="3995928"/>
            <a:ext cx="219456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Operations</a:t>
            </a:r>
          </a:p>
        </p:txBody>
      </p:sp>
      <p:sp>
        <p:nvSpPr>
          <p:cNvPr id="26" name="TextBox 25"/>
          <p:cNvSpPr txBox="1"/>
          <p:nvPr/>
        </p:nvSpPr>
        <p:spPr>
          <a:xfrm>
            <a:off x="3813048" y="4325112"/>
            <a:ext cx="2203704" cy="6400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compute, compare, convert</a:t>
            </a:r>
          </a:p>
        </p:txBody>
      </p:sp>
      <p:sp>
        <p:nvSpPr>
          <p:cNvPr id="27" name="Rounded Rectangle 26"/>
          <p:cNvSpPr/>
          <p:nvPr/>
        </p:nvSpPr>
        <p:spPr>
          <a:xfrm>
            <a:off x="6355080" y="3886200"/>
            <a:ext cx="2514600" cy="11430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55080" y="3886200"/>
            <a:ext cx="73152" cy="114300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56248" y="3995928"/>
            <a:ext cx="219456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Control</a:t>
            </a:r>
          </a:p>
        </p:txBody>
      </p:sp>
      <p:sp>
        <p:nvSpPr>
          <p:cNvPr id="30" name="TextBox 29"/>
          <p:cNvSpPr txBox="1"/>
          <p:nvPr/>
        </p:nvSpPr>
        <p:spPr>
          <a:xfrm>
            <a:off x="6556248" y="4325112"/>
            <a:ext cx="2203704" cy="6400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repeat, branch, stop</a:t>
            </a:r>
          </a:p>
        </p:txBody>
      </p:sp>
      <p:sp>
        <p:nvSpPr>
          <p:cNvPr id="31" name="Rounded Rectangle 30"/>
          <p:cNvSpPr/>
          <p:nvPr/>
        </p:nvSpPr>
        <p:spPr>
          <a:xfrm>
            <a:off x="9098280" y="3886200"/>
            <a:ext cx="2514600" cy="11430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98280" y="3886200"/>
            <a:ext cx="73152" cy="1143000"/>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299448" y="3995928"/>
            <a:ext cx="2194560" cy="274320"/>
          </a:xfrm>
          <a:prstGeom prst="rect">
            <a:avLst/>
          </a:prstGeom>
          <a:noFill/>
        </p:spPr>
        <p:txBody>
          <a:bodyPr wrap="square" lIns="54864" tIns="54864" rIns="54864" bIns="54864">
            <a:normAutofit fontScale="85000" lnSpcReduction="20000"/>
          </a:bodyPr>
          <a:lstStyle/>
          <a:p>
            <a:r>
              <a:rPr sz="1550" b="1">
                <a:solidFill>
                  <a:srgbClr val="102238"/>
                </a:solidFill>
                <a:latin typeface="Arial"/>
              </a:rPr>
              <a:t>Output</a:t>
            </a:r>
          </a:p>
        </p:txBody>
      </p:sp>
      <p:sp>
        <p:nvSpPr>
          <p:cNvPr id="34" name="TextBox 33"/>
          <p:cNvSpPr txBox="1"/>
          <p:nvPr/>
        </p:nvSpPr>
        <p:spPr>
          <a:xfrm>
            <a:off x="9299448" y="4325112"/>
            <a:ext cx="2203704" cy="6400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numbers, plots, files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ALGORITHMS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An algorithm is a recipe for solving a problem</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14</a:t>
            </a:r>
          </a:p>
        </p:txBody>
      </p:sp>
      <p:sp>
        <p:nvSpPr>
          <p:cNvPr id="7" name="Rounded Rectangle 6"/>
          <p:cNvSpPr/>
          <p:nvPr/>
        </p:nvSpPr>
        <p:spPr>
          <a:xfrm>
            <a:off x="777240" y="1280160"/>
            <a:ext cx="5074920" cy="283464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lgn="ctr">
              <a:spcAft>
                <a:spcPts val="0"/>
              </a:spcAft>
            </a:pPr>
            <a:r>
              <a:rPr sz="1600">
                <a:solidFill>
                  <a:srgbClr val="EBF0F6"/>
                </a:solidFill>
                <a:latin typeface="Menlo"/>
              </a:rPr>
              <a:t>Algorithm: select bright stars</a:t>
            </a:r>
          </a:p>
          <a:p>
            <a:pPr>
              <a:spcAft>
                <a:spcPts val="0"/>
              </a:spcAft>
            </a:pPr>
            <a:endParaRPr sz="1600">
              <a:solidFill>
                <a:srgbClr val="EBF0F6"/>
              </a:solidFill>
              <a:latin typeface="Menlo"/>
            </a:endParaRPr>
          </a:p>
          <a:p>
            <a:pPr>
              <a:spcAft>
                <a:spcPts val="0"/>
              </a:spcAft>
            </a:pPr>
            <a:r>
              <a:rPr sz="1600">
                <a:solidFill>
                  <a:srgbClr val="EBF0F6"/>
                </a:solidFill>
                <a:latin typeface="Menlo"/>
              </a:rPr>
              <a:t>1. Open a star catalog</a:t>
            </a:r>
          </a:p>
          <a:p>
            <a:pPr>
              <a:spcAft>
                <a:spcPts val="0"/>
              </a:spcAft>
            </a:pPr>
            <a:r>
              <a:rPr sz="1600">
                <a:solidFill>
                  <a:srgbClr val="EBF0F6"/>
                </a:solidFill>
                <a:latin typeface="Menlo"/>
              </a:rPr>
              <a:t>2. Read each star's magnitude</a:t>
            </a:r>
          </a:p>
          <a:p>
            <a:pPr>
              <a:spcAft>
                <a:spcPts val="0"/>
              </a:spcAft>
            </a:pPr>
            <a:r>
              <a:rPr sz="1600">
                <a:solidFill>
                  <a:srgbClr val="EBF0F6"/>
                </a:solidFill>
                <a:latin typeface="Menlo"/>
              </a:rPr>
              <a:t>3. Keep stars with magnitude &lt; 1.0</a:t>
            </a:r>
          </a:p>
          <a:p>
            <a:pPr>
              <a:spcAft>
                <a:spcPts val="0"/>
              </a:spcAft>
            </a:pPr>
            <a:r>
              <a:rPr sz="1600">
                <a:solidFill>
                  <a:srgbClr val="EBF0F6"/>
                </a:solidFill>
                <a:latin typeface="Menlo"/>
              </a:rPr>
              <a:t>4. Print the selected names</a:t>
            </a:r>
          </a:p>
          <a:p>
            <a:pPr>
              <a:spcAft>
                <a:spcPts val="0"/>
              </a:spcAft>
            </a:pPr>
            <a:r>
              <a:rPr sz="1600">
                <a:solidFill>
                  <a:srgbClr val="EBF0F6"/>
                </a:solidFill>
                <a:latin typeface="Menlo"/>
              </a:rPr>
              <a:t>5. Check if the result makes sense</a:t>
            </a:r>
          </a:p>
        </p:txBody>
      </p:sp>
      <p:sp>
        <p:nvSpPr>
          <p:cNvPr id="8" name="TextBox 7"/>
          <p:cNvSpPr txBox="1"/>
          <p:nvPr/>
        </p:nvSpPr>
        <p:spPr>
          <a:xfrm>
            <a:off x="6217920" y="1417320"/>
            <a:ext cx="5074920" cy="2560320"/>
          </a:xfrm>
          <a:prstGeom prst="rect">
            <a:avLst/>
          </a:prstGeom>
          <a:noFill/>
        </p:spPr>
        <p:txBody>
          <a:bodyPr wrap="square" lIns="128016" tIns="36576" rIns="109728" bIns="36576">
            <a:normAutofit/>
          </a:bodyPr>
          <a:lstStyle/>
          <a:p>
            <a:pPr>
              <a:spcAft>
                <a:spcPts val="900"/>
              </a:spcAft>
            </a:pPr>
            <a:r>
              <a:rPr sz="2100" b="0">
                <a:solidFill>
                  <a:srgbClr val="191E26"/>
                </a:solidFill>
                <a:latin typeface="Arial"/>
              </a:rPr>
              <a:t>Algorithms are independent of any one programming language.</a:t>
            </a:r>
          </a:p>
          <a:p>
            <a:pPr>
              <a:spcAft>
                <a:spcPts val="900"/>
              </a:spcAft>
            </a:pPr>
            <a:r>
              <a:rPr sz="2100" b="0">
                <a:solidFill>
                  <a:srgbClr val="191E26"/>
                </a:solidFill>
                <a:latin typeface="Arial"/>
              </a:rPr>
              <a:t>A good algorithm is clear enough to explain to another person.</a:t>
            </a:r>
          </a:p>
          <a:p>
            <a:pPr>
              <a:spcAft>
                <a:spcPts val="900"/>
              </a:spcAft>
            </a:pPr>
            <a:r>
              <a:rPr sz="2100" b="0">
                <a:solidFill>
                  <a:srgbClr val="191E26"/>
                </a:solidFill>
                <a:latin typeface="Arial"/>
              </a:rPr>
              <a:t>Scientific algorithms must include checks, not only calculations.</a:t>
            </a:r>
          </a:p>
        </p:txBody>
      </p:sp>
      <p:sp>
        <p:nvSpPr>
          <p:cNvPr id="9" name="TextBox 8"/>
          <p:cNvSpPr txBox="1"/>
          <p:nvPr/>
        </p:nvSpPr>
        <p:spPr>
          <a:xfrm>
            <a:off x="1051560" y="4892040"/>
            <a:ext cx="10058400" cy="438912"/>
          </a:xfrm>
          <a:prstGeom prst="rect">
            <a:avLst/>
          </a:prstGeom>
          <a:noFill/>
        </p:spPr>
        <p:txBody>
          <a:bodyPr wrap="square" lIns="54864" tIns="54864" rIns="54864" bIns="54864">
            <a:normAutofit fontScale="77500" lnSpcReduction="20000"/>
          </a:bodyPr>
          <a:lstStyle/>
          <a:p>
            <a:pPr algn="ctr"/>
            <a:r>
              <a:rPr sz="2100" b="1">
                <a:solidFill>
                  <a:srgbClr val="102238"/>
                </a:solidFill>
                <a:latin typeface="Arial"/>
              </a:rPr>
              <a:t>Before writing code, ask: What is the input? What are the steps? What should the output mean?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716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The same algorithm becomes Python</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15</a:t>
            </a:r>
          </a:p>
        </p:txBody>
      </p:sp>
      <p:sp>
        <p:nvSpPr>
          <p:cNvPr id="7" name="Rounded Rectangle 6"/>
          <p:cNvSpPr/>
          <p:nvPr/>
        </p:nvSpPr>
        <p:spPr>
          <a:xfrm>
            <a:off x="685800" y="1234440"/>
            <a:ext cx="5715000" cy="361188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500" dirty="0">
                <a:solidFill>
                  <a:srgbClr val="EBF0F6"/>
                </a:solidFill>
                <a:latin typeface="Menlo"/>
              </a:rPr>
              <a:t>catalog = [</a:t>
            </a:r>
          </a:p>
          <a:p>
            <a:pPr>
              <a:spcAft>
                <a:spcPts val="0"/>
              </a:spcAft>
            </a:pPr>
            <a:r>
              <a:rPr sz="1500" dirty="0">
                <a:solidFill>
                  <a:srgbClr val="EBF0F6"/>
                </a:solidFill>
                <a:latin typeface="Menlo"/>
              </a:rPr>
              <a:t>    {'name': 'Sirius A', 'mag': -1.46},</a:t>
            </a:r>
          </a:p>
          <a:p>
            <a:pPr>
              <a:spcAft>
                <a:spcPts val="0"/>
              </a:spcAft>
            </a:pPr>
            <a:r>
              <a:rPr sz="1500" dirty="0">
                <a:solidFill>
                  <a:srgbClr val="EBF0F6"/>
                </a:solidFill>
                <a:latin typeface="Menlo"/>
              </a:rPr>
              <a:t>    {'name': 'Alpha Centauri A', 'mag': 0.01},</a:t>
            </a:r>
          </a:p>
          <a:p>
            <a:pPr>
              <a:spcAft>
                <a:spcPts val="0"/>
              </a:spcAft>
            </a:pPr>
            <a:r>
              <a:rPr sz="1500" dirty="0">
                <a:solidFill>
                  <a:srgbClr val="EBF0F6"/>
                </a:solidFill>
                <a:latin typeface="Menlo"/>
              </a:rPr>
              <a:t>]</a:t>
            </a:r>
          </a:p>
          <a:p>
            <a:pPr>
              <a:spcAft>
                <a:spcPts val="0"/>
              </a:spcAft>
            </a:pPr>
            <a:endParaRPr sz="1500" dirty="0">
              <a:solidFill>
                <a:srgbClr val="EBF0F6"/>
              </a:solidFill>
              <a:latin typeface="Menlo"/>
            </a:endParaRPr>
          </a:p>
          <a:p>
            <a:pPr>
              <a:spcAft>
                <a:spcPts val="0"/>
              </a:spcAft>
            </a:pPr>
            <a:r>
              <a:rPr sz="1500" dirty="0">
                <a:solidFill>
                  <a:srgbClr val="EBF0F6"/>
                </a:solidFill>
                <a:latin typeface="Menlo"/>
              </a:rPr>
              <a:t>for star in catalog:</a:t>
            </a:r>
          </a:p>
          <a:p>
            <a:pPr>
              <a:spcAft>
                <a:spcPts val="0"/>
              </a:spcAft>
            </a:pPr>
            <a:r>
              <a:rPr sz="1500" dirty="0">
                <a:solidFill>
                  <a:srgbClr val="EBF0F6"/>
                </a:solidFill>
                <a:latin typeface="Menlo"/>
              </a:rPr>
              <a:t>    if star['mag'] &lt; 1.0:</a:t>
            </a:r>
          </a:p>
          <a:p>
            <a:pPr>
              <a:spcAft>
                <a:spcPts val="0"/>
              </a:spcAft>
            </a:pPr>
            <a:r>
              <a:rPr sz="1500" dirty="0">
                <a:solidFill>
                  <a:srgbClr val="EBF0F6"/>
                </a:solidFill>
                <a:latin typeface="Menlo"/>
              </a:rPr>
              <a:t>        print(star['name'])</a:t>
            </a:r>
          </a:p>
        </p:txBody>
      </p:sp>
      <p:sp>
        <p:nvSpPr>
          <p:cNvPr id="8" name="Rounded Rectangle 7"/>
          <p:cNvSpPr/>
          <p:nvPr/>
        </p:nvSpPr>
        <p:spPr>
          <a:xfrm>
            <a:off x="6720840" y="1325880"/>
            <a:ext cx="4343400" cy="10972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720840" y="1325880"/>
            <a:ext cx="73152" cy="10972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22008" y="1435608"/>
            <a:ext cx="402336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What appears here?</a:t>
            </a:r>
          </a:p>
        </p:txBody>
      </p:sp>
      <p:sp>
        <p:nvSpPr>
          <p:cNvPr id="11" name="TextBox 10"/>
          <p:cNvSpPr txBox="1"/>
          <p:nvPr/>
        </p:nvSpPr>
        <p:spPr>
          <a:xfrm>
            <a:off x="6922008" y="1764792"/>
            <a:ext cx="4032504" cy="5943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variables, data structures, strings, loops, conditions</a:t>
            </a:r>
          </a:p>
        </p:txBody>
      </p:sp>
      <p:sp>
        <p:nvSpPr>
          <p:cNvPr id="12" name="Rounded Rectangle 11"/>
          <p:cNvSpPr/>
          <p:nvPr/>
        </p:nvSpPr>
        <p:spPr>
          <a:xfrm>
            <a:off x="6720840" y="2743200"/>
            <a:ext cx="4343400" cy="10972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720840" y="2743200"/>
            <a:ext cx="73152" cy="109728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22008" y="2852928"/>
            <a:ext cx="402336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What is the science?</a:t>
            </a:r>
          </a:p>
        </p:txBody>
      </p:sp>
      <p:sp>
        <p:nvSpPr>
          <p:cNvPr id="15" name="TextBox 14"/>
          <p:cNvSpPr txBox="1"/>
          <p:nvPr/>
        </p:nvSpPr>
        <p:spPr>
          <a:xfrm>
            <a:off x="6922008" y="3182112"/>
            <a:ext cx="4032504" cy="594360"/>
          </a:xfrm>
          <a:prstGeom prst="rect">
            <a:avLst/>
          </a:prstGeom>
          <a:noFill/>
        </p:spPr>
        <p:txBody>
          <a:bodyPr wrap="square" lIns="128016" tIns="36576" rIns="109728" bIns="36576">
            <a:normAutofit fontScale="85000" lnSpcReduction="20000"/>
          </a:bodyPr>
          <a:lstStyle/>
          <a:p>
            <a:pPr>
              <a:spcAft>
                <a:spcPts val="200"/>
              </a:spcAft>
            </a:pPr>
            <a:r>
              <a:rPr sz="1380" b="0">
                <a:solidFill>
                  <a:srgbClr val="191E26"/>
                </a:solidFill>
                <a:latin typeface="Arial"/>
              </a:rPr>
              <a:t>define a selection rule</a:t>
            </a:r>
          </a:p>
          <a:p>
            <a:pPr>
              <a:spcAft>
                <a:spcPts val="200"/>
              </a:spcAft>
            </a:pPr>
            <a:r>
              <a:rPr sz="1380" b="0">
                <a:solidFill>
                  <a:srgbClr val="191E26"/>
                </a:solidFill>
                <a:latin typeface="Arial"/>
              </a:rPr>
              <a:t>apply it consistently</a:t>
            </a:r>
          </a:p>
          <a:p>
            <a:pPr>
              <a:spcAft>
                <a:spcPts val="200"/>
              </a:spcAft>
            </a:pPr>
            <a:r>
              <a:rPr sz="1380" b="0">
                <a:solidFill>
                  <a:srgbClr val="191E26"/>
                </a:solidFill>
                <a:latin typeface="Arial"/>
              </a:rPr>
              <a:t>inspect the selected sample</a:t>
            </a:r>
          </a:p>
        </p:txBody>
      </p:sp>
      <p:sp>
        <p:nvSpPr>
          <p:cNvPr id="16" name="Rounded Rectangle 15"/>
          <p:cNvSpPr/>
          <p:nvPr/>
        </p:nvSpPr>
        <p:spPr>
          <a:xfrm>
            <a:off x="6720840" y="4160520"/>
            <a:ext cx="4343400" cy="10972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720840" y="4160520"/>
            <a:ext cx="73152" cy="109728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22008" y="4270248"/>
            <a:ext cx="402336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What can AI help with?</a:t>
            </a:r>
          </a:p>
        </p:txBody>
      </p:sp>
      <p:sp>
        <p:nvSpPr>
          <p:cNvPr id="19" name="TextBox 18"/>
          <p:cNvSpPr txBox="1"/>
          <p:nvPr/>
        </p:nvSpPr>
        <p:spPr>
          <a:xfrm>
            <a:off x="6922008" y="4599432"/>
            <a:ext cx="4032504" cy="5943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syntax and variations</a:t>
            </a:r>
          </a:p>
          <a:p>
            <a:pPr>
              <a:spcAft>
                <a:spcPts val="200"/>
              </a:spcAft>
            </a:pPr>
            <a:r>
              <a:rPr sz="1380" b="0">
                <a:solidFill>
                  <a:srgbClr val="191E26"/>
                </a:solidFill>
                <a:latin typeface="Arial"/>
              </a:rPr>
              <a:t>but you must judge the rule and result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WHY PYTHON</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Why Python is a practical choice for astronomy</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16</a:t>
            </a:r>
          </a:p>
        </p:txBody>
      </p:sp>
      <p:sp>
        <p:nvSpPr>
          <p:cNvPr id="7" name="Rounded Rectangle 6"/>
          <p:cNvSpPr/>
          <p:nvPr/>
        </p:nvSpPr>
        <p:spPr>
          <a:xfrm>
            <a:off x="685800" y="1325880"/>
            <a:ext cx="3429000" cy="150876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325880"/>
            <a:ext cx="73152" cy="150876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435608"/>
            <a:ext cx="310896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Readable</a:t>
            </a:r>
          </a:p>
        </p:txBody>
      </p:sp>
      <p:sp>
        <p:nvSpPr>
          <p:cNvPr id="10" name="TextBox 9"/>
          <p:cNvSpPr txBox="1"/>
          <p:nvPr/>
        </p:nvSpPr>
        <p:spPr>
          <a:xfrm>
            <a:off x="886968" y="1764792"/>
            <a:ext cx="3118104" cy="100584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Good for beginners</a:t>
            </a:r>
          </a:p>
          <a:p>
            <a:pPr>
              <a:spcAft>
                <a:spcPts val="200"/>
              </a:spcAft>
            </a:pPr>
            <a:r>
              <a:rPr sz="1380" b="0">
                <a:solidFill>
                  <a:srgbClr val="191E26"/>
                </a:solidFill>
                <a:latin typeface="Arial"/>
              </a:rPr>
              <a:t>Close to pseudocode</a:t>
            </a:r>
          </a:p>
          <a:p>
            <a:pPr>
              <a:spcAft>
                <a:spcPts val="200"/>
              </a:spcAft>
            </a:pPr>
            <a:r>
              <a:rPr sz="1380" b="0">
                <a:solidFill>
                  <a:srgbClr val="191E26"/>
                </a:solidFill>
                <a:latin typeface="Arial"/>
              </a:rPr>
              <a:t>Easy to discuss in groups</a:t>
            </a:r>
          </a:p>
        </p:txBody>
      </p:sp>
      <p:sp>
        <p:nvSpPr>
          <p:cNvPr id="11" name="Rounded Rectangle 10"/>
          <p:cNvSpPr/>
          <p:nvPr/>
        </p:nvSpPr>
        <p:spPr>
          <a:xfrm>
            <a:off x="4389120" y="1325880"/>
            <a:ext cx="3429000" cy="150876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0" y="1325880"/>
            <a:ext cx="73152" cy="150876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1435608"/>
            <a:ext cx="310896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Interactive</a:t>
            </a:r>
          </a:p>
        </p:txBody>
      </p:sp>
      <p:sp>
        <p:nvSpPr>
          <p:cNvPr id="14" name="TextBox 13"/>
          <p:cNvSpPr txBox="1"/>
          <p:nvPr/>
        </p:nvSpPr>
        <p:spPr>
          <a:xfrm>
            <a:off x="4590288" y="1764792"/>
            <a:ext cx="3118104" cy="100584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Jupyter notebooks</a:t>
            </a:r>
          </a:p>
          <a:p>
            <a:pPr>
              <a:spcAft>
                <a:spcPts val="200"/>
              </a:spcAft>
            </a:pPr>
            <a:r>
              <a:rPr sz="1380" b="0">
                <a:solidFill>
                  <a:srgbClr val="191E26"/>
                </a:solidFill>
                <a:latin typeface="Arial"/>
              </a:rPr>
              <a:t>Run small steps</a:t>
            </a:r>
          </a:p>
          <a:p>
            <a:pPr>
              <a:spcAft>
                <a:spcPts val="200"/>
              </a:spcAft>
            </a:pPr>
            <a:r>
              <a:rPr sz="1380" b="0">
                <a:solidFill>
                  <a:srgbClr val="191E26"/>
                </a:solidFill>
                <a:latin typeface="Arial"/>
              </a:rPr>
              <a:t>Plot while exploring</a:t>
            </a:r>
          </a:p>
        </p:txBody>
      </p:sp>
      <p:sp>
        <p:nvSpPr>
          <p:cNvPr id="15" name="Rounded Rectangle 14"/>
          <p:cNvSpPr/>
          <p:nvPr/>
        </p:nvSpPr>
        <p:spPr>
          <a:xfrm>
            <a:off x="8092440" y="1325880"/>
            <a:ext cx="3429000" cy="150876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325880"/>
            <a:ext cx="73152" cy="150876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435608"/>
            <a:ext cx="310896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Scientific ecosystem</a:t>
            </a:r>
          </a:p>
        </p:txBody>
      </p:sp>
      <p:sp>
        <p:nvSpPr>
          <p:cNvPr id="18" name="TextBox 17"/>
          <p:cNvSpPr txBox="1"/>
          <p:nvPr/>
        </p:nvSpPr>
        <p:spPr>
          <a:xfrm>
            <a:off x="8293608" y="1764792"/>
            <a:ext cx="3118104" cy="100584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NumPy</a:t>
            </a:r>
          </a:p>
          <a:p>
            <a:pPr>
              <a:spcAft>
                <a:spcPts val="200"/>
              </a:spcAft>
            </a:pPr>
            <a:r>
              <a:rPr sz="1380" b="0">
                <a:solidFill>
                  <a:srgbClr val="191E26"/>
                </a:solidFill>
                <a:latin typeface="Arial"/>
              </a:rPr>
              <a:t>pandas</a:t>
            </a:r>
          </a:p>
          <a:p>
            <a:pPr>
              <a:spcAft>
                <a:spcPts val="200"/>
              </a:spcAft>
            </a:pPr>
            <a:r>
              <a:rPr sz="1380" b="0">
                <a:solidFill>
                  <a:srgbClr val="191E26"/>
                </a:solidFill>
                <a:latin typeface="Arial"/>
              </a:rPr>
              <a:t>matplotlib</a:t>
            </a:r>
          </a:p>
          <a:p>
            <a:pPr>
              <a:spcAft>
                <a:spcPts val="200"/>
              </a:spcAft>
            </a:pPr>
            <a:r>
              <a:rPr sz="1380" b="0">
                <a:solidFill>
                  <a:srgbClr val="191E26"/>
                </a:solidFill>
                <a:latin typeface="Arial"/>
              </a:rPr>
              <a:t>Astropy</a:t>
            </a:r>
          </a:p>
          <a:p>
            <a:pPr>
              <a:spcAft>
                <a:spcPts val="200"/>
              </a:spcAft>
            </a:pPr>
            <a:r>
              <a:rPr sz="1380" b="0">
                <a:solidFill>
                  <a:srgbClr val="191E26"/>
                </a:solidFill>
                <a:latin typeface="Arial"/>
              </a:rPr>
              <a:t>scikit-learn</a:t>
            </a:r>
          </a:p>
        </p:txBody>
      </p:sp>
      <p:sp>
        <p:nvSpPr>
          <p:cNvPr id="19" name="TextBox 18"/>
          <p:cNvSpPr txBox="1"/>
          <p:nvPr/>
        </p:nvSpPr>
        <p:spPr>
          <a:xfrm>
            <a:off x="914400" y="3794760"/>
            <a:ext cx="10332720" cy="1234440"/>
          </a:xfrm>
          <a:prstGeom prst="rect">
            <a:avLst/>
          </a:prstGeom>
          <a:noFill/>
        </p:spPr>
        <p:txBody>
          <a:bodyPr wrap="square" lIns="128016" tIns="36576" rIns="109728" bIns="36576">
            <a:normAutofit fontScale="92500" lnSpcReduction="20000"/>
          </a:bodyPr>
          <a:lstStyle/>
          <a:p>
            <a:pPr>
              <a:spcAft>
                <a:spcPts val="800"/>
              </a:spcAft>
            </a:pPr>
            <a:r>
              <a:rPr sz="2200" b="0">
                <a:solidFill>
                  <a:srgbClr val="191E26"/>
                </a:solidFill>
                <a:latin typeface="Arial"/>
              </a:rPr>
              <a:t>Python lets us connect data access, numerical analysis, visualization, statistics, machine learning, and documentation.</a:t>
            </a:r>
          </a:p>
          <a:p>
            <a:pPr>
              <a:spcAft>
                <a:spcPts val="800"/>
              </a:spcAft>
            </a:pPr>
            <a:r>
              <a:rPr sz="2200" b="0">
                <a:solidFill>
                  <a:srgbClr val="191E26"/>
                </a:solidFill>
                <a:latin typeface="Arial"/>
              </a:rPr>
              <a:t>It is also a good language for working with AI coding assistants, because the code is usually readable enough to inspect.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JUPYTER</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Jupyter is a lab notebook that can run code</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17</a:t>
            </a:r>
          </a:p>
        </p:txBody>
      </p:sp>
      <p:sp>
        <p:nvSpPr>
          <p:cNvPr id="7" name="Rounded Rectangle 6"/>
          <p:cNvSpPr/>
          <p:nvPr/>
        </p:nvSpPr>
        <p:spPr>
          <a:xfrm>
            <a:off x="685800" y="1325880"/>
            <a:ext cx="3337560" cy="150876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325880"/>
            <a:ext cx="73152" cy="150876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435608"/>
            <a:ext cx="301752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Markdown cells</a:t>
            </a:r>
          </a:p>
        </p:txBody>
      </p:sp>
      <p:sp>
        <p:nvSpPr>
          <p:cNvPr id="10" name="TextBox 9"/>
          <p:cNvSpPr txBox="1"/>
          <p:nvPr/>
        </p:nvSpPr>
        <p:spPr>
          <a:xfrm>
            <a:off x="886968" y="1764792"/>
            <a:ext cx="3026664" cy="100584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write the question</a:t>
            </a:r>
          </a:p>
          <a:p>
            <a:pPr>
              <a:spcAft>
                <a:spcPts val="200"/>
              </a:spcAft>
            </a:pPr>
            <a:r>
              <a:rPr sz="1380" b="0">
                <a:solidFill>
                  <a:srgbClr val="191E26"/>
                </a:solidFill>
                <a:latin typeface="Arial"/>
              </a:rPr>
              <a:t>record assumptions</a:t>
            </a:r>
          </a:p>
          <a:p>
            <a:pPr>
              <a:spcAft>
                <a:spcPts val="200"/>
              </a:spcAft>
            </a:pPr>
            <a:r>
              <a:rPr sz="1380" b="0">
                <a:solidFill>
                  <a:srgbClr val="191E26"/>
                </a:solidFill>
                <a:latin typeface="Arial"/>
              </a:rPr>
              <a:t>explain the result</a:t>
            </a:r>
          </a:p>
        </p:txBody>
      </p:sp>
      <p:sp>
        <p:nvSpPr>
          <p:cNvPr id="11" name="Rounded Rectangle 10"/>
          <p:cNvSpPr/>
          <p:nvPr/>
        </p:nvSpPr>
        <p:spPr>
          <a:xfrm>
            <a:off x="4434840" y="1325880"/>
            <a:ext cx="3337560" cy="150876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325880"/>
            <a:ext cx="73152" cy="150876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8" y="1435608"/>
            <a:ext cx="301752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Code cells</a:t>
            </a:r>
          </a:p>
        </p:txBody>
      </p:sp>
      <p:sp>
        <p:nvSpPr>
          <p:cNvPr id="14" name="TextBox 13"/>
          <p:cNvSpPr txBox="1"/>
          <p:nvPr/>
        </p:nvSpPr>
        <p:spPr>
          <a:xfrm>
            <a:off x="4636008" y="1764792"/>
            <a:ext cx="3026664" cy="100584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run one step</a:t>
            </a:r>
          </a:p>
          <a:p>
            <a:pPr>
              <a:spcAft>
                <a:spcPts val="200"/>
              </a:spcAft>
            </a:pPr>
            <a:r>
              <a:rPr sz="1380" b="0">
                <a:solidFill>
                  <a:srgbClr val="191E26"/>
                </a:solidFill>
                <a:latin typeface="Arial"/>
              </a:rPr>
              <a:t>change one parameter</a:t>
            </a:r>
          </a:p>
          <a:p>
            <a:pPr>
              <a:spcAft>
                <a:spcPts val="200"/>
              </a:spcAft>
            </a:pPr>
            <a:r>
              <a:rPr sz="1380" b="0">
                <a:solidFill>
                  <a:srgbClr val="191E26"/>
                </a:solidFill>
                <a:latin typeface="Arial"/>
              </a:rPr>
              <a:t>see errors immediately</a:t>
            </a:r>
          </a:p>
        </p:txBody>
      </p:sp>
      <p:sp>
        <p:nvSpPr>
          <p:cNvPr id="15" name="Rounded Rectangle 14"/>
          <p:cNvSpPr/>
          <p:nvPr/>
        </p:nvSpPr>
        <p:spPr>
          <a:xfrm>
            <a:off x="8183879" y="1325880"/>
            <a:ext cx="3337560" cy="150876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83879" y="1325880"/>
            <a:ext cx="73152" cy="150876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85047" y="1435608"/>
            <a:ext cx="301752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Outputs</a:t>
            </a:r>
          </a:p>
        </p:txBody>
      </p:sp>
      <p:sp>
        <p:nvSpPr>
          <p:cNvPr id="18" name="TextBox 17"/>
          <p:cNvSpPr txBox="1"/>
          <p:nvPr/>
        </p:nvSpPr>
        <p:spPr>
          <a:xfrm>
            <a:off x="8385047" y="1764792"/>
            <a:ext cx="3026664" cy="100584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tables</a:t>
            </a:r>
          </a:p>
          <a:p>
            <a:pPr>
              <a:spcAft>
                <a:spcPts val="200"/>
              </a:spcAft>
            </a:pPr>
            <a:r>
              <a:rPr sz="1380" b="0">
                <a:solidFill>
                  <a:srgbClr val="191E26"/>
                </a:solidFill>
                <a:latin typeface="Arial"/>
              </a:rPr>
              <a:t>numbers</a:t>
            </a:r>
          </a:p>
          <a:p>
            <a:pPr>
              <a:spcAft>
                <a:spcPts val="200"/>
              </a:spcAft>
            </a:pPr>
            <a:r>
              <a:rPr sz="1380" b="0">
                <a:solidFill>
                  <a:srgbClr val="191E26"/>
                </a:solidFill>
                <a:latin typeface="Arial"/>
              </a:rPr>
              <a:t>plots</a:t>
            </a:r>
          </a:p>
          <a:p>
            <a:pPr>
              <a:spcAft>
                <a:spcPts val="200"/>
              </a:spcAft>
            </a:pPr>
            <a:r>
              <a:rPr sz="1380" b="0">
                <a:solidFill>
                  <a:srgbClr val="191E26"/>
                </a:solidFill>
                <a:latin typeface="Arial"/>
              </a:rPr>
              <a:t>error messages</a:t>
            </a:r>
          </a:p>
        </p:txBody>
      </p:sp>
      <p:sp>
        <p:nvSpPr>
          <p:cNvPr id="19" name="Rounded Rectangle 18"/>
          <p:cNvSpPr/>
          <p:nvPr/>
        </p:nvSpPr>
        <p:spPr>
          <a:xfrm>
            <a:off x="1143000" y="3794760"/>
            <a:ext cx="9875520" cy="11430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a:solidFill>
                  <a:srgbClr val="EBF0F6"/>
                </a:solidFill>
                <a:latin typeface="Menlo"/>
              </a:rPr>
              <a:t># Change one value, run the cell, inspect the result</a:t>
            </a:r>
          </a:p>
          <a:p>
            <a:pPr>
              <a:spcAft>
                <a:spcPts val="0"/>
              </a:spcAft>
            </a:pPr>
            <a:r>
              <a:rPr sz="1600" dirty="0" err="1">
                <a:solidFill>
                  <a:srgbClr val="EBF0F6"/>
                </a:solidFill>
                <a:latin typeface="Menlo"/>
              </a:rPr>
              <a:t>radius_earth</a:t>
            </a:r>
            <a:r>
              <a:rPr sz="1600" dirty="0">
                <a:solidFill>
                  <a:srgbClr val="EBF0F6"/>
                </a:solidFill>
                <a:latin typeface="Menlo"/>
              </a:rPr>
              <a:t> = 1.11</a:t>
            </a:r>
          </a:p>
          <a:p>
            <a:pPr>
              <a:spcAft>
                <a:spcPts val="0"/>
              </a:spcAft>
            </a:pPr>
            <a:r>
              <a:rPr sz="1600" dirty="0">
                <a:solidFill>
                  <a:srgbClr val="EBF0F6"/>
                </a:solidFill>
                <a:latin typeface="Menlo"/>
              </a:rPr>
              <a:t>print(</a:t>
            </a:r>
            <a:r>
              <a:rPr sz="1600" dirty="0" err="1">
                <a:solidFill>
                  <a:srgbClr val="EBF0F6"/>
                </a:solidFill>
                <a:latin typeface="Menlo"/>
              </a:rPr>
              <a:t>radius_earth</a:t>
            </a:r>
            <a:r>
              <a:rPr sz="1600" dirty="0">
                <a:solidFill>
                  <a:srgbClr val="EBF0F6"/>
                </a:solidFill>
                <a:latin typeface="Menlo"/>
              </a:rPr>
              <a:t> * 6371, 'km')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WEEK 1 MAP</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Week 1 concepts: the vocabulary of programming</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18</a:t>
            </a:r>
          </a:p>
        </p:txBody>
      </p:sp>
      <p:sp>
        <p:nvSpPr>
          <p:cNvPr id="7" name="Rounded Rectangle 6"/>
          <p:cNvSpPr/>
          <p:nvPr/>
        </p:nvSpPr>
        <p:spPr>
          <a:xfrm>
            <a:off x="658368" y="1234440"/>
            <a:ext cx="3401568" cy="9601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8368" y="1234440"/>
            <a:ext cx="73152" cy="96012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9536" y="1344168"/>
            <a:ext cx="3081528"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01  Getting started</a:t>
            </a:r>
          </a:p>
        </p:txBody>
      </p:sp>
      <p:sp>
        <p:nvSpPr>
          <p:cNvPr id="10" name="TextBox 9"/>
          <p:cNvSpPr txBox="1"/>
          <p:nvPr/>
        </p:nvSpPr>
        <p:spPr>
          <a:xfrm>
            <a:off x="859536" y="1673352"/>
            <a:ext cx="3090672" cy="4572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Week 1 notebook</a:t>
            </a:r>
          </a:p>
        </p:txBody>
      </p:sp>
      <p:sp>
        <p:nvSpPr>
          <p:cNvPr id="11" name="Rounded Rectangle 10"/>
          <p:cNvSpPr/>
          <p:nvPr/>
        </p:nvSpPr>
        <p:spPr>
          <a:xfrm>
            <a:off x="4480559" y="1234440"/>
            <a:ext cx="3401568" cy="9601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80559" y="1234440"/>
            <a:ext cx="73152" cy="96012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81727" y="1344168"/>
            <a:ext cx="3081528"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02  Variables</a:t>
            </a:r>
          </a:p>
        </p:txBody>
      </p:sp>
      <p:sp>
        <p:nvSpPr>
          <p:cNvPr id="14" name="TextBox 13"/>
          <p:cNvSpPr txBox="1"/>
          <p:nvPr/>
        </p:nvSpPr>
        <p:spPr>
          <a:xfrm>
            <a:off x="4681727" y="1673352"/>
            <a:ext cx="3090672" cy="4572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Week 1 notebook</a:t>
            </a:r>
          </a:p>
        </p:txBody>
      </p:sp>
      <p:sp>
        <p:nvSpPr>
          <p:cNvPr id="15" name="Rounded Rectangle 14"/>
          <p:cNvSpPr/>
          <p:nvPr/>
        </p:nvSpPr>
        <p:spPr>
          <a:xfrm>
            <a:off x="8302752" y="1234440"/>
            <a:ext cx="3401568" cy="9601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302752" y="1234440"/>
            <a:ext cx="73152" cy="96012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3920" y="1344168"/>
            <a:ext cx="3081528"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03  Data structures</a:t>
            </a:r>
          </a:p>
        </p:txBody>
      </p:sp>
      <p:sp>
        <p:nvSpPr>
          <p:cNvPr id="18" name="TextBox 17"/>
          <p:cNvSpPr txBox="1"/>
          <p:nvPr/>
        </p:nvSpPr>
        <p:spPr>
          <a:xfrm>
            <a:off x="8503920" y="1673352"/>
            <a:ext cx="3090672" cy="4572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Week 1 notebook</a:t>
            </a:r>
          </a:p>
        </p:txBody>
      </p:sp>
      <p:sp>
        <p:nvSpPr>
          <p:cNvPr id="19" name="Rounded Rectangle 18"/>
          <p:cNvSpPr/>
          <p:nvPr/>
        </p:nvSpPr>
        <p:spPr>
          <a:xfrm>
            <a:off x="658368" y="2651760"/>
            <a:ext cx="3401568" cy="9601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58368" y="2651760"/>
            <a:ext cx="73152" cy="960120"/>
          </a:xfrm>
          <a:prstGeom prst="rect">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 y="2761488"/>
            <a:ext cx="3081528" cy="274320"/>
          </a:xfrm>
          <a:prstGeom prst="rect">
            <a:avLst/>
          </a:prstGeom>
          <a:noFill/>
        </p:spPr>
        <p:txBody>
          <a:bodyPr wrap="square" lIns="54864" tIns="54864" rIns="54864" bIns="54864">
            <a:normAutofit fontScale="85000" lnSpcReduction="20000"/>
          </a:bodyPr>
          <a:lstStyle/>
          <a:p>
            <a:r>
              <a:rPr sz="1550" b="1">
                <a:solidFill>
                  <a:srgbClr val="B5494E"/>
                </a:solidFill>
                <a:latin typeface="Arial"/>
              </a:rPr>
              <a:t>04  Strings</a:t>
            </a:r>
          </a:p>
        </p:txBody>
      </p:sp>
      <p:sp>
        <p:nvSpPr>
          <p:cNvPr id="22" name="TextBox 21"/>
          <p:cNvSpPr txBox="1"/>
          <p:nvPr/>
        </p:nvSpPr>
        <p:spPr>
          <a:xfrm>
            <a:off x="859536" y="3090672"/>
            <a:ext cx="3090672" cy="4572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Week 1 notebook</a:t>
            </a:r>
          </a:p>
        </p:txBody>
      </p:sp>
      <p:sp>
        <p:nvSpPr>
          <p:cNvPr id="23" name="Rounded Rectangle 22"/>
          <p:cNvSpPr/>
          <p:nvPr/>
        </p:nvSpPr>
        <p:spPr>
          <a:xfrm>
            <a:off x="4480559" y="2651760"/>
            <a:ext cx="3401568" cy="9601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480559" y="2651760"/>
            <a:ext cx="73152" cy="960120"/>
          </a:xfrm>
          <a:prstGeom prst="rect">
            <a:avLst/>
          </a:prstGeom>
          <a:solidFill>
            <a:srgbClr val="209A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81727" y="2761488"/>
            <a:ext cx="3081528" cy="274320"/>
          </a:xfrm>
          <a:prstGeom prst="rect">
            <a:avLst/>
          </a:prstGeom>
          <a:noFill/>
        </p:spPr>
        <p:txBody>
          <a:bodyPr wrap="square" lIns="54864" tIns="54864" rIns="54864" bIns="54864">
            <a:normAutofit fontScale="85000" lnSpcReduction="20000"/>
          </a:bodyPr>
          <a:lstStyle/>
          <a:p>
            <a:r>
              <a:rPr sz="1550" b="1">
                <a:solidFill>
                  <a:srgbClr val="209AB2"/>
                </a:solidFill>
                <a:latin typeface="Arial"/>
              </a:rPr>
              <a:t>05  Loops</a:t>
            </a:r>
          </a:p>
        </p:txBody>
      </p:sp>
      <p:sp>
        <p:nvSpPr>
          <p:cNvPr id="26" name="TextBox 25"/>
          <p:cNvSpPr txBox="1"/>
          <p:nvPr/>
        </p:nvSpPr>
        <p:spPr>
          <a:xfrm>
            <a:off x="4681727" y="3090672"/>
            <a:ext cx="3090672" cy="4572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Week 1 notebook</a:t>
            </a:r>
          </a:p>
        </p:txBody>
      </p:sp>
      <p:sp>
        <p:nvSpPr>
          <p:cNvPr id="27" name="Rounded Rectangle 26"/>
          <p:cNvSpPr/>
          <p:nvPr/>
        </p:nvSpPr>
        <p:spPr>
          <a:xfrm>
            <a:off x="8302752" y="2651760"/>
            <a:ext cx="3401568" cy="9601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302752" y="2651760"/>
            <a:ext cx="73152" cy="960120"/>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503920" y="2761488"/>
            <a:ext cx="3081528" cy="274320"/>
          </a:xfrm>
          <a:prstGeom prst="rect">
            <a:avLst/>
          </a:prstGeom>
          <a:noFill/>
        </p:spPr>
        <p:txBody>
          <a:bodyPr wrap="square" lIns="54864" tIns="54864" rIns="54864" bIns="54864">
            <a:normAutofit fontScale="85000" lnSpcReduction="20000"/>
          </a:bodyPr>
          <a:lstStyle/>
          <a:p>
            <a:r>
              <a:rPr sz="1550" b="1">
                <a:solidFill>
                  <a:srgbClr val="102238"/>
                </a:solidFill>
                <a:latin typeface="Arial"/>
              </a:rPr>
              <a:t>06  Functions</a:t>
            </a:r>
          </a:p>
        </p:txBody>
      </p:sp>
      <p:sp>
        <p:nvSpPr>
          <p:cNvPr id="30" name="TextBox 29"/>
          <p:cNvSpPr txBox="1"/>
          <p:nvPr/>
        </p:nvSpPr>
        <p:spPr>
          <a:xfrm>
            <a:off x="8503920" y="3090672"/>
            <a:ext cx="3090672" cy="4572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Week 1 notebook</a:t>
            </a:r>
          </a:p>
        </p:txBody>
      </p:sp>
      <p:sp>
        <p:nvSpPr>
          <p:cNvPr id="31" name="Rounded Rectangle 30"/>
          <p:cNvSpPr/>
          <p:nvPr/>
        </p:nvSpPr>
        <p:spPr>
          <a:xfrm>
            <a:off x="658368" y="4069080"/>
            <a:ext cx="3401568" cy="9601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58368" y="4069080"/>
            <a:ext cx="73152" cy="960120"/>
          </a:xfrm>
          <a:prstGeom prst="rect">
            <a:avLst/>
          </a:prstGeom>
          <a:solidFill>
            <a:srgbClr val="D9A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59536" y="4178808"/>
            <a:ext cx="3081528" cy="274320"/>
          </a:xfrm>
          <a:prstGeom prst="rect">
            <a:avLst/>
          </a:prstGeom>
          <a:noFill/>
        </p:spPr>
        <p:txBody>
          <a:bodyPr wrap="square" lIns="54864" tIns="54864" rIns="54864" bIns="54864">
            <a:normAutofit fontScale="85000" lnSpcReduction="20000"/>
          </a:bodyPr>
          <a:lstStyle/>
          <a:p>
            <a:r>
              <a:rPr sz="1550" b="1">
                <a:solidFill>
                  <a:srgbClr val="D9A941"/>
                </a:solidFill>
                <a:latin typeface="Arial"/>
              </a:rPr>
              <a:t>07  Classes</a:t>
            </a:r>
          </a:p>
        </p:txBody>
      </p:sp>
      <p:sp>
        <p:nvSpPr>
          <p:cNvPr id="34" name="TextBox 33"/>
          <p:cNvSpPr txBox="1"/>
          <p:nvPr/>
        </p:nvSpPr>
        <p:spPr>
          <a:xfrm>
            <a:off x="859536" y="4507992"/>
            <a:ext cx="3090672" cy="4572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Week 1 notebook</a:t>
            </a:r>
          </a:p>
        </p:txBody>
      </p:sp>
      <p:sp>
        <p:nvSpPr>
          <p:cNvPr id="35" name="Rounded Rectangle 34"/>
          <p:cNvSpPr/>
          <p:nvPr/>
        </p:nvSpPr>
        <p:spPr>
          <a:xfrm>
            <a:off x="4480559" y="4069080"/>
            <a:ext cx="3401568" cy="9601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480559" y="4069080"/>
            <a:ext cx="73152" cy="96012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81727" y="4178808"/>
            <a:ext cx="3081528"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08  Files</a:t>
            </a:r>
          </a:p>
        </p:txBody>
      </p:sp>
      <p:sp>
        <p:nvSpPr>
          <p:cNvPr id="38" name="TextBox 37"/>
          <p:cNvSpPr txBox="1"/>
          <p:nvPr/>
        </p:nvSpPr>
        <p:spPr>
          <a:xfrm>
            <a:off x="4681727" y="4507992"/>
            <a:ext cx="3090672" cy="4572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Week 1 notebook</a:t>
            </a:r>
          </a:p>
        </p:txBody>
      </p:sp>
      <p:sp>
        <p:nvSpPr>
          <p:cNvPr id="39" name="Rounded Rectangle 38"/>
          <p:cNvSpPr/>
          <p:nvPr/>
        </p:nvSpPr>
        <p:spPr>
          <a:xfrm>
            <a:off x="8302752" y="4069080"/>
            <a:ext cx="3401568" cy="9601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302752" y="4069080"/>
            <a:ext cx="73152" cy="96012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503920" y="4178808"/>
            <a:ext cx="3081528"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09  Modules</a:t>
            </a:r>
          </a:p>
        </p:txBody>
      </p:sp>
      <p:sp>
        <p:nvSpPr>
          <p:cNvPr id="42" name="TextBox 41"/>
          <p:cNvSpPr txBox="1"/>
          <p:nvPr/>
        </p:nvSpPr>
        <p:spPr>
          <a:xfrm>
            <a:off x="8503920" y="4507992"/>
            <a:ext cx="3090672" cy="4572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Week 1 notebook</a:t>
            </a:r>
          </a:p>
        </p:txBody>
      </p:sp>
      <p:sp>
        <p:nvSpPr>
          <p:cNvPr id="43" name="TextBox 42"/>
          <p:cNvSpPr txBox="1"/>
          <p:nvPr/>
        </p:nvSpPr>
        <p:spPr>
          <a:xfrm>
            <a:off x="822960" y="5806440"/>
            <a:ext cx="10515600" cy="365760"/>
          </a:xfrm>
          <a:prstGeom prst="rect">
            <a:avLst/>
          </a:prstGeom>
          <a:noFill/>
        </p:spPr>
        <p:txBody>
          <a:bodyPr wrap="square" lIns="54864" tIns="54864" rIns="54864" bIns="54864">
            <a:normAutofit fontScale="92500" lnSpcReduction="20000"/>
          </a:bodyPr>
          <a:lstStyle/>
          <a:p>
            <a:pPr algn="ctr"/>
            <a:r>
              <a:rPr sz="2000" b="1">
                <a:solidFill>
                  <a:srgbClr val="102238"/>
                </a:solidFill>
                <a:latin typeface="Arial"/>
              </a:rPr>
              <a:t>In the Jupyter hour, we will run these ideas rather than only define them.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29184"/>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Variables: names for values</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19</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err="1">
                <a:solidFill>
                  <a:srgbClr val="EBF0F6"/>
                </a:solidFill>
                <a:latin typeface="Menlo"/>
              </a:rPr>
              <a:t>star_name</a:t>
            </a:r>
            <a:r>
              <a:rPr sz="1600" dirty="0">
                <a:solidFill>
                  <a:srgbClr val="EBF0F6"/>
                </a:solidFill>
                <a:latin typeface="Menlo"/>
              </a:rPr>
              <a:t> = 'Sirius A'</a:t>
            </a:r>
          </a:p>
          <a:p>
            <a:pPr>
              <a:spcAft>
                <a:spcPts val="0"/>
              </a:spcAft>
            </a:pPr>
            <a:r>
              <a:rPr sz="1600" dirty="0">
                <a:solidFill>
                  <a:srgbClr val="EBF0F6"/>
                </a:solidFill>
                <a:latin typeface="Menlo"/>
              </a:rPr>
              <a:t>magnitude = -1.46</a:t>
            </a:r>
          </a:p>
          <a:p>
            <a:pPr>
              <a:spcAft>
                <a:spcPts val="0"/>
              </a:spcAft>
            </a:pPr>
            <a:r>
              <a:rPr sz="1600" dirty="0" err="1">
                <a:solidFill>
                  <a:srgbClr val="EBF0F6"/>
                </a:solidFill>
                <a:latin typeface="Menlo"/>
              </a:rPr>
              <a:t>spectral_type</a:t>
            </a:r>
            <a:r>
              <a:rPr sz="1600" dirty="0">
                <a:solidFill>
                  <a:srgbClr val="EBF0F6"/>
                </a:solidFill>
                <a:latin typeface="Menlo"/>
              </a:rPr>
              <a:t> = 'A1V'</a:t>
            </a: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Variables let us reuse values and make code readable.</a:t>
            </a:r>
          </a:p>
          <a:p>
            <a:pPr>
              <a:spcAft>
                <a:spcPts val="200"/>
              </a:spcAft>
            </a:pPr>
            <a:r>
              <a:rPr sz="1380" b="0">
                <a:solidFill>
                  <a:srgbClr val="191E26"/>
                </a:solidFill>
                <a:latin typeface="Arial"/>
              </a:rPr>
              <a:t>In astronomy, variable names should remind us of physical meaning.</a:t>
            </a:r>
          </a:p>
        </p:txBody>
      </p:sp>
      <p:sp>
        <p:nvSpPr>
          <p:cNvPr id="12" name="Rounded Rectangle 11"/>
          <p:cNvSpPr/>
          <p:nvPr/>
        </p:nvSpPr>
        <p:spPr>
          <a:xfrm>
            <a:off x="6400800" y="2779776"/>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779776"/>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2889504"/>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218688"/>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1637307" y="6464808"/>
            <a:ext cx="10378440" cy="411480"/>
          </a:xfrm>
          <a:prstGeom prst="rect">
            <a:avLst/>
          </a:prstGeom>
          <a:noFill/>
        </p:spPr>
        <p:txBody>
          <a:bodyPr wrap="square" lIns="54864" tIns="54864" rIns="54864" bIns="54864">
            <a:normAutofit lnSpcReduction="10000"/>
          </a:bodyPr>
          <a:lstStyle/>
          <a:p>
            <a:pPr algn="ctr"/>
            <a:r>
              <a:rPr sz="2000" b="1" dirty="0">
                <a:solidFill>
                  <a:srgbClr val="102238"/>
                </a:solidFill>
                <a:latin typeface="Arial"/>
              </a:rPr>
              <a:t>Syntax matters, but the deeper goal is to make the analysis explicit and repeatable.</a:t>
            </a:r>
          </a:p>
        </p:txBody>
      </p:sp>
      <p:sp>
        <p:nvSpPr>
          <p:cNvPr id="17" name="TextBox 16">
            <a:extLst>
              <a:ext uri="{FF2B5EF4-FFF2-40B4-BE49-F238E27FC236}">
                <a16:creationId xmlns:a16="http://schemas.microsoft.com/office/drawing/2014/main" id="{1E244872-61B3-2887-57A4-0B9BBD691A87}"/>
              </a:ext>
            </a:extLst>
          </p:cNvPr>
          <p:cNvSpPr txBox="1"/>
          <p:nvPr/>
        </p:nvSpPr>
        <p:spPr>
          <a:xfrm>
            <a:off x="713232" y="4351187"/>
            <a:ext cx="5382768" cy="2031325"/>
          </a:xfrm>
          <a:prstGeom prst="rect">
            <a:avLst/>
          </a:prstGeom>
          <a:noFill/>
        </p:spPr>
        <p:txBody>
          <a:bodyPr wrap="square" rtlCol="0">
            <a:spAutoFit/>
          </a:bodyPr>
          <a:lstStyle/>
          <a:p>
            <a:r>
              <a:rPr lang="en-US" b="1" dirty="0"/>
              <a:t>Basic Syntax Rules</a:t>
            </a:r>
          </a:p>
          <a:p>
            <a:r>
              <a:rPr lang="en-US" dirty="0"/>
              <a:t>Must start with a </a:t>
            </a:r>
            <a:r>
              <a:rPr lang="en-US" b="1" dirty="0"/>
              <a:t>letter (a–z, A–Z)</a:t>
            </a:r>
            <a:r>
              <a:rPr lang="en-US" dirty="0"/>
              <a:t> or </a:t>
            </a:r>
            <a:r>
              <a:rPr lang="en-US" b="1" dirty="0"/>
              <a:t>underscore (_)</a:t>
            </a:r>
            <a:r>
              <a:rPr lang="en-US" dirty="0"/>
              <a:t> </a:t>
            </a:r>
          </a:p>
          <a:p>
            <a:r>
              <a:rPr lang="en-US" dirty="0"/>
              <a:t>Cannot start with a </a:t>
            </a:r>
            <a:r>
              <a:rPr lang="en-US" b="1" dirty="0"/>
              <a:t>digit (0–9)</a:t>
            </a:r>
            <a:r>
              <a:rPr lang="en-US" dirty="0"/>
              <a:t> </a:t>
            </a:r>
          </a:p>
          <a:p>
            <a:r>
              <a:rPr lang="en-US" dirty="0"/>
              <a:t>Can contain </a:t>
            </a:r>
            <a:r>
              <a:rPr lang="en-US" b="1" dirty="0"/>
              <a:t>letters, digits, and underscores only</a:t>
            </a:r>
            <a:r>
              <a:rPr lang="en-US" dirty="0"/>
              <a:t> </a:t>
            </a:r>
          </a:p>
          <a:p>
            <a:r>
              <a:rPr lang="en-US" dirty="0"/>
              <a:t>Case-sensitive (value, Value, and VALUE are different) </a:t>
            </a:r>
          </a:p>
          <a:p>
            <a:r>
              <a:rPr lang="en-US" dirty="0"/>
              <a:t>Cannot use </a:t>
            </a:r>
            <a:r>
              <a:rPr lang="en-US" b="1" dirty="0"/>
              <a:t>Python keywords</a:t>
            </a:r>
            <a:r>
              <a:rPr lang="en-US" dirty="0"/>
              <a:t> (e.g., if, for, class)</a:t>
            </a:r>
          </a:p>
          <a:p>
            <a:endParaRPr lang="en-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Data types: what kind of value is this?</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20</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a:solidFill>
                  <a:srgbClr val="EBF0F6"/>
                </a:solidFill>
                <a:latin typeface="Menlo"/>
              </a:rPr>
              <a:t>magnitude = -1.46      # float</a:t>
            </a:r>
          </a:p>
          <a:p>
            <a:pPr>
              <a:spcAft>
                <a:spcPts val="0"/>
              </a:spcAft>
            </a:pPr>
            <a:r>
              <a:rPr sz="1600" dirty="0" err="1">
                <a:solidFill>
                  <a:srgbClr val="EBF0F6"/>
                </a:solidFill>
                <a:latin typeface="Menlo"/>
              </a:rPr>
              <a:t>star_name</a:t>
            </a:r>
            <a:r>
              <a:rPr sz="1600" dirty="0">
                <a:solidFill>
                  <a:srgbClr val="EBF0F6"/>
                </a:solidFill>
                <a:latin typeface="Menlo"/>
              </a:rPr>
              <a:t> = 'Sirius A' # string</a:t>
            </a:r>
          </a:p>
          <a:p>
            <a:pPr>
              <a:spcAft>
                <a:spcPts val="0"/>
              </a:spcAft>
            </a:pPr>
            <a:r>
              <a:rPr sz="1600" dirty="0" err="1">
                <a:solidFill>
                  <a:srgbClr val="EBF0F6"/>
                </a:solidFill>
                <a:latin typeface="Menlo"/>
              </a:rPr>
              <a:t>is_bright</a:t>
            </a:r>
            <a:r>
              <a:rPr sz="1600" dirty="0">
                <a:solidFill>
                  <a:srgbClr val="EBF0F6"/>
                </a:solidFill>
                <a:latin typeface="Menlo"/>
              </a:rPr>
              <a:t> = True       # </a:t>
            </a:r>
            <a:r>
              <a:rPr sz="1600" dirty="0" err="1">
                <a:solidFill>
                  <a:srgbClr val="EBF0F6"/>
                </a:solidFill>
                <a:latin typeface="Menlo"/>
              </a:rPr>
              <a:t>boolean</a:t>
            </a:r>
            <a:endParaRPr sz="1600" dirty="0">
              <a:solidFill>
                <a:srgbClr val="EBF0F6"/>
              </a:solidFill>
              <a:latin typeface="Menlo"/>
            </a:endParaRP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Different types support different operations.</a:t>
            </a:r>
          </a:p>
          <a:p>
            <a:pPr>
              <a:spcAft>
                <a:spcPts val="200"/>
              </a:spcAft>
            </a:pPr>
            <a:r>
              <a:rPr sz="1380" b="0">
                <a:solidFill>
                  <a:srgbClr val="191E26"/>
                </a:solidFill>
                <a:latin typeface="Arial"/>
              </a:rPr>
              <a:t>You can average magnitudes, but not object names.</a:t>
            </a:r>
          </a:p>
        </p:txBody>
      </p:sp>
      <p:sp>
        <p:nvSpPr>
          <p:cNvPr id="12" name="Rounded Rectangle 11"/>
          <p:cNvSpPr/>
          <p:nvPr/>
        </p:nvSpPr>
        <p:spPr>
          <a:xfrm>
            <a:off x="6400800" y="297180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97180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08152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410712"/>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1051560" y="6053328"/>
            <a:ext cx="10378440" cy="411480"/>
          </a:xfrm>
          <a:prstGeom prst="rect">
            <a:avLst/>
          </a:prstGeom>
          <a:noFill/>
        </p:spPr>
        <p:txBody>
          <a:bodyPr wrap="square" lIns="54864" tIns="54864" rIns="54864" bIns="54864">
            <a:normAutofit lnSpcReduction="10000"/>
          </a:bodyPr>
          <a:lstStyle/>
          <a:p>
            <a:pPr algn="ctr"/>
            <a:r>
              <a:rPr sz="2000" b="1" dirty="0">
                <a:solidFill>
                  <a:srgbClr val="102238"/>
                </a:solidFill>
                <a:latin typeface="Arial"/>
              </a:rPr>
              <a:t>Syntax matters, but the deeper goal is to make the analysis explicit and repeatable.</a:t>
            </a:r>
          </a:p>
        </p:txBody>
      </p:sp>
      <p:sp>
        <p:nvSpPr>
          <p:cNvPr id="17" name="TextBox 16">
            <a:extLst>
              <a:ext uri="{FF2B5EF4-FFF2-40B4-BE49-F238E27FC236}">
                <a16:creationId xmlns:a16="http://schemas.microsoft.com/office/drawing/2014/main" id="{35980FC7-D5CF-164B-5FC2-132E1325B48D}"/>
              </a:ext>
            </a:extLst>
          </p:cNvPr>
          <p:cNvSpPr txBox="1"/>
          <p:nvPr/>
        </p:nvSpPr>
        <p:spPr>
          <a:xfrm>
            <a:off x="713232" y="4288536"/>
            <a:ext cx="5983403" cy="1754326"/>
          </a:xfrm>
          <a:prstGeom prst="rect">
            <a:avLst/>
          </a:prstGeom>
          <a:noFill/>
        </p:spPr>
        <p:txBody>
          <a:bodyPr wrap="square" rtlCol="0">
            <a:spAutoFit/>
          </a:bodyPr>
          <a:lstStyle/>
          <a:p>
            <a:r>
              <a:rPr lang="en-US" b="1" dirty="0"/>
              <a:t>Basic (Built-in) Data Types</a:t>
            </a:r>
          </a:p>
          <a:p>
            <a:r>
              <a:rPr lang="en-US" b="1" dirty="0"/>
              <a:t>int</a:t>
            </a:r>
            <a:r>
              <a:rPr lang="en-US" dirty="0"/>
              <a:t> – Integer numbers (e.g., 1, -10, 100) </a:t>
            </a:r>
          </a:p>
          <a:p>
            <a:r>
              <a:rPr lang="en-US" b="1" dirty="0"/>
              <a:t>float</a:t>
            </a:r>
            <a:r>
              <a:rPr lang="en-US" dirty="0"/>
              <a:t> – Floating-point numbers (e.g., 3.14, -0.001) </a:t>
            </a:r>
          </a:p>
          <a:p>
            <a:r>
              <a:rPr lang="en-US" b="1" dirty="0"/>
              <a:t>complex</a:t>
            </a:r>
            <a:r>
              <a:rPr lang="en-US" dirty="0"/>
              <a:t> – Complex numbers (e.g., 2 + 3j) </a:t>
            </a:r>
          </a:p>
          <a:p>
            <a:r>
              <a:rPr lang="en-US" b="1" dirty="0"/>
              <a:t>bool</a:t>
            </a:r>
            <a:r>
              <a:rPr lang="en-US" dirty="0"/>
              <a:t> – Boolean values (True, False)</a:t>
            </a:r>
          </a:p>
          <a:p>
            <a:endParaRPr lang="en-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6576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Data structures: organizing many objects</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21</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a:solidFill>
                  <a:srgbClr val="EBF0F6"/>
                </a:solidFill>
                <a:latin typeface="Menlo"/>
              </a:rPr>
              <a:t>stars = ['Sirius A', 'Alpha Cen A']</a:t>
            </a:r>
          </a:p>
          <a:p>
            <a:pPr>
              <a:spcAft>
                <a:spcPts val="0"/>
              </a:spcAft>
            </a:pPr>
            <a:r>
              <a:rPr sz="1600" dirty="0">
                <a:solidFill>
                  <a:srgbClr val="EBF0F6"/>
                </a:solidFill>
                <a:latin typeface="Menlo"/>
              </a:rPr>
              <a:t>position = (</a:t>
            </a:r>
            <a:r>
              <a:rPr sz="1600" dirty="0" err="1">
                <a:solidFill>
                  <a:srgbClr val="EBF0F6"/>
                </a:solidFill>
                <a:latin typeface="Menlo"/>
              </a:rPr>
              <a:t>ra</a:t>
            </a:r>
            <a:r>
              <a:rPr sz="1600" dirty="0">
                <a:solidFill>
                  <a:srgbClr val="EBF0F6"/>
                </a:solidFill>
                <a:latin typeface="Menlo"/>
              </a:rPr>
              <a:t>, dec)</a:t>
            </a:r>
          </a:p>
          <a:p>
            <a:pPr>
              <a:spcAft>
                <a:spcPts val="0"/>
              </a:spcAft>
            </a:pPr>
            <a:r>
              <a:rPr sz="1600" dirty="0">
                <a:solidFill>
                  <a:srgbClr val="EBF0F6"/>
                </a:solidFill>
                <a:latin typeface="Menlo"/>
              </a:rPr>
              <a:t>star = {'name': 'Sirius A', 'mag': -1.46}</a:t>
            </a: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Lists, tuples, sets, and dictionaries organize collections.</a:t>
            </a:r>
          </a:p>
          <a:p>
            <a:pPr>
              <a:spcAft>
                <a:spcPts val="200"/>
              </a:spcAft>
            </a:pPr>
            <a:r>
              <a:rPr sz="1380" b="0">
                <a:solidFill>
                  <a:srgbClr val="191E26"/>
                </a:solidFill>
                <a:latin typeface="Arial"/>
              </a:rPr>
              <a:t>Catalog rows often behave like dictionaries: named quantities for one object.</a:t>
            </a:r>
          </a:p>
        </p:txBody>
      </p:sp>
      <p:sp>
        <p:nvSpPr>
          <p:cNvPr id="12" name="Rounded Rectangle 11"/>
          <p:cNvSpPr/>
          <p:nvPr/>
        </p:nvSpPr>
        <p:spPr>
          <a:xfrm>
            <a:off x="6400800" y="297180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97180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08152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410712"/>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1662056" y="6217920"/>
            <a:ext cx="10378440" cy="411480"/>
          </a:xfrm>
          <a:prstGeom prst="rect">
            <a:avLst/>
          </a:prstGeom>
          <a:noFill/>
        </p:spPr>
        <p:txBody>
          <a:bodyPr wrap="square" lIns="54864" tIns="54864" rIns="54864" bIns="54864">
            <a:normAutofit lnSpcReduction="10000"/>
          </a:bodyPr>
          <a:lstStyle/>
          <a:p>
            <a:pPr algn="ctr"/>
            <a:r>
              <a:rPr sz="2000" b="1" dirty="0">
                <a:solidFill>
                  <a:srgbClr val="102238"/>
                </a:solidFill>
                <a:latin typeface="Arial"/>
              </a:rPr>
              <a:t>Syntax matters, but the deeper goal is to make the analysis explicit and repeatable.</a:t>
            </a:r>
          </a:p>
        </p:txBody>
      </p:sp>
      <p:sp>
        <p:nvSpPr>
          <p:cNvPr id="17" name="TextBox 16">
            <a:extLst>
              <a:ext uri="{FF2B5EF4-FFF2-40B4-BE49-F238E27FC236}">
                <a16:creationId xmlns:a16="http://schemas.microsoft.com/office/drawing/2014/main" id="{B9B3DB5D-8AD8-829D-D60C-6A8DAF79621E}"/>
              </a:ext>
            </a:extLst>
          </p:cNvPr>
          <p:cNvSpPr txBox="1"/>
          <p:nvPr/>
        </p:nvSpPr>
        <p:spPr>
          <a:xfrm>
            <a:off x="713232" y="4288536"/>
            <a:ext cx="5983403" cy="1754326"/>
          </a:xfrm>
          <a:prstGeom prst="rect">
            <a:avLst/>
          </a:prstGeom>
          <a:noFill/>
        </p:spPr>
        <p:txBody>
          <a:bodyPr wrap="square" rtlCol="0">
            <a:spAutoFit/>
          </a:bodyPr>
          <a:lstStyle/>
          <a:p>
            <a:r>
              <a:rPr lang="en-US" b="1" dirty="0"/>
              <a:t>Data St</a:t>
            </a:r>
            <a:r>
              <a:rPr lang="en-US" altLang="zh-CN" b="1" dirty="0"/>
              <a:t>ructures</a:t>
            </a:r>
          </a:p>
          <a:p>
            <a:endParaRPr lang="en-US" b="1" dirty="0"/>
          </a:p>
          <a:p>
            <a:r>
              <a:rPr lang="en-US" b="1" dirty="0"/>
              <a:t>list</a:t>
            </a:r>
            <a:r>
              <a:rPr lang="en-US" dirty="0"/>
              <a:t> – Ordered, mutable collection, e.g., [1, 2, 3]</a:t>
            </a:r>
          </a:p>
          <a:p>
            <a:r>
              <a:rPr lang="en-US" b="1" dirty="0"/>
              <a:t>tuple</a:t>
            </a:r>
            <a:r>
              <a:rPr lang="en-US" dirty="0"/>
              <a:t> – Ordered, immutable collection, e.g., (1, 2, 3)</a:t>
            </a:r>
          </a:p>
          <a:p>
            <a:r>
              <a:rPr lang="en-US" b="1" dirty="0" err="1"/>
              <a:t>dict</a:t>
            </a:r>
            <a:r>
              <a:rPr lang="en-US" dirty="0"/>
              <a:t> – Key-value pairs, e.g., {"a": 1, "b": 2}</a:t>
            </a:r>
          </a:p>
          <a:p>
            <a:r>
              <a:rPr lang="en-US" b="1" dirty="0"/>
              <a:t>set</a:t>
            </a:r>
            <a:r>
              <a:rPr lang="en-US" dirty="0"/>
              <a:t> – Unordered collection of unique elements, e.g., {1, 2, 3}</a:t>
            </a:r>
            <a:endParaRPr lang="en-C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Strings: astronomy has many names</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22</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a:solidFill>
                  <a:srgbClr val="EBF0F6"/>
                </a:solidFill>
                <a:latin typeface="Menlo"/>
              </a:rPr>
              <a:t>planet = 'TRAPPIST-1e'</a:t>
            </a:r>
          </a:p>
          <a:p>
            <a:pPr>
              <a:spcAft>
                <a:spcPts val="0"/>
              </a:spcAft>
            </a:pPr>
            <a:r>
              <a:rPr sz="1600" dirty="0">
                <a:solidFill>
                  <a:srgbClr val="EBF0F6"/>
                </a:solidFill>
                <a:latin typeface="Menlo"/>
              </a:rPr>
              <a:t>filename = planet + '_</a:t>
            </a:r>
            <a:r>
              <a:rPr sz="1600" dirty="0" err="1">
                <a:solidFill>
                  <a:srgbClr val="EBF0F6"/>
                </a:solidFill>
                <a:latin typeface="Menlo"/>
              </a:rPr>
              <a:t>lightcurve.csv</a:t>
            </a:r>
            <a:r>
              <a:rPr sz="1600" dirty="0">
                <a:solidFill>
                  <a:srgbClr val="EBF0F6"/>
                </a:solidFill>
                <a:latin typeface="Menlo"/>
              </a:rPr>
              <a:t>'</a:t>
            </a:r>
          </a:p>
          <a:p>
            <a:pPr>
              <a:spcAft>
                <a:spcPts val="0"/>
              </a:spcAft>
            </a:pPr>
            <a:r>
              <a:rPr sz="1600" dirty="0">
                <a:solidFill>
                  <a:srgbClr val="EBF0F6"/>
                </a:solidFill>
                <a:latin typeface="Menlo"/>
              </a:rPr>
              <a:t>print(</a:t>
            </a:r>
            <a:r>
              <a:rPr sz="1600" dirty="0" err="1">
                <a:solidFill>
                  <a:srgbClr val="EBF0F6"/>
                </a:solidFill>
                <a:latin typeface="Menlo"/>
              </a:rPr>
              <a:t>planet.lower</a:t>
            </a:r>
            <a:r>
              <a:rPr sz="1600" dirty="0">
                <a:solidFill>
                  <a:srgbClr val="EBF0F6"/>
                </a:solidFill>
                <a:latin typeface="Menlo"/>
              </a:rPr>
              <a:t>())</a:t>
            </a: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B5494E"/>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Strings handle object names, file names, filters, column labels, and logs.</a:t>
            </a:r>
          </a:p>
          <a:p>
            <a:pPr>
              <a:spcAft>
                <a:spcPts val="200"/>
              </a:spcAft>
            </a:pPr>
            <a:r>
              <a:rPr sz="1380" b="0">
                <a:solidFill>
                  <a:srgbClr val="191E26"/>
                </a:solidFill>
                <a:latin typeface="Arial"/>
              </a:rPr>
              <a:t>Many practical bugs are string and filename bugs.</a:t>
            </a:r>
          </a:p>
        </p:txBody>
      </p:sp>
      <p:sp>
        <p:nvSpPr>
          <p:cNvPr id="12" name="Rounded Rectangle 11"/>
          <p:cNvSpPr/>
          <p:nvPr/>
        </p:nvSpPr>
        <p:spPr>
          <a:xfrm>
            <a:off x="6400800" y="297180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97180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08152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410712"/>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868680" y="5074920"/>
            <a:ext cx="10378440" cy="411480"/>
          </a:xfrm>
          <a:prstGeom prst="rect">
            <a:avLst/>
          </a:prstGeom>
          <a:noFill/>
        </p:spPr>
        <p:txBody>
          <a:bodyPr wrap="square" lIns="54864" tIns="54864" rIns="54864" bIns="54864">
            <a:normAutofit lnSpcReduction="10000"/>
          </a:bodyPr>
          <a:lstStyle/>
          <a:p>
            <a:pPr algn="ctr"/>
            <a:r>
              <a:rPr sz="2000" b="1">
                <a:solidFill>
                  <a:srgbClr val="102238"/>
                </a:solidFill>
                <a:latin typeface="Arial"/>
              </a:rPr>
              <a:t>Syntax matters, but the deeper goal is to make the analysis explicit and repeatable.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Loops: repeat without copying</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23</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a:solidFill>
                  <a:srgbClr val="EBF0F6"/>
                </a:solidFill>
                <a:latin typeface="Menlo"/>
              </a:rPr>
              <a:t>for planet in planets:</a:t>
            </a:r>
          </a:p>
          <a:p>
            <a:pPr>
              <a:spcAft>
                <a:spcPts val="0"/>
              </a:spcAft>
            </a:pPr>
            <a:r>
              <a:rPr sz="1600" dirty="0">
                <a:solidFill>
                  <a:srgbClr val="EBF0F6"/>
                </a:solidFill>
                <a:latin typeface="Menlo"/>
              </a:rPr>
              <a:t>    print(</a:t>
            </a:r>
            <a:r>
              <a:rPr sz="1600" dirty="0" err="1">
                <a:solidFill>
                  <a:srgbClr val="EBF0F6"/>
                </a:solidFill>
                <a:latin typeface="Menlo"/>
              </a:rPr>
              <a:t>planet.upper</a:t>
            </a:r>
            <a:r>
              <a:rPr sz="1600" dirty="0">
                <a:solidFill>
                  <a:srgbClr val="EBF0F6"/>
                </a:solidFill>
                <a:latin typeface="Menlo"/>
              </a:rPr>
              <a:t>())</a:t>
            </a: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209A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209AB2"/>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fontScale="92500"/>
          </a:bodyPr>
          <a:lstStyle/>
          <a:p>
            <a:pPr>
              <a:spcAft>
                <a:spcPts val="200"/>
              </a:spcAft>
            </a:pPr>
            <a:r>
              <a:rPr sz="1380" b="0">
                <a:solidFill>
                  <a:srgbClr val="191E26"/>
                </a:solidFill>
                <a:latin typeface="Arial"/>
              </a:rPr>
              <a:t>A loop is the difference between one object and a catalog.</a:t>
            </a:r>
          </a:p>
          <a:p>
            <a:pPr>
              <a:spcAft>
                <a:spcPts val="200"/>
              </a:spcAft>
            </a:pPr>
            <a:r>
              <a:rPr sz="1380" b="0">
                <a:solidFill>
                  <a:srgbClr val="191E26"/>
                </a:solidFill>
                <a:latin typeface="Arial"/>
              </a:rPr>
              <a:t>Loops also multiply mistakes, so inspect small examples first.</a:t>
            </a:r>
          </a:p>
        </p:txBody>
      </p:sp>
      <p:sp>
        <p:nvSpPr>
          <p:cNvPr id="12" name="Rounded Rectangle 11"/>
          <p:cNvSpPr/>
          <p:nvPr/>
        </p:nvSpPr>
        <p:spPr>
          <a:xfrm>
            <a:off x="6400800" y="297180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97180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08152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410712"/>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868680" y="5074920"/>
            <a:ext cx="10378440" cy="411480"/>
          </a:xfrm>
          <a:prstGeom prst="rect">
            <a:avLst/>
          </a:prstGeom>
          <a:noFill/>
        </p:spPr>
        <p:txBody>
          <a:bodyPr wrap="square" lIns="54864" tIns="54864" rIns="54864" bIns="54864">
            <a:normAutofit lnSpcReduction="10000"/>
          </a:bodyPr>
          <a:lstStyle/>
          <a:p>
            <a:pPr algn="ctr"/>
            <a:r>
              <a:rPr sz="2000" b="1">
                <a:solidFill>
                  <a:srgbClr val="102238"/>
                </a:solidFill>
                <a:latin typeface="Arial"/>
              </a:rPr>
              <a:t>Syntax matters, but the deeper goal is to make the analysis explicit and repeatable.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Conditions: choose what to keep</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24</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a:solidFill>
                  <a:srgbClr val="EBF0F6"/>
                </a:solidFill>
                <a:latin typeface="Menlo"/>
              </a:rPr>
              <a:t>if magnitude &lt; 1.0:</a:t>
            </a:r>
          </a:p>
          <a:p>
            <a:pPr>
              <a:spcAft>
                <a:spcPts val="0"/>
              </a:spcAft>
            </a:pPr>
            <a:r>
              <a:rPr sz="1600" dirty="0">
                <a:solidFill>
                  <a:srgbClr val="EBF0F6"/>
                </a:solidFill>
                <a:latin typeface="Menlo"/>
              </a:rPr>
              <a:t>    print('bright')</a:t>
            </a:r>
          </a:p>
          <a:p>
            <a:pPr>
              <a:spcAft>
                <a:spcPts val="0"/>
              </a:spcAft>
            </a:pPr>
            <a:r>
              <a:rPr sz="1600" dirty="0">
                <a:solidFill>
                  <a:srgbClr val="EBF0F6"/>
                </a:solidFill>
                <a:latin typeface="Menlo"/>
              </a:rPr>
              <a:t>else:</a:t>
            </a:r>
          </a:p>
          <a:p>
            <a:pPr>
              <a:spcAft>
                <a:spcPts val="0"/>
              </a:spcAft>
            </a:pPr>
            <a:r>
              <a:rPr sz="1600" dirty="0">
                <a:solidFill>
                  <a:srgbClr val="EBF0F6"/>
                </a:solidFill>
                <a:latin typeface="Menlo"/>
              </a:rPr>
              <a:t>    print('faint')</a:t>
            </a: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D9A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D9A941"/>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A condition is often a scientific selection rule.</a:t>
            </a:r>
          </a:p>
          <a:p>
            <a:pPr>
              <a:spcAft>
                <a:spcPts val="200"/>
              </a:spcAft>
            </a:pPr>
            <a:r>
              <a:rPr sz="1380" b="0">
                <a:solidFill>
                  <a:srgbClr val="191E26"/>
                </a:solidFill>
                <a:latin typeface="Arial"/>
              </a:rPr>
              <a:t>Changing a threshold can change the sample and the conclusion.</a:t>
            </a:r>
          </a:p>
        </p:txBody>
      </p:sp>
      <p:sp>
        <p:nvSpPr>
          <p:cNvPr id="12" name="Rounded Rectangle 11"/>
          <p:cNvSpPr/>
          <p:nvPr/>
        </p:nvSpPr>
        <p:spPr>
          <a:xfrm>
            <a:off x="6400800" y="297180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97180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08152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410712"/>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868680" y="5074920"/>
            <a:ext cx="10378440" cy="411480"/>
          </a:xfrm>
          <a:prstGeom prst="rect">
            <a:avLst/>
          </a:prstGeom>
          <a:noFill/>
        </p:spPr>
        <p:txBody>
          <a:bodyPr wrap="square" lIns="54864" tIns="54864" rIns="54864" bIns="54864">
            <a:normAutofit lnSpcReduction="10000"/>
          </a:bodyPr>
          <a:lstStyle/>
          <a:p>
            <a:pPr algn="ctr"/>
            <a:r>
              <a:rPr sz="2000" b="1">
                <a:solidFill>
                  <a:srgbClr val="102238"/>
                </a:solidFill>
                <a:latin typeface="Arial"/>
              </a:rPr>
              <a:t>Syntax matters, but the deeper goal is to make the analysis explicit and repeatable.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Functions: package a reusable idea</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25</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a:solidFill>
                  <a:srgbClr val="EBF0F6"/>
                </a:solidFill>
                <a:latin typeface="Menlo"/>
              </a:rPr>
              <a:t>def </a:t>
            </a:r>
            <a:r>
              <a:rPr sz="1600" dirty="0" err="1">
                <a:solidFill>
                  <a:srgbClr val="EBF0F6"/>
                </a:solidFill>
                <a:latin typeface="Menlo"/>
              </a:rPr>
              <a:t>earth_radius_to_km</a:t>
            </a:r>
            <a:r>
              <a:rPr sz="1600" dirty="0">
                <a:solidFill>
                  <a:srgbClr val="EBF0F6"/>
                </a:solidFill>
                <a:latin typeface="Menlo"/>
              </a:rPr>
              <a:t>(radius):</a:t>
            </a:r>
          </a:p>
          <a:p>
            <a:pPr>
              <a:spcAft>
                <a:spcPts val="0"/>
              </a:spcAft>
            </a:pPr>
            <a:r>
              <a:rPr sz="1600" dirty="0">
                <a:solidFill>
                  <a:srgbClr val="EBF0F6"/>
                </a:solidFill>
                <a:latin typeface="Menlo"/>
              </a:rPr>
              <a:t>    return radius * 6371</a:t>
            </a:r>
          </a:p>
          <a:p>
            <a:pPr>
              <a:spcAft>
                <a:spcPts val="0"/>
              </a:spcAft>
            </a:pPr>
            <a:endParaRPr sz="1600" dirty="0">
              <a:solidFill>
                <a:srgbClr val="EBF0F6"/>
              </a:solidFill>
              <a:latin typeface="Menlo"/>
            </a:endParaRPr>
          </a:p>
          <a:p>
            <a:pPr>
              <a:spcAft>
                <a:spcPts val="0"/>
              </a:spcAft>
            </a:pPr>
            <a:r>
              <a:rPr sz="1600" dirty="0">
                <a:solidFill>
                  <a:srgbClr val="EBF0F6"/>
                </a:solidFill>
                <a:latin typeface="Menlo"/>
              </a:rPr>
              <a:t>print(</a:t>
            </a:r>
            <a:r>
              <a:rPr sz="1600" dirty="0" err="1">
                <a:solidFill>
                  <a:srgbClr val="EBF0F6"/>
                </a:solidFill>
                <a:latin typeface="Menlo"/>
              </a:rPr>
              <a:t>earth_radius_to_km</a:t>
            </a:r>
            <a:r>
              <a:rPr sz="1600" dirty="0">
                <a:solidFill>
                  <a:srgbClr val="EBF0F6"/>
                </a:solidFill>
                <a:latin typeface="Menlo"/>
              </a:rPr>
              <a:t>(1.11))</a:t>
            </a: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Functions give names to repeated analysis steps.</a:t>
            </a:r>
          </a:p>
          <a:p>
            <a:pPr>
              <a:spcAft>
                <a:spcPts val="200"/>
              </a:spcAft>
            </a:pPr>
            <a:r>
              <a:rPr sz="1380" b="0">
                <a:solidFill>
                  <a:srgbClr val="191E26"/>
                </a:solidFill>
                <a:latin typeface="Arial"/>
              </a:rPr>
              <a:t>They make code shorter, clearer, and easier to test.</a:t>
            </a:r>
          </a:p>
        </p:txBody>
      </p:sp>
      <p:sp>
        <p:nvSpPr>
          <p:cNvPr id="12" name="Rounded Rectangle 11"/>
          <p:cNvSpPr/>
          <p:nvPr/>
        </p:nvSpPr>
        <p:spPr>
          <a:xfrm>
            <a:off x="6400800" y="297180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97180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08152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410712"/>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868680" y="5074920"/>
            <a:ext cx="10378440" cy="411480"/>
          </a:xfrm>
          <a:prstGeom prst="rect">
            <a:avLst/>
          </a:prstGeom>
          <a:noFill/>
        </p:spPr>
        <p:txBody>
          <a:bodyPr wrap="square" lIns="54864" tIns="54864" rIns="54864" bIns="54864">
            <a:normAutofit lnSpcReduction="10000"/>
          </a:bodyPr>
          <a:lstStyle/>
          <a:p>
            <a:pPr algn="ctr"/>
            <a:r>
              <a:rPr sz="2000" b="1">
                <a:solidFill>
                  <a:srgbClr val="102238"/>
                </a:solidFill>
                <a:latin typeface="Arial"/>
              </a:rPr>
              <a:t>Syntax matters, but the deeper goal is to make the analysis explicit and repeatable.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Classes: data plus behavior</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26</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a:solidFill>
                  <a:srgbClr val="EBF0F6"/>
                </a:solidFill>
                <a:latin typeface="Menlo"/>
              </a:rPr>
              <a:t>class Planet:</a:t>
            </a:r>
          </a:p>
          <a:p>
            <a:pPr>
              <a:spcAft>
                <a:spcPts val="0"/>
              </a:spcAft>
            </a:pPr>
            <a:r>
              <a:rPr sz="1600" dirty="0">
                <a:solidFill>
                  <a:srgbClr val="EBF0F6"/>
                </a:solidFill>
                <a:latin typeface="Menlo"/>
              </a:rPr>
              <a:t>    def __</a:t>
            </a:r>
            <a:r>
              <a:rPr sz="1600" dirty="0" err="1">
                <a:solidFill>
                  <a:srgbClr val="EBF0F6"/>
                </a:solidFill>
                <a:latin typeface="Menlo"/>
              </a:rPr>
              <a:t>init</a:t>
            </a:r>
            <a:r>
              <a:rPr sz="1600" dirty="0">
                <a:solidFill>
                  <a:srgbClr val="EBF0F6"/>
                </a:solidFill>
                <a:latin typeface="Menlo"/>
              </a:rPr>
              <a:t>__(self, name, radius):</a:t>
            </a:r>
          </a:p>
          <a:p>
            <a:pPr>
              <a:spcAft>
                <a:spcPts val="0"/>
              </a:spcAft>
            </a:pPr>
            <a:r>
              <a:rPr sz="1600" dirty="0">
                <a:solidFill>
                  <a:srgbClr val="EBF0F6"/>
                </a:solidFill>
                <a:latin typeface="Menlo"/>
              </a:rPr>
              <a:t>        </a:t>
            </a:r>
            <a:r>
              <a:rPr sz="1600" dirty="0" err="1">
                <a:solidFill>
                  <a:srgbClr val="EBF0F6"/>
                </a:solidFill>
                <a:latin typeface="Menlo"/>
              </a:rPr>
              <a:t>self.name</a:t>
            </a:r>
            <a:r>
              <a:rPr sz="1600" dirty="0">
                <a:solidFill>
                  <a:srgbClr val="EBF0F6"/>
                </a:solidFill>
                <a:latin typeface="Menlo"/>
              </a:rPr>
              <a:t> = name</a:t>
            </a:r>
          </a:p>
          <a:p>
            <a:pPr>
              <a:spcAft>
                <a:spcPts val="0"/>
              </a:spcAft>
            </a:pPr>
            <a:r>
              <a:rPr sz="1600" dirty="0">
                <a:solidFill>
                  <a:srgbClr val="EBF0F6"/>
                </a:solidFill>
                <a:latin typeface="Menlo"/>
              </a:rPr>
              <a:t>        </a:t>
            </a:r>
            <a:r>
              <a:rPr sz="1600" dirty="0" err="1">
                <a:solidFill>
                  <a:srgbClr val="EBF0F6"/>
                </a:solidFill>
                <a:latin typeface="Menlo"/>
              </a:rPr>
              <a:t>self.radius</a:t>
            </a:r>
            <a:r>
              <a:rPr sz="1600" dirty="0">
                <a:solidFill>
                  <a:srgbClr val="EBF0F6"/>
                </a:solidFill>
                <a:latin typeface="Menlo"/>
              </a:rPr>
              <a:t> = radius</a:t>
            </a: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102238"/>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Classes are a way to define custom scientific objects.</a:t>
            </a:r>
          </a:p>
          <a:p>
            <a:pPr>
              <a:spcAft>
                <a:spcPts val="200"/>
              </a:spcAft>
            </a:pPr>
            <a:r>
              <a:rPr sz="1380" b="0">
                <a:solidFill>
                  <a:srgbClr val="191E26"/>
                </a:solidFill>
                <a:latin typeface="Arial"/>
              </a:rPr>
              <a:t>Do not worry if this feels abstract today; recognize the purpose.</a:t>
            </a:r>
          </a:p>
        </p:txBody>
      </p:sp>
      <p:sp>
        <p:nvSpPr>
          <p:cNvPr id="12" name="Rounded Rectangle 11"/>
          <p:cNvSpPr/>
          <p:nvPr/>
        </p:nvSpPr>
        <p:spPr>
          <a:xfrm>
            <a:off x="6400800" y="297180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97180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08152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410712"/>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868680" y="5074920"/>
            <a:ext cx="10378440" cy="411480"/>
          </a:xfrm>
          <a:prstGeom prst="rect">
            <a:avLst/>
          </a:prstGeom>
          <a:noFill/>
        </p:spPr>
        <p:txBody>
          <a:bodyPr wrap="square" lIns="54864" tIns="54864" rIns="54864" bIns="54864">
            <a:normAutofit lnSpcReduction="10000"/>
          </a:bodyPr>
          <a:lstStyle/>
          <a:p>
            <a:pPr algn="ctr"/>
            <a:r>
              <a:rPr sz="2000" b="1">
                <a:solidFill>
                  <a:srgbClr val="102238"/>
                </a:solidFill>
                <a:latin typeface="Arial"/>
              </a:rPr>
              <a:t>Syntax matters, but the deeper goal is to make the analysis explicit and repeatable.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Files: data live outside the notebook</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27</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lgn="ctr">
              <a:spcAft>
                <a:spcPts val="0"/>
              </a:spcAft>
            </a:pPr>
            <a:r>
              <a:rPr sz="1600">
                <a:solidFill>
                  <a:srgbClr val="EBF0F6"/>
                </a:solidFill>
                <a:latin typeface="Menlo"/>
              </a:rPr>
              <a:t>with open('star_catalog.txt') as f:</a:t>
            </a:r>
          </a:p>
          <a:p>
            <a:pPr>
              <a:spcAft>
                <a:spcPts val="0"/>
              </a:spcAft>
            </a:pPr>
            <a:r>
              <a:rPr sz="1600">
                <a:solidFill>
                  <a:srgbClr val="EBF0F6"/>
                </a:solidFill>
                <a:latin typeface="Menlo"/>
              </a:rPr>
              <a:t>    for line in f:</a:t>
            </a:r>
          </a:p>
          <a:p>
            <a:pPr>
              <a:spcAft>
                <a:spcPts val="0"/>
              </a:spcAft>
            </a:pPr>
            <a:r>
              <a:rPr sz="1600">
                <a:solidFill>
                  <a:srgbClr val="EBF0F6"/>
                </a:solidFill>
                <a:latin typeface="Menlo"/>
              </a:rPr>
              <a:t>        print(line.strip())</a:t>
            </a: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Real analysis begins when we read data from files.</a:t>
            </a:r>
          </a:p>
          <a:p>
            <a:pPr>
              <a:spcAft>
                <a:spcPts val="200"/>
              </a:spcAft>
            </a:pPr>
            <a:r>
              <a:rPr sz="1380" b="0">
                <a:solidFill>
                  <a:srgbClr val="191E26"/>
                </a:solidFill>
                <a:latin typeface="Arial"/>
              </a:rPr>
              <a:t>Week 1 includes star_catalog.txt and exoplanet_catalog.txt.</a:t>
            </a:r>
          </a:p>
        </p:txBody>
      </p:sp>
      <p:sp>
        <p:nvSpPr>
          <p:cNvPr id="12" name="Rounded Rectangle 11"/>
          <p:cNvSpPr/>
          <p:nvPr/>
        </p:nvSpPr>
        <p:spPr>
          <a:xfrm>
            <a:off x="6400800" y="297180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97180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08152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410712"/>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868680" y="5074920"/>
            <a:ext cx="10378440" cy="411480"/>
          </a:xfrm>
          <a:prstGeom prst="rect">
            <a:avLst/>
          </a:prstGeom>
          <a:noFill/>
        </p:spPr>
        <p:txBody>
          <a:bodyPr wrap="square" lIns="54864" tIns="54864" rIns="54864" bIns="54864">
            <a:normAutofit lnSpcReduction="10000"/>
          </a:bodyPr>
          <a:lstStyle/>
          <a:p>
            <a:pPr algn="ctr"/>
            <a:r>
              <a:rPr sz="2000" b="1">
                <a:solidFill>
                  <a:srgbClr val="102238"/>
                </a:solidFill>
                <a:latin typeface="Arial"/>
              </a:rPr>
              <a:t>Syntax matters, but the deeper goal is to make the analysis explicit and repeatable.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PYTHON BASICS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Modules: use community-built tools</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28</a:t>
            </a:r>
          </a:p>
        </p:txBody>
      </p:sp>
      <p:sp>
        <p:nvSpPr>
          <p:cNvPr id="7" name="Rounded Rectangle 6"/>
          <p:cNvSpPr/>
          <p:nvPr/>
        </p:nvSpPr>
        <p:spPr>
          <a:xfrm>
            <a:off x="713232" y="1325880"/>
            <a:ext cx="5394960" cy="274320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spcAft>
                <a:spcPts val="0"/>
              </a:spcAft>
            </a:pPr>
            <a:r>
              <a:rPr sz="1600" dirty="0">
                <a:solidFill>
                  <a:srgbClr val="EBF0F6"/>
                </a:solidFill>
                <a:latin typeface="Menlo"/>
              </a:rPr>
              <a:t>import math</a:t>
            </a:r>
          </a:p>
          <a:p>
            <a:pPr>
              <a:spcAft>
                <a:spcPts val="0"/>
              </a:spcAft>
            </a:pPr>
            <a:r>
              <a:rPr sz="1600" dirty="0">
                <a:solidFill>
                  <a:srgbClr val="EBF0F6"/>
                </a:solidFill>
                <a:latin typeface="Menlo"/>
              </a:rPr>
              <a:t>print(</a:t>
            </a:r>
            <a:r>
              <a:rPr sz="1600" dirty="0" err="1">
                <a:solidFill>
                  <a:srgbClr val="EBF0F6"/>
                </a:solidFill>
                <a:latin typeface="Menlo"/>
              </a:rPr>
              <a:t>math.sqrt</a:t>
            </a:r>
            <a:r>
              <a:rPr sz="1600" dirty="0">
                <a:solidFill>
                  <a:srgbClr val="EBF0F6"/>
                </a:solidFill>
                <a:latin typeface="Menlo"/>
              </a:rPr>
              <a:t>(129.9))</a:t>
            </a:r>
          </a:p>
          <a:p>
            <a:pPr>
              <a:spcAft>
                <a:spcPts val="0"/>
              </a:spcAft>
            </a:pPr>
            <a:endParaRPr sz="1600" dirty="0">
              <a:solidFill>
                <a:srgbClr val="EBF0F6"/>
              </a:solidFill>
              <a:latin typeface="Menlo"/>
            </a:endParaRPr>
          </a:p>
          <a:p>
            <a:pPr>
              <a:spcAft>
                <a:spcPts val="0"/>
              </a:spcAft>
            </a:pPr>
            <a:r>
              <a:rPr sz="1600" dirty="0">
                <a:solidFill>
                  <a:srgbClr val="EBF0F6"/>
                </a:solidFill>
                <a:latin typeface="Menlo"/>
              </a:rPr>
              <a:t># later: </a:t>
            </a:r>
            <a:r>
              <a:rPr sz="1600" dirty="0" err="1">
                <a:solidFill>
                  <a:srgbClr val="EBF0F6"/>
                </a:solidFill>
                <a:latin typeface="Menlo"/>
              </a:rPr>
              <a:t>numpy</a:t>
            </a:r>
            <a:r>
              <a:rPr sz="1600" dirty="0">
                <a:solidFill>
                  <a:srgbClr val="EBF0F6"/>
                </a:solidFill>
                <a:latin typeface="Menlo"/>
              </a:rPr>
              <a:t>, pandas, </a:t>
            </a:r>
            <a:r>
              <a:rPr sz="1600" dirty="0" err="1">
                <a:solidFill>
                  <a:srgbClr val="EBF0F6"/>
                </a:solidFill>
                <a:latin typeface="Menlo"/>
              </a:rPr>
              <a:t>astropy</a:t>
            </a:r>
            <a:endParaRPr sz="1600" dirty="0">
              <a:solidFill>
                <a:srgbClr val="EBF0F6"/>
              </a:solidFill>
              <a:latin typeface="Menlo"/>
            </a:endParaRPr>
          </a:p>
        </p:txBody>
      </p:sp>
      <p:sp>
        <p:nvSpPr>
          <p:cNvPr id="8" name="Rounded Rectangle 7"/>
          <p:cNvSpPr/>
          <p:nvPr/>
        </p:nvSpPr>
        <p:spPr>
          <a:xfrm>
            <a:off x="6400800" y="132588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1325880"/>
            <a:ext cx="73152" cy="132588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01968" y="1435608"/>
            <a:ext cx="457200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Core idea</a:t>
            </a:r>
          </a:p>
        </p:txBody>
      </p:sp>
      <p:sp>
        <p:nvSpPr>
          <p:cNvPr id="11" name="TextBox 10"/>
          <p:cNvSpPr txBox="1"/>
          <p:nvPr/>
        </p:nvSpPr>
        <p:spPr>
          <a:xfrm>
            <a:off x="6601968" y="1764792"/>
            <a:ext cx="458114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Modules let us reuse tested code.</a:t>
            </a:r>
          </a:p>
          <a:p>
            <a:pPr>
              <a:spcAft>
                <a:spcPts val="200"/>
              </a:spcAft>
            </a:pPr>
            <a:r>
              <a:rPr sz="1380" b="0">
                <a:solidFill>
                  <a:srgbClr val="191E26"/>
                </a:solidFill>
                <a:latin typeface="Arial"/>
              </a:rPr>
              <a:t>Astronomy in Python depends heavily on community packages.</a:t>
            </a:r>
          </a:p>
        </p:txBody>
      </p:sp>
      <p:sp>
        <p:nvSpPr>
          <p:cNvPr id="12" name="Rounded Rectangle 11"/>
          <p:cNvSpPr/>
          <p:nvPr/>
        </p:nvSpPr>
        <p:spPr>
          <a:xfrm>
            <a:off x="6400800" y="2971800"/>
            <a:ext cx="489204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0" y="297180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01968" y="3081528"/>
            <a:ext cx="457200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Astronomy use</a:t>
            </a:r>
          </a:p>
        </p:txBody>
      </p:sp>
      <p:sp>
        <p:nvSpPr>
          <p:cNvPr id="15" name="TextBox 14"/>
          <p:cNvSpPr txBox="1"/>
          <p:nvPr/>
        </p:nvSpPr>
        <p:spPr>
          <a:xfrm>
            <a:off x="6601968" y="3410712"/>
            <a:ext cx="4581144" cy="822960"/>
          </a:xfrm>
          <a:prstGeom prst="rect">
            <a:avLst/>
          </a:prstGeom>
          <a:noFill/>
        </p:spPr>
        <p:txBody>
          <a:bodyPr wrap="square" lIns="128016" tIns="36576" rIns="109728" bIns="36576">
            <a:normAutofit fontScale="92500" lnSpcReduction="20000"/>
          </a:bodyPr>
          <a:lstStyle/>
          <a:p>
            <a:pPr>
              <a:spcAft>
                <a:spcPts val="200"/>
              </a:spcAft>
            </a:pPr>
            <a:r>
              <a:rPr sz="1380" b="0">
                <a:solidFill>
                  <a:srgbClr val="191E26"/>
                </a:solidFill>
                <a:latin typeface="Arial"/>
              </a:rPr>
              <a:t>catalog filtering</a:t>
            </a:r>
          </a:p>
          <a:p>
            <a:pPr>
              <a:spcAft>
                <a:spcPts val="200"/>
              </a:spcAft>
            </a:pPr>
            <a:r>
              <a:rPr sz="1380" b="0">
                <a:solidFill>
                  <a:srgbClr val="191E26"/>
                </a:solidFill>
                <a:latin typeface="Arial"/>
              </a:rPr>
              <a:t>file naming</a:t>
            </a:r>
          </a:p>
          <a:p>
            <a:pPr>
              <a:spcAft>
                <a:spcPts val="200"/>
              </a:spcAft>
            </a:pPr>
            <a:r>
              <a:rPr sz="1380" b="0">
                <a:solidFill>
                  <a:srgbClr val="191E26"/>
                </a:solidFill>
                <a:latin typeface="Arial"/>
              </a:rPr>
              <a:t>measurement pipelines</a:t>
            </a:r>
          </a:p>
          <a:p>
            <a:pPr>
              <a:spcAft>
                <a:spcPts val="200"/>
              </a:spcAft>
            </a:pPr>
            <a:r>
              <a:rPr sz="1380" b="0">
                <a:solidFill>
                  <a:srgbClr val="191E26"/>
                </a:solidFill>
                <a:latin typeface="Arial"/>
              </a:rPr>
              <a:t>reproducible analysis</a:t>
            </a:r>
          </a:p>
        </p:txBody>
      </p:sp>
      <p:sp>
        <p:nvSpPr>
          <p:cNvPr id="16" name="TextBox 15"/>
          <p:cNvSpPr txBox="1"/>
          <p:nvPr/>
        </p:nvSpPr>
        <p:spPr>
          <a:xfrm>
            <a:off x="868680" y="5074920"/>
            <a:ext cx="10378440" cy="411480"/>
          </a:xfrm>
          <a:prstGeom prst="rect">
            <a:avLst/>
          </a:prstGeom>
          <a:noFill/>
        </p:spPr>
        <p:txBody>
          <a:bodyPr wrap="square" lIns="54864" tIns="54864" rIns="54864" bIns="54864">
            <a:normAutofit lnSpcReduction="10000"/>
          </a:bodyPr>
          <a:lstStyle/>
          <a:p>
            <a:pPr algn="ctr"/>
            <a:r>
              <a:rPr sz="2000" b="1">
                <a:solidFill>
                  <a:srgbClr val="102238"/>
                </a:solidFill>
                <a:latin typeface="Arial"/>
              </a:rPr>
              <a:t>Syntax matters, but the deeper goal is to make the analysis explicit and repeatable.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SCIENTIFIC HABITS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Programming mistakes can become scientific mistakes</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29</a:t>
            </a:r>
          </a:p>
        </p:txBody>
      </p:sp>
      <p:sp>
        <p:nvSpPr>
          <p:cNvPr id="7" name="Rounded Rectangle 6"/>
          <p:cNvSpPr/>
          <p:nvPr/>
        </p:nvSpPr>
        <p:spPr>
          <a:xfrm>
            <a:off x="685800" y="1325880"/>
            <a:ext cx="3337560" cy="14173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325880"/>
            <a:ext cx="73152" cy="1417320"/>
          </a:xfrm>
          <a:prstGeom prst="rect">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435608"/>
            <a:ext cx="3017520" cy="274320"/>
          </a:xfrm>
          <a:prstGeom prst="rect">
            <a:avLst/>
          </a:prstGeom>
          <a:noFill/>
        </p:spPr>
        <p:txBody>
          <a:bodyPr wrap="square" lIns="54864" tIns="54864" rIns="54864" bIns="54864">
            <a:normAutofit fontScale="85000" lnSpcReduction="20000"/>
          </a:bodyPr>
          <a:lstStyle/>
          <a:p>
            <a:r>
              <a:rPr sz="1550" b="1">
                <a:solidFill>
                  <a:srgbClr val="B5494E"/>
                </a:solidFill>
                <a:latin typeface="Arial"/>
              </a:rPr>
              <a:t>Wrong type</a:t>
            </a:r>
          </a:p>
        </p:txBody>
      </p:sp>
      <p:sp>
        <p:nvSpPr>
          <p:cNvPr id="10" name="TextBox 9"/>
          <p:cNvSpPr txBox="1"/>
          <p:nvPr/>
        </p:nvSpPr>
        <p:spPr>
          <a:xfrm>
            <a:off x="886968" y="1764792"/>
            <a:ext cx="3026664" cy="9144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a number read as text</a:t>
            </a:r>
          </a:p>
          <a:p>
            <a:pPr>
              <a:spcAft>
                <a:spcPts val="200"/>
              </a:spcAft>
            </a:pPr>
            <a:r>
              <a:rPr sz="1380" b="0">
                <a:solidFill>
                  <a:srgbClr val="191E26"/>
                </a:solidFill>
                <a:latin typeface="Arial"/>
              </a:rPr>
              <a:t>a date treated as a string</a:t>
            </a:r>
          </a:p>
        </p:txBody>
      </p:sp>
      <p:sp>
        <p:nvSpPr>
          <p:cNvPr id="11" name="Rounded Rectangle 10"/>
          <p:cNvSpPr/>
          <p:nvPr/>
        </p:nvSpPr>
        <p:spPr>
          <a:xfrm>
            <a:off x="4434840" y="1325880"/>
            <a:ext cx="3337560" cy="14173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325880"/>
            <a:ext cx="73152" cy="141732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8" y="1435608"/>
            <a:ext cx="301752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Wrong loop</a:t>
            </a:r>
          </a:p>
        </p:txBody>
      </p:sp>
      <p:sp>
        <p:nvSpPr>
          <p:cNvPr id="14" name="TextBox 13"/>
          <p:cNvSpPr txBox="1"/>
          <p:nvPr/>
        </p:nvSpPr>
        <p:spPr>
          <a:xfrm>
            <a:off x="4636008" y="1764792"/>
            <a:ext cx="3026664" cy="9144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skipping rows</a:t>
            </a:r>
          </a:p>
          <a:p>
            <a:pPr>
              <a:spcAft>
                <a:spcPts val="200"/>
              </a:spcAft>
            </a:pPr>
            <a:r>
              <a:rPr sz="1380" b="0">
                <a:solidFill>
                  <a:srgbClr val="191E26"/>
                </a:solidFill>
                <a:latin typeface="Arial"/>
              </a:rPr>
              <a:t>double-counting objects</a:t>
            </a:r>
          </a:p>
        </p:txBody>
      </p:sp>
      <p:sp>
        <p:nvSpPr>
          <p:cNvPr id="15" name="Rounded Rectangle 14"/>
          <p:cNvSpPr/>
          <p:nvPr/>
        </p:nvSpPr>
        <p:spPr>
          <a:xfrm>
            <a:off x="8183879" y="1325880"/>
            <a:ext cx="3337560" cy="141732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83879" y="1325880"/>
            <a:ext cx="73152" cy="141732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85047" y="1435608"/>
            <a:ext cx="301752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Wrong file</a:t>
            </a:r>
          </a:p>
        </p:txBody>
      </p:sp>
      <p:sp>
        <p:nvSpPr>
          <p:cNvPr id="18" name="TextBox 17"/>
          <p:cNvSpPr txBox="1"/>
          <p:nvPr/>
        </p:nvSpPr>
        <p:spPr>
          <a:xfrm>
            <a:off x="8385047" y="1764792"/>
            <a:ext cx="3026664" cy="91440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old data path</a:t>
            </a:r>
          </a:p>
          <a:p>
            <a:pPr>
              <a:spcAft>
                <a:spcPts val="200"/>
              </a:spcAft>
            </a:pPr>
            <a:r>
              <a:rPr sz="1380" b="0">
                <a:solidFill>
                  <a:srgbClr val="191E26"/>
                </a:solidFill>
                <a:latin typeface="Arial"/>
              </a:rPr>
              <a:t>wrong catalog version</a:t>
            </a:r>
          </a:p>
        </p:txBody>
      </p:sp>
      <p:sp>
        <p:nvSpPr>
          <p:cNvPr id="19" name="TextBox 18"/>
          <p:cNvSpPr txBox="1"/>
          <p:nvPr/>
        </p:nvSpPr>
        <p:spPr>
          <a:xfrm>
            <a:off x="914400" y="3703320"/>
            <a:ext cx="10332720" cy="1143000"/>
          </a:xfrm>
          <a:prstGeom prst="rect">
            <a:avLst/>
          </a:prstGeom>
          <a:noFill/>
        </p:spPr>
        <p:txBody>
          <a:bodyPr wrap="square" lIns="128016" tIns="36576" rIns="109728" bIns="36576">
            <a:normAutofit fontScale="77500" lnSpcReduction="20000"/>
          </a:bodyPr>
          <a:lstStyle/>
          <a:p>
            <a:pPr>
              <a:spcAft>
                <a:spcPts val="800"/>
              </a:spcAft>
            </a:pPr>
            <a:r>
              <a:rPr sz="2300" b="0">
                <a:solidFill>
                  <a:srgbClr val="191E26"/>
                </a:solidFill>
                <a:latin typeface="Arial"/>
              </a:rPr>
              <a:t>Good coding practice is not just about elegance. It is a way to protect scientific conclusions.</a:t>
            </a:r>
          </a:p>
          <a:p>
            <a:pPr>
              <a:spcAft>
                <a:spcPts val="800"/>
              </a:spcAft>
            </a:pPr>
            <a:r>
              <a:rPr sz="2300" b="0">
                <a:solidFill>
                  <a:srgbClr val="191E26"/>
                </a:solidFill>
                <a:latin typeface="Arial"/>
              </a:rPr>
              <a:t>Check small examples, print intermediate values, plot diagnostics, and question surprising outputs.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SCIENTIFIC HABITS</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A good notebook learning loop</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30</a:t>
            </a:r>
          </a:p>
        </p:txBody>
      </p:sp>
      <p:sp>
        <p:nvSpPr>
          <p:cNvPr id="7" name="Rounded Rectangle 6"/>
          <p:cNvSpPr/>
          <p:nvPr/>
        </p:nvSpPr>
        <p:spPr>
          <a:xfrm>
            <a:off x="868680" y="1417320"/>
            <a:ext cx="1691640" cy="603504"/>
          </a:xfrm>
          <a:prstGeom prst="roundRect">
            <a:avLst>
              <a:gd name="adj" fmla="val 6000"/>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 y="156362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Read</a:t>
            </a:r>
          </a:p>
        </p:txBody>
      </p:sp>
      <p:sp>
        <p:nvSpPr>
          <p:cNvPr id="9" name="TextBox 8"/>
          <p:cNvSpPr txBox="1"/>
          <p:nvPr/>
        </p:nvSpPr>
        <p:spPr>
          <a:xfrm>
            <a:off x="2578608" y="157276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0" name="Rounded Rectangle 9"/>
          <p:cNvSpPr/>
          <p:nvPr/>
        </p:nvSpPr>
        <p:spPr>
          <a:xfrm>
            <a:off x="2816352" y="1417320"/>
            <a:ext cx="1691640" cy="603504"/>
          </a:xfrm>
          <a:prstGeom prst="roundRect">
            <a:avLst>
              <a:gd name="adj" fmla="val 6000"/>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52928" y="156362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Predict</a:t>
            </a:r>
          </a:p>
        </p:txBody>
      </p:sp>
      <p:sp>
        <p:nvSpPr>
          <p:cNvPr id="12" name="TextBox 11"/>
          <p:cNvSpPr txBox="1"/>
          <p:nvPr/>
        </p:nvSpPr>
        <p:spPr>
          <a:xfrm>
            <a:off x="4526280" y="157276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3" name="Rounded Rectangle 12"/>
          <p:cNvSpPr/>
          <p:nvPr/>
        </p:nvSpPr>
        <p:spPr>
          <a:xfrm>
            <a:off x="4764024" y="1417320"/>
            <a:ext cx="1691640" cy="603504"/>
          </a:xfrm>
          <a:prstGeom prst="roundRect">
            <a:avLst>
              <a:gd name="adj" fmla="val 6000"/>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0600" y="156362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Run</a:t>
            </a:r>
          </a:p>
        </p:txBody>
      </p:sp>
      <p:sp>
        <p:nvSpPr>
          <p:cNvPr id="15" name="TextBox 14"/>
          <p:cNvSpPr txBox="1"/>
          <p:nvPr/>
        </p:nvSpPr>
        <p:spPr>
          <a:xfrm>
            <a:off x="6473952" y="157276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6" name="Rounded Rectangle 15"/>
          <p:cNvSpPr/>
          <p:nvPr/>
        </p:nvSpPr>
        <p:spPr>
          <a:xfrm>
            <a:off x="6711696" y="1417320"/>
            <a:ext cx="1691640" cy="603504"/>
          </a:xfrm>
          <a:prstGeom prst="roundRect">
            <a:avLst>
              <a:gd name="adj" fmla="val 6000"/>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48272" y="156362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Change</a:t>
            </a:r>
          </a:p>
        </p:txBody>
      </p:sp>
      <p:sp>
        <p:nvSpPr>
          <p:cNvPr id="18" name="TextBox 17"/>
          <p:cNvSpPr txBox="1"/>
          <p:nvPr/>
        </p:nvSpPr>
        <p:spPr>
          <a:xfrm>
            <a:off x="8421624" y="157276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9" name="Rounded Rectangle 18"/>
          <p:cNvSpPr/>
          <p:nvPr/>
        </p:nvSpPr>
        <p:spPr>
          <a:xfrm>
            <a:off x="8659368" y="1417320"/>
            <a:ext cx="1691640" cy="603504"/>
          </a:xfrm>
          <a:prstGeom prst="roundRect">
            <a:avLst>
              <a:gd name="adj" fmla="val 6000"/>
            </a:avLst>
          </a:prstGeom>
          <a:solidFill>
            <a:srgbClr val="209A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95944" y="156362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Break</a:t>
            </a:r>
          </a:p>
        </p:txBody>
      </p:sp>
      <p:sp>
        <p:nvSpPr>
          <p:cNvPr id="21" name="TextBox 20"/>
          <p:cNvSpPr txBox="1"/>
          <p:nvPr/>
        </p:nvSpPr>
        <p:spPr>
          <a:xfrm>
            <a:off x="10369296" y="157276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22" name="Rounded Rectangle 21"/>
          <p:cNvSpPr/>
          <p:nvPr/>
        </p:nvSpPr>
        <p:spPr>
          <a:xfrm>
            <a:off x="10607040" y="1417320"/>
            <a:ext cx="1691640" cy="603504"/>
          </a:xfrm>
          <a:prstGeom prst="roundRect">
            <a:avLst>
              <a:gd name="adj" fmla="val 6000"/>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643616" y="156362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Explain</a:t>
            </a:r>
          </a:p>
        </p:txBody>
      </p:sp>
      <p:sp>
        <p:nvSpPr>
          <p:cNvPr id="24" name="TextBox 23"/>
          <p:cNvSpPr txBox="1"/>
          <p:nvPr/>
        </p:nvSpPr>
        <p:spPr>
          <a:xfrm>
            <a:off x="914400" y="2743200"/>
            <a:ext cx="10332720" cy="640080"/>
          </a:xfrm>
          <a:prstGeom prst="rect">
            <a:avLst/>
          </a:prstGeom>
          <a:noFill/>
        </p:spPr>
        <p:txBody>
          <a:bodyPr wrap="square" lIns="54864" tIns="54864" rIns="54864" bIns="54864">
            <a:normAutofit fontScale="77500" lnSpcReduction="20000"/>
          </a:bodyPr>
          <a:lstStyle/>
          <a:p>
            <a:pPr algn="ctr"/>
            <a:r>
              <a:rPr sz="2700" b="1">
                <a:solidFill>
                  <a:srgbClr val="102238"/>
                </a:solidFill>
                <a:latin typeface="Arial"/>
              </a:rPr>
              <a:t>Do not only watch code run. Change one line, predict the result, run it, and explain what happened.</a:t>
            </a:r>
          </a:p>
        </p:txBody>
      </p:sp>
      <p:sp>
        <p:nvSpPr>
          <p:cNvPr id="25" name="Rounded Rectangle 24"/>
          <p:cNvSpPr/>
          <p:nvPr/>
        </p:nvSpPr>
        <p:spPr>
          <a:xfrm>
            <a:off x="1005840" y="4251960"/>
            <a:ext cx="3063240" cy="123444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05840" y="4251960"/>
            <a:ext cx="73152" cy="123444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07008" y="4361688"/>
            <a:ext cx="274320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When code works</a:t>
            </a:r>
          </a:p>
        </p:txBody>
      </p:sp>
      <p:sp>
        <p:nvSpPr>
          <p:cNvPr id="28" name="TextBox 27"/>
          <p:cNvSpPr txBox="1"/>
          <p:nvPr/>
        </p:nvSpPr>
        <p:spPr>
          <a:xfrm>
            <a:off x="1207008" y="4690872"/>
            <a:ext cx="2752344" cy="73152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ask why</a:t>
            </a:r>
          </a:p>
          <a:p>
            <a:pPr>
              <a:spcAft>
                <a:spcPts val="200"/>
              </a:spcAft>
            </a:pPr>
            <a:r>
              <a:rPr sz="1380" b="0">
                <a:solidFill>
                  <a:srgbClr val="191E26"/>
                </a:solidFill>
                <a:latin typeface="Arial"/>
              </a:rPr>
              <a:t>try another input</a:t>
            </a:r>
          </a:p>
        </p:txBody>
      </p:sp>
      <p:sp>
        <p:nvSpPr>
          <p:cNvPr id="29" name="Rounded Rectangle 28"/>
          <p:cNvSpPr/>
          <p:nvPr/>
        </p:nvSpPr>
        <p:spPr>
          <a:xfrm>
            <a:off x="4526280" y="4251960"/>
            <a:ext cx="3063240" cy="123444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26280" y="4251960"/>
            <a:ext cx="73152" cy="1234440"/>
          </a:xfrm>
          <a:prstGeom prst="rect">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27448" y="4361688"/>
            <a:ext cx="2743200" cy="274320"/>
          </a:xfrm>
          <a:prstGeom prst="rect">
            <a:avLst/>
          </a:prstGeom>
          <a:noFill/>
        </p:spPr>
        <p:txBody>
          <a:bodyPr wrap="square" lIns="54864" tIns="54864" rIns="54864" bIns="54864">
            <a:normAutofit fontScale="85000" lnSpcReduction="20000"/>
          </a:bodyPr>
          <a:lstStyle/>
          <a:p>
            <a:r>
              <a:rPr sz="1550" b="1">
                <a:solidFill>
                  <a:srgbClr val="B5494E"/>
                </a:solidFill>
                <a:latin typeface="Arial"/>
              </a:rPr>
              <a:t>When code fails</a:t>
            </a:r>
          </a:p>
        </p:txBody>
      </p:sp>
      <p:sp>
        <p:nvSpPr>
          <p:cNvPr id="32" name="TextBox 31"/>
          <p:cNvSpPr txBox="1"/>
          <p:nvPr/>
        </p:nvSpPr>
        <p:spPr>
          <a:xfrm>
            <a:off x="4727448" y="4690872"/>
            <a:ext cx="2752344" cy="73152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read the error</a:t>
            </a:r>
          </a:p>
          <a:p>
            <a:pPr>
              <a:spcAft>
                <a:spcPts val="200"/>
              </a:spcAft>
            </a:pPr>
            <a:r>
              <a:rPr sz="1380" b="0">
                <a:solidFill>
                  <a:srgbClr val="191E26"/>
                </a:solidFill>
                <a:latin typeface="Arial"/>
              </a:rPr>
              <a:t>find the first wrong assumption</a:t>
            </a:r>
          </a:p>
        </p:txBody>
      </p:sp>
      <p:sp>
        <p:nvSpPr>
          <p:cNvPr id="33" name="Rounded Rectangle 32"/>
          <p:cNvSpPr/>
          <p:nvPr/>
        </p:nvSpPr>
        <p:spPr>
          <a:xfrm>
            <a:off x="8046720" y="4251960"/>
            <a:ext cx="3063240" cy="123444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046720" y="4251960"/>
            <a:ext cx="73152" cy="123444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47888" y="4361688"/>
            <a:ext cx="274320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When AI helps</a:t>
            </a:r>
          </a:p>
        </p:txBody>
      </p:sp>
      <p:sp>
        <p:nvSpPr>
          <p:cNvPr id="36" name="TextBox 35"/>
          <p:cNvSpPr txBox="1"/>
          <p:nvPr/>
        </p:nvSpPr>
        <p:spPr>
          <a:xfrm>
            <a:off x="8247888" y="4690872"/>
            <a:ext cx="2752344" cy="73152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inspect the suggestion</a:t>
            </a:r>
          </a:p>
          <a:p>
            <a:pPr>
              <a:spcAft>
                <a:spcPts val="200"/>
              </a:spcAft>
            </a:pPr>
            <a:r>
              <a:rPr sz="1380" b="0">
                <a:solidFill>
                  <a:srgbClr val="191E26"/>
                </a:solidFill>
                <a:latin typeface="Arial"/>
              </a:rPr>
              <a:t>test before trusting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DEMO PLAN</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Jupyter hour: a realistic route through Week 1</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31</a:t>
            </a:r>
          </a:p>
        </p:txBody>
      </p:sp>
      <p:sp>
        <p:nvSpPr>
          <p:cNvPr id="7" name="Rounded Rectangle 6"/>
          <p:cNvSpPr/>
          <p:nvPr/>
        </p:nvSpPr>
        <p:spPr>
          <a:xfrm>
            <a:off x="685800" y="1325880"/>
            <a:ext cx="338328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325880"/>
            <a:ext cx="73152" cy="132588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1435608"/>
            <a:ext cx="306324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0-10 min: 01 Getting started</a:t>
            </a:r>
          </a:p>
        </p:txBody>
      </p:sp>
      <p:sp>
        <p:nvSpPr>
          <p:cNvPr id="10" name="TextBox 9"/>
          <p:cNvSpPr txBox="1"/>
          <p:nvPr/>
        </p:nvSpPr>
        <p:spPr>
          <a:xfrm>
            <a:off x="886968" y="1764792"/>
            <a:ext cx="307238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open notebook</a:t>
            </a:r>
          </a:p>
          <a:p>
            <a:pPr>
              <a:spcAft>
                <a:spcPts val="200"/>
              </a:spcAft>
            </a:pPr>
            <a:r>
              <a:rPr sz="1380" b="0">
                <a:solidFill>
                  <a:srgbClr val="191E26"/>
                </a:solidFill>
                <a:latin typeface="Arial"/>
              </a:rPr>
              <a:t>run cells</a:t>
            </a:r>
          </a:p>
          <a:p>
            <a:pPr>
              <a:spcAft>
                <a:spcPts val="200"/>
              </a:spcAft>
            </a:pPr>
            <a:r>
              <a:rPr sz="1380" b="0">
                <a:solidFill>
                  <a:srgbClr val="191E26"/>
                </a:solidFill>
                <a:latin typeface="Arial"/>
              </a:rPr>
              <a:t>edit a cell</a:t>
            </a:r>
          </a:p>
        </p:txBody>
      </p:sp>
      <p:sp>
        <p:nvSpPr>
          <p:cNvPr id="11" name="Rounded Rectangle 10"/>
          <p:cNvSpPr/>
          <p:nvPr/>
        </p:nvSpPr>
        <p:spPr>
          <a:xfrm>
            <a:off x="4480560" y="1325880"/>
            <a:ext cx="338328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80560" y="1325880"/>
            <a:ext cx="73152" cy="132588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81728" y="1435608"/>
            <a:ext cx="306324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10-25 min: 02-04 Basics</a:t>
            </a:r>
          </a:p>
        </p:txBody>
      </p:sp>
      <p:sp>
        <p:nvSpPr>
          <p:cNvPr id="14" name="TextBox 13"/>
          <p:cNvSpPr txBox="1"/>
          <p:nvPr/>
        </p:nvSpPr>
        <p:spPr>
          <a:xfrm>
            <a:off x="4681728" y="1764792"/>
            <a:ext cx="307238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variables</a:t>
            </a:r>
          </a:p>
          <a:p>
            <a:pPr>
              <a:spcAft>
                <a:spcPts val="200"/>
              </a:spcAft>
            </a:pPr>
            <a:r>
              <a:rPr sz="1380" b="0">
                <a:solidFill>
                  <a:srgbClr val="191E26"/>
                </a:solidFill>
                <a:latin typeface="Arial"/>
              </a:rPr>
              <a:t>data structures</a:t>
            </a:r>
          </a:p>
          <a:p>
            <a:pPr>
              <a:spcAft>
                <a:spcPts val="200"/>
              </a:spcAft>
            </a:pPr>
            <a:r>
              <a:rPr sz="1380" b="0">
                <a:solidFill>
                  <a:srgbClr val="191E26"/>
                </a:solidFill>
                <a:latin typeface="Arial"/>
              </a:rPr>
              <a:t>strings</a:t>
            </a:r>
          </a:p>
        </p:txBody>
      </p:sp>
      <p:sp>
        <p:nvSpPr>
          <p:cNvPr id="15" name="Rounded Rectangle 14"/>
          <p:cNvSpPr/>
          <p:nvPr/>
        </p:nvSpPr>
        <p:spPr>
          <a:xfrm>
            <a:off x="8275320" y="1325880"/>
            <a:ext cx="338328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75320" y="1325880"/>
            <a:ext cx="73152" cy="132588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76488" y="1435608"/>
            <a:ext cx="306324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25-45 min: 05-06 Logic</a:t>
            </a:r>
          </a:p>
        </p:txBody>
      </p:sp>
      <p:sp>
        <p:nvSpPr>
          <p:cNvPr id="18" name="TextBox 17"/>
          <p:cNvSpPr txBox="1"/>
          <p:nvPr/>
        </p:nvSpPr>
        <p:spPr>
          <a:xfrm>
            <a:off x="8476488" y="1764792"/>
            <a:ext cx="307238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loops</a:t>
            </a:r>
          </a:p>
          <a:p>
            <a:pPr>
              <a:spcAft>
                <a:spcPts val="200"/>
              </a:spcAft>
            </a:pPr>
            <a:r>
              <a:rPr sz="1380" b="0">
                <a:solidFill>
                  <a:srgbClr val="191E26"/>
                </a:solidFill>
                <a:latin typeface="Arial"/>
              </a:rPr>
              <a:t>conditions</a:t>
            </a:r>
          </a:p>
          <a:p>
            <a:pPr>
              <a:spcAft>
                <a:spcPts val="200"/>
              </a:spcAft>
            </a:pPr>
            <a:r>
              <a:rPr sz="1380" b="0">
                <a:solidFill>
                  <a:srgbClr val="191E26"/>
                </a:solidFill>
                <a:latin typeface="Arial"/>
              </a:rPr>
              <a:t>functions</a:t>
            </a:r>
          </a:p>
        </p:txBody>
      </p:sp>
      <p:sp>
        <p:nvSpPr>
          <p:cNvPr id="19" name="Rounded Rectangle 18"/>
          <p:cNvSpPr/>
          <p:nvPr/>
        </p:nvSpPr>
        <p:spPr>
          <a:xfrm>
            <a:off x="685800" y="3154680"/>
            <a:ext cx="338328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85800" y="3154680"/>
            <a:ext cx="73152" cy="1325880"/>
          </a:xfrm>
          <a:prstGeom prst="rect">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6968" y="3264408"/>
            <a:ext cx="3063240" cy="274320"/>
          </a:xfrm>
          <a:prstGeom prst="rect">
            <a:avLst/>
          </a:prstGeom>
          <a:noFill/>
        </p:spPr>
        <p:txBody>
          <a:bodyPr wrap="square" lIns="54864" tIns="54864" rIns="54864" bIns="54864">
            <a:normAutofit fontScale="85000" lnSpcReduction="20000"/>
          </a:bodyPr>
          <a:lstStyle/>
          <a:p>
            <a:r>
              <a:rPr sz="1550" b="1">
                <a:solidFill>
                  <a:srgbClr val="B5494E"/>
                </a:solidFill>
                <a:latin typeface="Arial"/>
              </a:rPr>
              <a:t>45-55 min: 08-09 Data</a:t>
            </a:r>
          </a:p>
        </p:txBody>
      </p:sp>
      <p:sp>
        <p:nvSpPr>
          <p:cNvPr id="22" name="TextBox 21"/>
          <p:cNvSpPr txBox="1"/>
          <p:nvPr/>
        </p:nvSpPr>
        <p:spPr>
          <a:xfrm>
            <a:off x="886968" y="3593592"/>
            <a:ext cx="307238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files</a:t>
            </a:r>
          </a:p>
          <a:p>
            <a:pPr>
              <a:spcAft>
                <a:spcPts val="200"/>
              </a:spcAft>
            </a:pPr>
            <a:r>
              <a:rPr sz="1380" b="0">
                <a:solidFill>
                  <a:srgbClr val="191E26"/>
                </a:solidFill>
                <a:latin typeface="Arial"/>
              </a:rPr>
              <a:t>modules</a:t>
            </a:r>
          </a:p>
          <a:p>
            <a:pPr>
              <a:spcAft>
                <a:spcPts val="200"/>
              </a:spcAft>
            </a:pPr>
            <a:r>
              <a:rPr sz="1380" b="0">
                <a:solidFill>
                  <a:srgbClr val="191E26"/>
                </a:solidFill>
                <a:latin typeface="Arial"/>
              </a:rPr>
              <a:t>small catalogs</a:t>
            </a:r>
          </a:p>
        </p:txBody>
      </p:sp>
      <p:sp>
        <p:nvSpPr>
          <p:cNvPr id="23" name="Rounded Rectangle 22"/>
          <p:cNvSpPr/>
          <p:nvPr/>
        </p:nvSpPr>
        <p:spPr>
          <a:xfrm>
            <a:off x="4480560" y="3154680"/>
            <a:ext cx="3383280" cy="132588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480560" y="3154680"/>
            <a:ext cx="73152" cy="1325880"/>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81728" y="3264408"/>
            <a:ext cx="3063240" cy="274320"/>
          </a:xfrm>
          <a:prstGeom prst="rect">
            <a:avLst/>
          </a:prstGeom>
          <a:noFill/>
        </p:spPr>
        <p:txBody>
          <a:bodyPr wrap="square" lIns="54864" tIns="54864" rIns="54864" bIns="54864">
            <a:normAutofit fontScale="85000" lnSpcReduction="20000"/>
          </a:bodyPr>
          <a:lstStyle/>
          <a:p>
            <a:r>
              <a:rPr sz="1550" b="1">
                <a:solidFill>
                  <a:srgbClr val="102238"/>
                </a:solidFill>
                <a:latin typeface="Arial"/>
              </a:rPr>
              <a:t>optional: 07 Classes</a:t>
            </a:r>
          </a:p>
        </p:txBody>
      </p:sp>
      <p:sp>
        <p:nvSpPr>
          <p:cNvPr id="26" name="TextBox 25"/>
          <p:cNvSpPr txBox="1"/>
          <p:nvPr/>
        </p:nvSpPr>
        <p:spPr>
          <a:xfrm>
            <a:off x="4681728" y="3593592"/>
            <a:ext cx="3072384" cy="82296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if the room is ready</a:t>
            </a:r>
          </a:p>
        </p:txBody>
      </p:sp>
      <p:sp>
        <p:nvSpPr>
          <p:cNvPr id="27" name="TextBox 26"/>
          <p:cNvSpPr txBox="1"/>
          <p:nvPr/>
        </p:nvSpPr>
        <p:spPr>
          <a:xfrm>
            <a:off x="868680" y="5532120"/>
            <a:ext cx="10378440" cy="411480"/>
          </a:xfrm>
          <a:prstGeom prst="rect">
            <a:avLst/>
          </a:prstGeom>
          <a:noFill/>
        </p:spPr>
        <p:txBody>
          <a:bodyPr wrap="square" lIns="54864" tIns="54864" rIns="54864" bIns="54864">
            <a:normAutofit fontScale="85000" lnSpcReduction="10000"/>
          </a:bodyPr>
          <a:lstStyle/>
          <a:p>
            <a:pPr algn="ctr"/>
            <a:r>
              <a:rPr sz="2100" b="1">
                <a:solidFill>
                  <a:srgbClr val="102238"/>
                </a:solidFill>
                <a:latin typeface="Arial"/>
              </a:rPr>
              <a:t>The goal is not to finish every cell. The goal is to understand how to learn from a notebook.</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DEMO PLAN</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Mini workflow: from catalog to selection</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32</a:t>
            </a:r>
          </a:p>
        </p:txBody>
      </p:sp>
      <p:sp>
        <p:nvSpPr>
          <p:cNvPr id="7" name="Rounded Rectangle 6"/>
          <p:cNvSpPr/>
          <p:nvPr/>
        </p:nvSpPr>
        <p:spPr>
          <a:xfrm>
            <a:off x="868680" y="1325880"/>
            <a:ext cx="1691640" cy="603504"/>
          </a:xfrm>
          <a:prstGeom prst="roundRect">
            <a:avLst>
              <a:gd name="adj" fmla="val 6000"/>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Open file</a:t>
            </a:r>
          </a:p>
        </p:txBody>
      </p:sp>
      <p:sp>
        <p:nvSpPr>
          <p:cNvPr id="9" name="TextBox 8"/>
          <p:cNvSpPr txBox="1"/>
          <p:nvPr/>
        </p:nvSpPr>
        <p:spPr>
          <a:xfrm>
            <a:off x="2578608"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0" name="Rounded Rectangle 9"/>
          <p:cNvSpPr/>
          <p:nvPr/>
        </p:nvSpPr>
        <p:spPr>
          <a:xfrm>
            <a:off x="2816352" y="1325880"/>
            <a:ext cx="1691640" cy="603504"/>
          </a:xfrm>
          <a:prstGeom prst="roundRect">
            <a:avLst>
              <a:gd name="adj" fmla="val 6000"/>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52928"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Read rows</a:t>
            </a:r>
          </a:p>
        </p:txBody>
      </p:sp>
      <p:sp>
        <p:nvSpPr>
          <p:cNvPr id="12" name="TextBox 11"/>
          <p:cNvSpPr txBox="1"/>
          <p:nvPr/>
        </p:nvSpPr>
        <p:spPr>
          <a:xfrm>
            <a:off x="4526280"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3" name="Rounded Rectangle 12"/>
          <p:cNvSpPr/>
          <p:nvPr/>
        </p:nvSpPr>
        <p:spPr>
          <a:xfrm>
            <a:off x="4764024" y="1325880"/>
            <a:ext cx="1691640" cy="603504"/>
          </a:xfrm>
          <a:prstGeom prst="roundRect">
            <a:avLst>
              <a:gd name="adj" fmla="val 6000"/>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0600"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Parse values</a:t>
            </a:r>
          </a:p>
        </p:txBody>
      </p:sp>
      <p:sp>
        <p:nvSpPr>
          <p:cNvPr id="15" name="TextBox 14"/>
          <p:cNvSpPr txBox="1"/>
          <p:nvPr/>
        </p:nvSpPr>
        <p:spPr>
          <a:xfrm>
            <a:off x="6473952"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6" name="Rounded Rectangle 15"/>
          <p:cNvSpPr/>
          <p:nvPr/>
        </p:nvSpPr>
        <p:spPr>
          <a:xfrm>
            <a:off x="6711696" y="1325880"/>
            <a:ext cx="1691640" cy="603504"/>
          </a:xfrm>
          <a:prstGeom prst="roundRect">
            <a:avLst>
              <a:gd name="adj" fmla="val 6000"/>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748272"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Select objects</a:t>
            </a:r>
          </a:p>
        </p:txBody>
      </p:sp>
      <p:sp>
        <p:nvSpPr>
          <p:cNvPr id="18" name="TextBox 17"/>
          <p:cNvSpPr txBox="1"/>
          <p:nvPr/>
        </p:nvSpPr>
        <p:spPr>
          <a:xfrm>
            <a:off x="8421624"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19" name="Rounded Rectangle 18"/>
          <p:cNvSpPr/>
          <p:nvPr/>
        </p:nvSpPr>
        <p:spPr>
          <a:xfrm>
            <a:off x="8659368" y="1325880"/>
            <a:ext cx="1691640" cy="603504"/>
          </a:xfrm>
          <a:prstGeom prst="roundRect">
            <a:avLst>
              <a:gd name="adj" fmla="val 6000"/>
            </a:avLst>
          </a:prstGeom>
          <a:solidFill>
            <a:srgbClr val="209A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695944"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Print result</a:t>
            </a:r>
          </a:p>
        </p:txBody>
      </p:sp>
      <p:sp>
        <p:nvSpPr>
          <p:cNvPr id="21" name="TextBox 20"/>
          <p:cNvSpPr txBox="1"/>
          <p:nvPr/>
        </p:nvSpPr>
        <p:spPr>
          <a:xfrm>
            <a:off x="10369296" y="1481328"/>
            <a:ext cx="201168" cy="228600"/>
          </a:xfrm>
          <a:prstGeom prst="rect">
            <a:avLst/>
          </a:prstGeom>
          <a:noFill/>
        </p:spPr>
        <p:txBody>
          <a:bodyPr wrap="square" lIns="54864" tIns="54864" rIns="54864" bIns="54864">
            <a:normAutofit fontScale="62500" lnSpcReduction="20000"/>
          </a:bodyPr>
          <a:lstStyle/>
          <a:p>
            <a:pPr algn="ctr"/>
            <a:r>
              <a:rPr sz="1400" b="1">
                <a:solidFill>
                  <a:srgbClr val="545F70"/>
                </a:solidFill>
                <a:latin typeface="Arial"/>
              </a:rPr>
              <a:t>&gt;</a:t>
            </a:r>
          </a:p>
        </p:txBody>
      </p:sp>
      <p:sp>
        <p:nvSpPr>
          <p:cNvPr id="22" name="Rounded Rectangle 21"/>
          <p:cNvSpPr/>
          <p:nvPr/>
        </p:nvSpPr>
        <p:spPr>
          <a:xfrm>
            <a:off x="10607040" y="1325880"/>
            <a:ext cx="1691640" cy="603504"/>
          </a:xfrm>
          <a:prstGeom prst="roundRect">
            <a:avLst>
              <a:gd name="adj" fmla="val 6000"/>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643616" y="1472184"/>
            <a:ext cx="1618488" cy="256032"/>
          </a:xfrm>
          <a:prstGeom prst="rect">
            <a:avLst/>
          </a:prstGeom>
          <a:noFill/>
        </p:spPr>
        <p:txBody>
          <a:bodyPr wrap="square" lIns="54864" tIns="54864" rIns="54864" bIns="54864">
            <a:normAutofit fontScale="92500" lnSpcReduction="20000"/>
          </a:bodyPr>
          <a:lstStyle/>
          <a:p>
            <a:pPr algn="ctr"/>
            <a:r>
              <a:rPr sz="1250" b="1">
                <a:solidFill>
                  <a:srgbClr val="FFFFFF"/>
                </a:solidFill>
                <a:latin typeface="Arial"/>
              </a:rPr>
              <a:t>Check</a:t>
            </a:r>
          </a:p>
        </p:txBody>
      </p:sp>
      <p:sp>
        <p:nvSpPr>
          <p:cNvPr id="24" name="Rounded Rectangle 23"/>
          <p:cNvSpPr/>
          <p:nvPr/>
        </p:nvSpPr>
        <p:spPr>
          <a:xfrm>
            <a:off x="1051560" y="2743200"/>
            <a:ext cx="10012680" cy="1508760"/>
          </a:xfrm>
          <a:prstGeom prst="roundRect">
            <a:avLst>
              <a:gd name="adj" fmla="val 5000"/>
            </a:avLst>
          </a:prstGeom>
          <a:solidFill>
            <a:srgbClr val="1C222B"/>
          </a:solidFill>
          <a:ln w="12700">
            <a:solidFill>
              <a:srgbClr val="414954"/>
            </a:solidFill>
          </a:ln>
        </p:spPr>
        <p:style>
          <a:lnRef idx="1">
            <a:schemeClr val="accent1"/>
          </a:lnRef>
          <a:fillRef idx="3">
            <a:schemeClr val="accent1"/>
          </a:fillRef>
          <a:effectRef idx="2">
            <a:schemeClr val="accent1"/>
          </a:effectRef>
          <a:fontRef idx="minor">
            <a:schemeClr val="lt1"/>
          </a:fontRef>
        </p:style>
        <p:txBody>
          <a:bodyPr lIns="164592" tIns="128016" rIns="164592" bIns="109728" rtlCol="0" anchor="ctr"/>
          <a:lstStyle/>
          <a:p>
            <a:pPr algn="ctr">
              <a:spcAft>
                <a:spcPts val="0"/>
              </a:spcAft>
            </a:pPr>
            <a:r>
              <a:rPr sz="1600">
                <a:solidFill>
                  <a:srgbClr val="EBF0F6"/>
                </a:solidFill>
                <a:latin typeface="Menlo"/>
              </a:rPr>
              <a:t>Question: Which objects meet our selection rule?</a:t>
            </a:r>
          </a:p>
          <a:p>
            <a:pPr>
              <a:spcAft>
                <a:spcPts val="0"/>
              </a:spcAft>
            </a:pPr>
            <a:r>
              <a:rPr sz="1600">
                <a:solidFill>
                  <a:srgbClr val="EBF0F6"/>
                </a:solidFill>
                <a:latin typeface="Menlo"/>
              </a:rPr>
              <a:t>Data: Week 1/star_catalog.txt or Week 1/exoplanet_catalog.txt</a:t>
            </a:r>
          </a:p>
          <a:p>
            <a:pPr>
              <a:spcAft>
                <a:spcPts val="0"/>
              </a:spcAft>
            </a:pPr>
            <a:r>
              <a:rPr sz="1600">
                <a:solidFill>
                  <a:srgbClr val="EBF0F6"/>
                </a:solidFill>
                <a:latin typeface="Menlo"/>
              </a:rPr>
              <a:t>Output: a short list, table, or diagnostic plot</a:t>
            </a:r>
          </a:p>
        </p:txBody>
      </p:sp>
      <p:sp>
        <p:nvSpPr>
          <p:cNvPr id="25" name="Rounded Rectangle 24"/>
          <p:cNvSpPr/>
          <p:nvPr/>
        </p:nvSpPr>
        <p:spPr>
          <a:xfrm>
            <a:off x="1005840" y="4800600"/>
            <a:ext cx="4754880" cy="100584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005840" y="4800600"/>
            <a:ext cx="73152" cy="100584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07008" y="4910328"/>
            <a:ext cx="443484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Good live-demo move</a:t>
            </a:r>
          </a:p>
        </p:txBody>
      </p:sp>
      <p:sp>
        <p:nvSpPr>
          <p:cNvPr id="28" name="TextBox 27"/>
          <p:cNvSpPr txBox="1"/>
          <p:nvPr/>
        </p:nvSpPr>
        <p:spPr>
          <a:xfrm>
            <a:off x="1207008" y="5239512"/>
            <a:ext cx="4443984" cy="50292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change the selection threshold and ask students to predict what changes</a:t>
            </a:r>
          </a:p>
        </p:txBody>
      </p:sp>
      <p:sp>
        <p:nvSpPr>
          <p:cNvPr id="29" name="Rounded Rectangle 28"/>
          <p:cNvSpPr/>
          <p:nvPr/>
        </p:nvSpPr>
        <p:spPr>
          <a:xfrm>
            <a:off x="6263640" y="4800600"/>
            <a:ext cx="4754880" cy="100584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63640" y="4800600"/>
            <a:ext cx="73152" cy="100584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4808" y="4910328"/>
            <a:ext cx="443484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Good AI-era move</a:t>
            </a:r>
          </a:p>
        </p:txBody>
      </p:sp>
      <p:sp>
        <p:nvSpPr>
          <p:cNvPr id="32" name="TextBox 31"/>
          <p:cNvSpPr txBox="1"/>
          <p:nvPr/>
        </p:nvSpPr>
        <p:spPr>
          <a:xfrm>
            <a:off x="6464808" y="5239512"/>
            <a:ext cx="4443984" cy="50292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ask AI for help, then inspect whether the code really matches the question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AI PRACTICE</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How to use AI coding assistants responsibly</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33</a:t>
            </a:r>
          </a:p>
        </p:txBody>
      </p:sp>
      <p:pic>
        <p:nvPicPr>
          <p:cNvPr id="7" name="Picture 6" descr="licklider_crop.jpg"/>
          <p:cNvPicPr>
            <a:picLocks noChangeAspect="1"/>
          </p:cNvPicPr>
          <p:nvPr/>
        </p:nvPicPr>
        <p:blipFill>
          <a:blip r:embed="rId3"/>
          <a:stretch>
            <a:fillRect/>
          </a:stretch>
        </p:blipFill>
        <p:spPr>
          <a:xfrm>
            <a:off x="731520" y="1325880"/>
            <a:ext cx="3108960" cy="2971800"/>
          </a:xfrm>
          <a:prstGeom prst="rect">
            <a:avLst/>
          </a:prstGeom>
        </p:spPr>
      </p:pic>
      <p:grpSp>
        <p:nvGrpSpPr>
          <p:cNvPr id="23" name="Group 22">
            <a:extLst>
              <a:ext uri="{FF2B5EF4-FFF2-40B4-BE49-F238E27FC236}">
                <a16:creationId xmlns:a16="http://schemas.microsoft.com/office/drawing/2014/main" id="{9D4BBAEF-569C-178E-6DC2-902137F72AE0}"/>
              </a:ext>
            </a:extLst>
          </p:cNvPr>
          <p:cNvGrpSpPr/>
          <p:nvPr/>
        </p:nvGrpSpPr>
        <p:grpSpPr>
          <a:xfrm>
            <a:off x="4251960" y="1508759"/>
            <a:ext cx="7621988" cy="672999"/>
            <a:chOff x="4251960" y="1508760"/>
            <a:chExt cx="9482328" cy="603504"/>
          </a:xfrm>
        </p:grpSpPr>
        <p:sp>
          <p:nvSpPr>
            <p:cNvPr id="8" name="Rounded Rectangle 7"/>
            <p:cNvSpPr/>
            <p:nvPr/>
          </p:nvSpPr>
          <p:spPr>
            <a:xfrm>
              <a:off x="4251960" y="1508760"/>
              <a:ext cx="1691640" cy="603504"/>
            </a:xfrm>
            <a:prstGeom prst="roundRect">
              <a:avLst>
                <a:gd name="adj" fmla="val 6000"/>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88536" y="1655064"/>
              <a:ext cx="1618488" cy="256032"/>
            </a:xfrm>
            <a:prstGeom prst="rect">
              <a:avLst/>
            </a:prstGeom>
            <a:noFill/>
          </p:spPr>
          <p:txBody>
            <a:bodyPr wrap="square" lIns="54864" tIns="54864" rIns="54864" bIns="54864">
              <a:normAutofit fontScale="92500" lnSpcReduction="10000"/>
            </a:bodyPr>
            <a:lstStyle/>
            <a:p>
              <a:pPr algn="ctr"/>
              <a:r>
                <a:rPr sz="1250" b="1">
                  <a:solidFill>
                    <a:srgbClr val="FFFFFF"/>
                  </a:solidFill>
                  <a:latin typeface="Arial"/>
                </a:rPr>
                <a:t>Ask</a:t>
              </a:r>
            </a:p>
          </p:txBody>
        </p:sp>
        <p:sp>
          <p:nvSpPr>
            <p:cNvPr id="10" name="TextBox 9"/>
            <p:cNvSpPr txBox="1"/>
            <p:nvPr/>
          </p:nvSpPr>
          <p:spPr>
            <a:xfrm>
              <a:off x="5961888" y="1664208"/>
              <a:ext cx="201168" cy="228600"/>
            </a:xfrm>
            <a:prstGeom prst="rect">
              <a:avLst/>
            </a:prstGeom>
            <a:noFill/>
          </p:spPr>
          <p:txBody>
            <a:bodyPr wrap="square" lIns="54864" tIns="54864" rIns="54864" bIns="54864">
              <a:normAutofit fontScale="77500" lnSpcReduction="20000"/>
            </a:bodyPr>
            <a:lstStyle/>
            <a:p>
              <a:pPr algn="ctr"/>
              <a:r>
                <a:rPr sz="1400" b="1">
                  <a:solidFill>
                    <a:srgbClr val="545F70"/>
                  </a:solidFill>
                  <a:latin typeface="Arial"/>
                </a:rPr>
                <a:t>&gt;</a:t>
              </a:r>
            </a:p>
          </p:txBody>
        </p:sp>
        <p:sp>
          <p:nvSpPr>
            <p:cNvPr id="11" name="Rounded Rectangle 10"/>
            <p:cNvSpPr/>
            <p:nvPr/>
          </p:nvSpPr>
          <p:spPr>
            <a:xfrm>
              <a:off x="6199632" y="1508760"/>
              <a:ext cx="1691640" cy="603504"/>
            </a:xfrm>
            <a:prstGeom prst="roundRect">
              <a:avLst>
                <a:gd name="adj" fmla="val 6000"/>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36208" y="1655064"/>
              <a:ext cx="1618488" cy="256032"/>
            </a:xfrm>
            <a:prstGeom prst="rect">
              <a:avLst/>
            </a:prstGeom>
            <a:noFill/>
          </p:spPr>
          <p:txBody>
            <a:bodyPr wrap="square" lIns="54864" tIns="54864" rIns="54864" bIns="54864">
              <a:normAutofit fontScale="92500" lnSpcReduction="10000"/>
            </a:bodyPr>
            <a:lstStyle/>
            <a:p>
              <a:pPr algn="ctr"/>
              <a:r>
                <a:rPr sz="1250" b="1">
                  <a:solidFill>
                    <a:srgbClr val="FFFFFF"/>
                  </a:solidFill>
                  <a:latin typeface="Arial"/>
                </a:rPr>
                <a:t>Read</a:t>
              </a:r>
            </a:p>
          </p:txBody>
        </p:sp>
        <p:sp>
          <p:nvSpPr>
            <p:cNvPr id="13" name="TextBox 12"/>
            <p:cNvSpPr txBox="1"/>
            <p:nvPr/>
          </p:nvSpPr>
          <p:spPr>
            <a:xfrm>
              <a:off x="7909560" y="1664208"/>
              <a:ext cx="201168" cy="228600"/>
            </a:xfrm>
            <a:prstGeom prst="rect">
              <a:avLst/>
            </a:prstGeom>
            <a:noFill/>
          </p:spPr>
          <p:txBody>
            <a:bodyPr wrap="square" lIns="54864" tIns="54864" rIns="54864" bIns="54864">
              <a:normAutofit fontScale="77500" lnSpcReduction="20000"/>
            </a:bodyPr>
            <a:lstStyle/>
            <a:p>
              <a:pPr algn="ctr"/>
              <a:r>
                <a:rPr sz="1400" b="1">
                  <a:solidFill>
                    <a:srgbClr val="545F70"/>
                  </a:solidFill>
                  <a:latin typeface="Arial"/>
                </a:rPr>
                <a:t>&gt;</a:t>
              </a:r>
            </a:p>
          </p:txBody>
        </p:sp>
        <p:sp>
          <p:nvSpPr>
            <p:cNvPr id="14" name="Rounded Rectangle 13"/>
            <p:cNvSpPr/>
            <p:nvPr/>
          </p:nvSpPr>
          <p:spPr>
            <a:xfrm>
              <a:off x="8147304" y="1508760"/>
              <a:ext cx="1691640" cy="603504"/>
            </a:xfrm>
            <a:prstGeom prst="roundRect">
              <a:avLst>
                <a:gd name="adj" fmla="val 6000"/>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83880" y="1655064"/>
              <a:ext cx="1618488" cy="256032"/>
            </a:xfrm>
            <a:prstGeom prst="rect">
              <a:avLst/>
            </a:prstGeom>
            <a:noFill/>
          </p:spPr>
          <p:txBody>
            <a:bodyPr wrap="square" lIns="54864" tIns="54864" rIns="54864" bIns="54864">
              <a:normAutofit fontScale="92500" lnSpcReduction="10000"/>
            </a:bodyPr>
            <a:lstStyle/>
            <a:p>
              <a:pPr algn="ctr"/>
              <a:r>
                <a:rPr sz="1250" b="1">
                  <a:solidFill>
                    <a:srgbClr val="FFFFFF"/>
                  </a:solidFill>
                  <a:latin typeface="Arial"/>
                </a:rPr>
                <a:t>Run</a:t>
              </a:r>
            </a:p>
          </p:txBody>
        </p:sp>
        <p:sp>
          <p:nvSpPr>
            <p:cNvPr id="16" name="TextBox 15"/>
            <p:cNvSpPr txBox="1"/>
            <p:nvPr/>
          </p:nvSpPr>
          <p:spPr>
            <a:xfrm>
              <a:off x="9857232" y="1664208"/>
              <a:ext cx="201168" cy="228600"/>
            </a:xfrm>
            <a:prstGeom prst="rect">
              <a:avLst/>
            </a:prstGeom>
            <a:noFill/>
          </p:spPr>
          <p:txBody>
            <a:bodyPr wrap="square" lIns="54864" tIns="54864" rIns="54864" bIns="54864">
              <a:normAutofit fontScale="77500" lnSpcReduction="20000"/>
            </a:bodyPr>
            <a:lstStyle/>
            <a:p>
              <a:pPr algn="ctr"/>
              <a:r>
                <a:rPr sz="1400" b="1">
                  <a:solidFill>
                    <a:srgbClr val="545F70"/>
                  </a:solidFill>
                  <a:latin typeface="Arial"/>
                </a:rPr>
                <a:t>&gt;</a:t>
              </a:r>
            </a:p>
          </p:txBody>
        </p:sp>
        <p:sp>
          <p:nvSpPr>
            <p:cNvPr id="17" name="Rounded Rectangle 16"/>
            <p:cNvSpPr/>
            <p:nvPr/>
          </p:nvSpPr>
          <p:spPr>
            <a:xfrm>
              <a:off x="10094976" y="1508760"/>
              <a:ext cx="1691640" cy="603504"/>
            </a:xfrm>
            <a:prstGeom prst="roundRect">
              <a:avLst>
                <a:gd name="adj" fmla="val 6000"/>
              </a:avLst>
            </a:prstGeom>
            <a:solidFill>
              <a:srgbClr val="B54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131552" y="1655064"/>
              <a:ext cx="1618488" cy="256032"/>
            </a:xfrm>
            <a:prstGeom prst="rect">
              <a:avLst/>
            </a:prstGeom>
            <a:noFill/>
          </p:spPr>
          <p:txBody>
            <a:bodyPr wrap="square" lIns="54864" tIns="54864" rIns="54864" bIns="54864">
              <a:normAutofit fontScale="92500" lnSpcReduction="10000"/>
            </a:bodyPr>
            <a:lstStyle/>
            <a:p>
              <a:pPr algn="ctr"/>
              <a:r>
                <a:rPr sz="1250" b="1">
                  <a:solidFill>
                    <a:srgbClr val="FFFFFF"/>
                  </a:solidFill>
                  <a:latin typeface="Arial"/>
                </a:rPr>
                <a:t>Test</a:t>
              </a:r>
            </a:p>
          </p:txBody>
        </p:sp>
        <p:sp>
          <p:nvSpPr>
            <p:cNvPr id="19" name="TextBox 18"/>
            <p:cNvSpPr txBox="1"/>
            <p:nvPr/>
          </p:nvSpPr>
          <p:spPr>
            <a:xfrm>
              <a:off x="11804904" y="1664208"/>
              <a:ext cx="201168" cy="228600"/>
            </a:xfrm>
            <a:prstGeom prst="rect">
              <a:avLst/>
            </a:prstGeom>
            <a:noFill/>
          </p:spPr>
          <p:txBody>
            <a:bodyPr wrap="square" lIns="54864" tIns="54864" rIns="54864" bIns="54864">
              <a:normAutofit fontScale="77500" lnSpcReduction="20000"/>
            </a:bodyPr>
            <a:lstStyle/>
            <a:p>
              <a:pPr algn="ctr"/>
              <a:r>
                <a:rPr sz="1400" b="1">
                  <a:solidFill>
                    <a:srgbClr val="545F70"/>
                  </a:solidFill>
                  <a:latin typeface="Arial"/>
                </a:rPr>
                <a:t>&gt;</a:t>
              </a:r>
            </a:p>
          </p:txBody>
        </p:sp>
        <p:sp>
          <p:nvSpPr>
            <p:cNvPr id="20" name="Rounded Rectangle 19"/>
            <p:cNvSpPr/>
            <p:nvPr/>
          </p:nvSpPr>
          <p:spPr>
            <a:xfrm>
              <a:off x="12042648" y="1508760"/>
              <a:ext cx="1691640" cy="603504"/>
            </a:xfrm>
            <a:prstGeom prst="roundRect">
              <a:avLst>
                <a:gd name="adj" fmla="val 6000"/>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079224" y="1655064"/>
              <a:ext cx="1618488" cy="256032"/>
            </a:xfrm>
            <a:prstGeom prst="rect">
              <a:avLst/>
            </a:prstGeom>
            <a:noFill/>
          </p:spPr>
          <p:txBody>
            <a:bodyPr wrap="square" lIns="54864" tIns="54864" rIns="54864" bIns="54864">
              <a:normAutofit fontScale="92500" lnSpcReduction="10000"/>
            </a:bodyPr>
            <a:lstStyle/>
            <a:p>
              <a:pPr algn="ctr"/>
              <a:r>
                <a:rPr sz="1250" b="1">
                  <a:solidFill>
                    <a:srgbClr val="FFFFFF"/>
                  </a:solidFill>
                  <a:latin typeface="Arial"/>
                </a:rPr>
                <a:t>Explain</a:t>
              </a:r>
            </a:p>
          </p:txBody>
        </p:sp>
      </p:grpSp>
      <p:sp>
        <p:nvSpPr>
          <p:cNvPr id="22" name="TextBox 21"/>
          <p:cNvSpPr txBox="1"/>
          <p:nvPr/>
        </p:nvSpPr>
        <p:spPr>
          <a:xfrm>
            <a:off x="4343400" y="2788920"/>
            <a:ext cx="6903720" cy="2011680"/>
          </a:xfrm>
          <a:prstGeom prst="rect">
            <a:avLst/>
          </a:prstGeom>
          <a:noFill/>
        </p:spPr>
        <p:txBody>
          <a:bodyPr wrap="square" lIns="128016" tIns="36576" rIns="109728" bIns="36576">
            <a:normAutofit/>
          </a:bodyPr>
          <a:lstStyle/>
          <a:p>
            <a:pPr>
              <a:spcAft>
                <a:spcPts val="700"/>
              </a:spcAft>
            </a:pPr>
            <a:r>
              <a:rPr sz="2000" b="0">
                <a:solidFill>
                  <a:srgbClr val="191E26"/>
                </a:solidFill>
                <a:latin typeface="Arial"/>
              </a:rPr>
              <a:t>Ask for small pieces of code, not a whole scientific conclusion.</a:t>
            </a:r>
          </a:p>
          <a:p>
            <a:pPr>
              <a:spcAft>
                <a:spcPts val="700"/>
              </a:spcAft>
            </a:pPr>
            <a:r>
              <a:rPr sz="2000" b="0">
                <a:solidFill>
                  <a:srgbClr val="191E26"/>
                </a:solidFill>
                <a:latin typeface="Arial"/>
              </a:rPr>
              <a:t>Read the generated code before running it.</a:t>
            </a:r>
          </a:p>
          <a:p>
            <a:pPr>
              <a:spcAft>
                <a:spcPts val="700"/>
              </a:spcAft>
            </a:pPr>
            <a:r>
              <a:rPr sz="2000" b="0">
                <a:solidFill>
                  <a:srgbClr val="191E26"/>
                </a:solidFill>
                <a:latin typeface="Arial"/>
              </a:rPr>
              <a:t>Test on a tiny example where you know the answer.</a:t>
            </a:r>
          </a:p>
          <a:p>
            <a:pPr>
              <a:spcAft>
                <a:spcPts val="700"/>
              </a:spcAft>
            </a:pPr>
            <a:r>
              <a:rPr sz="2000" b="0">
                <a:solidFill>
                  <a:srgbClr val="191E26"/>
                </a:solidFill>
                <a:latin typeface="Arial"/>
              </a:rPr>
              <a:t>Explain the result in astronomical terms.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75488" y="164592"/>
            <a:ext cx="2651760" cy="201168"/>
          </a:xfrm>
          <a:prstGeom prst="rect">
            <a:avLst/>
          </a:prstGeom>
          <a:noFill/>
        </p:spPr>
        <p:txBody>
          <a:bodyPr wrap="square" lIns="54864" tIns="54864" rIns="54864" bIns="54864">
            <a:normAutofit fontScale="85000" lnSpcReduction="20000"/>
          </a:bodyPr>
          <a:lstStyle/>
          <a:p>
            <a:r>
              <a:rPr sz="850" b="1">
                <a:solidFill>
                  <a:srgbClr val="2265B8"/>
                </a:solidFill>
                <a:latin typeface="Arial"/>
              </a:rPr>
              <a:t>TAKE HOME</a:t>
            </a:r>
          </a:p>
        </p:txBody>
      </p:sp>
      <p:sp>
        <p:nvSpPr>
          <p:cNvPr id="4" name="TextBox 3"/>
          <p:cNvSpPr txBox="1"/>
          <p:nvPr/>
        </p:nvSpPr>
        <p:spPr>
          <a:xfrm>
            <a:off x="475488" y="393192"/>
            <a:ext cx="10424160" cy="566928"/>
          </a:xfrm>
          <a:prstGeom prst="rect">
            <a:avLst/>
          </a:prstGeom>
          <a:noFill/>
        </p:spPr>
        <p:txBody>
          <a:bodyPr wrap="square" lIns="54864" tIns="54864" rIns="54864" bIns="54864">
            <a:normAutofit/>
          </a:bodyPr>
          <a:lstStyle/>
          <a:p>
            <a:r>
              <a:rPr sz="2600" b="1">
                <a:solidFill>
                  <a:srgbClr val="191E26"/>
                </a:solidFill>
                <a:latin typeface="Arial"/>
              </a:rPr>
              <a:t>What programming gives an astronomer</a:t>
            </a:r>
          </a:p>
        </p:txBody>
      </p:sp>
      <p:sp>
        <p:nvSpPr>
          <p:cNvPr id="5" name="Rectangle 4"/>
          <p:cNvSpPr/>
          <p:nvPr/>
        </p:nvSpPr>
        <p:spPr>
          <a:xfrm>
            <a:off x="475488" y="1024128"/>
            <a:ext cx="11247120" cy="12801"/>
          </a:xfrm>
          <a:prstGeom prst="rect">
            <a:avLst/>
          </a:prstGeom>
          <a:solidFill>
            <a:srgbClr val="D1D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55680" y="228600"/>
            <a:ext cx="548640" cy="201168"/>
          </a:xfrm>
          <a:prstGeom prst="rect">
            <a:avLst/>
          </a:prstGeom>
          <a:noFill/>
        </p:spPr>
        <p:txBody>
          <a:bodyPr wrap="square" lIns="54864" tIns="54864" rIns="54864" bIns="54864">
            <a:normAutofit fontScale="85000" lnSpcReduction="20000"/>
          </a:bodyPr>
          <a:lstStyle/>
          <a:p>
            <a:pPr algn="r"/>
            <a:r>
              <a:rPr sz="850" b="0">
                <a:solidFill>
                  <a:srgbClr val="545F70"/>
                </a:solidFill>
                <a:latin typeface="Arial"/>
              </a:rPr>
              <a:t>34</a:t>
            </a:r>
          </a:p>
        </p:txBody>
      </p:sp>
      <p:sp>
        <p:nvSpPr>
          <p:cNvPr id="7" name="Rounded Rectangle 6"/>
          <p:cNvSpPr/>
          <p:nvPr/>
        </p:nvSpPr>
        <p:spPr>
          <a:xfrm>
            <a:off x="777240" y="1325880"/>
            <a:ext cx="3337560" cy="16002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325880"/>
            <a:ext cx="73152" cy="1600200"/>
          </a:xfrm>
          <a:prstGeom prst="rect">
            <a:avLst/>
          </a:prstGeom>
          <a:solidFill>
            <a:srgbClr val="226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1435608"/>
            <a:ext cx="3017520" cy="274320"/>
          </a:xfrm>
          <a:prstGeom prst="rect">
            <a:avLst/>
          </a:prstGeom>
          <a:noFill/>
        </p:spPr>
        <p:txBody>
          <a:bodyPr wrap="square" lIns="54864" tIns="54864" rIns="54864" bIns="54864">
            <a:normAutofit fontScale="85000" lnSpcReduction="20000"/>
          </a:bodyPr>
          <a:lstStyle/>
          <a:p>
            <a:r>
              <a:rPr sz="1550" b="1">
                <a:solidFill>
                  <a:srgbClr val="2265B8"/>
                </a:solidFill>
                <a:latin typeface="Arial"/>
              </a:rPr>
              <a:t>Scale</a:t>
            </a:r>
          </a:p>
        </p:txBody>
      </p:sp>
      <p:sp>
        <p:nvSpPr>
          <p:cNvPr id="10" name="TextBox 9"/>
          <p:cNvSpPr txBox="1"/>
          <p:nvPr/>
        </p:nvSpPr>
        <p:spPr>
          <a:xfrm>
            <a:off x="978408" y="1764792"/>
            <a:ext cx="3026664" cy="10972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do one analysis for many objects</a:t>
            </a:r>
          </a:p>
          <a:p>
            <a:pPr>
              <a:spcAft>
                <a:spcPts val="200"/>
              </a:spcAft>
            </a:pPr>
            <a:r>
              <a:rPr sz="1380" b="0">
                <a:solidFill>
                  <a:srgbClr val="191E26"/>
                </a:solidFill>
                <a:latin typeface="Arial"/>
              </a:rPr>
              <a:t>automate repeated work</a:t>
            </a:r>
          </a:p>
        </p:txBody>
      </p:sp>
      <p:sp>
        <p:nvSpPr>
          <p:cNvPr id="11" name="Rounded Rectangle 10"/>
          <p:cNvSpPr/>
          <p:nvPr/>
        </p:nvSpPr>
        <p:spPr>
          <a:xfrm>
            <a:off x="4434840" y="1325880"/>
            <a:ext cx="3337560" cy="16002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434840" y="1325880"/>
            <a:ext cx="73152" cy="1600200"/>
          </a:xfrm>
          <a:prstGeom prst="rect">
            <a:avLst/>
          </a:prstGeom>
          <a:solidFill>
            <a:srgbClr val="3A8B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008" y="1435608"/>
            <a:ext cx="3017520" cy="274320"/>
          </a:xfrm>
          <a:prstGeom prst="rect">
            <a:avLst/>
          </a:prstGeom>
          <a:noFill/>
        </p:spPr>
        <p:txBody>
          <a:bodyPr wrap="square" lIns="54864" tIns="54864" rIns="54864" bIns="54864">
            <a:normAutofit fontScale="85000" lnSpcReduction="20000"/>
          </a:bodyPr>
          <a:lstStyle/>
          <a:p>
            <a:r>
              <a:rPr sz="1550" b="1">
                <a:solidFill>
                  <a:srgbClr val="3A8B5D"/>
                </a:solidFill>
                <a:latin typeface="Arial"/>
              </a:rPr>
              <a:t>Memory</a:t>
            </a:r>
          </a:p>
        </p:txBody>
      </p:sp>
      <p:sp>
        <p:nvSpPr>
          <p:cNvPr id="14" name="TextBox 13"/>
          <p:cNvSpPr txBox="1"/>
          <p:nvPr/>
        </p:nvSpPr>
        <p:spPr>
          <a:xfrm>
            <a:off x="4636008" y="1764792"/>
            <a:ext cx="3026664" cy="10972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record methods</a:t>
            </a:r>
          </a:p>
          <a:p>
            <a:pPr>
              <a:spcAft>
                <a:spcPts val="200"/>
              </a:spcAft>
            </a:pPr>
            <a:r>
              <a:rPr sz="1380" b="0">
                <a:solidFill>
                  <a:srgbClr val="191E26"/>
                </a:solidFill>
                <a:latin typeface="Arial"/>
              </a:rPr>
              <a:t>rerun when data change</a:t>
            </a:r>
          </a:p>
        </p:txBody>
      </p:sp>
      <p:sp>
        <p:nvSpPr>
          <p:cNvPr id="15" name="Rounded Rectangle 14"/>
          <p:cNvSpPr/>
          <p:nvPr/>
        </p:nvSpPr>
        <p:spPr>
          <a:xfrm>
            <a:off x="8092440" y="1325880"/>
            <a:ext cx="3337560" cy="1600200"/>
          </a:xfrm>
          <a:prstGeom prst="roundRect">
            <a:avLst>
              <a:gd name="adj" fmla="val 4000"/>
            </a:avLst>
          </a:prstGeom>
          <a:solidFill>
            <a:srgbClr val="FFFFFF"/>
          </a:solidFill>
          <a:ln w="12700">
            <a:solidFill>
              <a:srgbClr val="D1D8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1325880"/>
            <a:ext cx="73152" cy="1600200"/>
          </a:xfrm>
          <a:prstGeom prst="rect">
            <a:avLst/>
          </a:prstGeom>
          <a:solidFill>
            <a:srgbClr val="D67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93608" y="1435608"/>
            <a:ext cx="3017520" cy="274320"/>
          </a:xfrm>
          <a:prstGeom prst="rect">
            <a:avLst/>
          </a:prstGeom>
          <a:noFill/>
        </p:spPr>
        <p:txBody>
          <a:bodyPr wrap="square" lIns="54864" tIns="54864" rIns="54864" bIns="54864">
            <a:normAutofit fontScale="85000" lnSpcReduction="20000"/>
          </a:bodyPr>
          <a:lstStyle/>
          <a:p>
            <a:r>
              <a:rPr sz="1550" b="1">
                <a:solidFill>
                  <a:srgbClr val="D6762B"/>
                </a:solidFill>
                <a:latin typeface="Arial"/>
              </a:rPr>
              <a:t>Collaboration</a:t>
            </a:r>
          </a:p>
        </p:txBody>
      </p:sp>
      <p:sp>
        <p:nvSpPr>
          <p:cNvPr id="18" name="TextBox 17"/>
          <p:cNvSpPr txBox="1"/>
          <p:nvPr/>
        </p:nvSpPr>
        <p:spPr>
          <a:xfrm>
            <a:off x="8293608" y="1764792"/>
            <a:ext cx="3026664" cy="1097280"/>
          </a:xfrm>
          <a:prstGeom prst="rect">
            <a:avLst/>
          </a:prstGeom>
          <a:noFill/>
        </p:spPr>
        <p:txBody>
          <a:bodyPr wrap="square" lIns="128016" tIns="36576" rIns="109728" bIns="36576">
            <a:normAutofit/>
          </a:bodyPr>
          <a:lstStyle/>
          <a:p>
            <a:pPr>
              <a:spcAft>
                <a:spcPts val="200"/>
              </a:spcAft>
            </a:pPr>
            <a:r>
              <a:rPr sz="1380" b="0">
                <a:solidFill>
                  <a:srgbClr val="191E26"/>
                </a:solidFill>
                <a:latin typeface="Arial"/>
              </a:rPr>
              <a:t>share notebooks</a:t>
            </a:r>
          </a:p>
          <a:p>
            <a:pPr>
              <a:spcAft>
                <a:spcPts val="200"/>
              </a:spcAft>
            </a:pPr>
            <a:r>
              <a:rPr sz="1380" b="0">
                <a:solidFill>
                  <a:srgbClr val="191E26"/>
                </a:solidFill>
                <a:latin typeface="Arial"/>
              </a:rPr>
              <a:t>work with classmates</a:t>
            </a:r>
          </a:p>
          <a:p>
            <a:pPr>
              <a:spcAft>
                <a:spcPts val="200"/>
              </a:spcAft>
            </a:pPr>
            <a:r>
              <a:rPr sz="1380" b="0">
                <a:solidFill>
                  <a:srgbClr val="191E26"/>
                </a:solidFill>
                <a:latin typeface="Arial"/>
              </a:rPr>
              <a:t>work with AI tools</a:t>
            </a:r>
          </a:p>
        </p:txBody>
      </p:sp>
      <p:sp>
        <p:nvSpPr>
          <p:cNvPr id="19" name="TextBox 18"/>
          <p:cNvSpPr txBox="1"/>
          <p:nvPr/>
        </p:nvSpPr>
        <p:spPr>
          <a:xfrm>
            <a:off x="868680" y="4160520"/>
            <a:ext cx="10469880" cy="685800"/>
          </a:xfrm>
          <a:prstGeom prst="rect">
            <a:avLst/>
          </a:prstGeom>
          <a:noFill/>
        </p:spPr>
        <p:txBody>
          <a:bodyPr wrap="square" lIns="54864" tIns="54864" rIns="54864" bIns="54864">
            <a:normAutofit fontScale="85000" lnSpcReduction="20000"/>
          </a:bodyPr>
          <a:lstStyle/>
          <a:p>
            <a:pPr algn="ctr"/>
            <a:r>
              <a:rPr sz="2700" b="1">
                <a:solidFill>
                  <a:srgbClr val="102238"/>
                </a:solidFill>
                <a:latin typeface="Arial"/>
              </a:rPr>
              <a:t>Programming is not separate from astronomy. It is how many astronomical ideas become measurable.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2C53F-0127-8E89-E8D4-1756C1A30CE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BC2A74-81DF-947F-3C20-7CA802E9D719}"/>
              </a:ext>
            </a:extLst>
          </p:cNvPr>
          <p:cNvSpPr/>
          <p:nvPr/>
        </p:nvSpPr>
        <p:spPr>
          <a:xfrm>
            <a:off x="1" y="0"/>
            <a:ext cx="12191999" cy="6858000"/>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2AF3B27-A11C-9AC4-7ECD-D17B974B4D0C}"/>
              </a:ext>
            </a:extLst>
          </p:cNvPr>
          <p:cNvSpPr txBox="1"/>
          <p:nvPr/>
        </p:nvSpPr>
        <p:spPr>
          <a:xfrm>
            <a:off x="868680" y="1417320"/>
            <a:ext cx="10469880" cy="777240"/>
          </a:xfrm>
          <a:prstGeom prst="rect">
            <a:avLst/>
          </a:prstGeom>
          <a:noFill/>
        </p:spPr>
        <p:txBody>
          <a:bodyPr wrap="square" lIns="54864" tIns="54864" rIns="54864" bIns="54864">
            <a:normAutofit/>
          </a:bodyPr>
          <a:lstStyle/>
          <a:p>
            <a:pPr algn="ctr"/>
            <a:r>
              <a:rPr lang="en-CN" sz="4200" b="1" dirty="0">
                <a:solidFill>
                  <a:srgbClr val="FFFFFF"/>
                </a:solidFill>
                <a:latin typeface="Arial"/>
              </a:rPr>
              <a:t>Q&amp;</a:t>
            </a:r>
            <a:r>
              <a:rPr lang="en-US" altLang="zh-CN" sz="4200" b="1" dirty="0">
                <a:solidFill>
                  <a:srgbClr val="FFFFFF"/>
                </a:solidFill>
                <a:latin typeface="Arial"/>
              </a:rPr>
              <a:t>A</a:t>
            </a:r>
            <a:endParaRPr sz="4200" b="1" dirty="0">
              <a:solidFill>
                <a:srgbClr val="FFFFFF"/>
              </a:solidFill>
              <a:latin typeface="Arial"/>
            </a:endParaRPr>
          </a:p>
        </p:txBody>
      </p:sp>
      <p:sp>
        <p:nvSpPr>
          <p:cNvPr id="4" name="TextBox 3">
            <a:extLst>
              <a:ext uri="{FF2B5EF4-FFF2-40B4-BE49-F238E27FC236}">
                <a16:creationId xmlns:a16="http://schemas.microsoft.com/office/drawing/2014/main" id="{9EFD3969-E631-C0F3-BFE7-4A5288046707}"/>
              </a:ext>
            </a:extLst>
          </p:cNvPr>
          <p:cNvSpPr txBox="1"/>
          <p:nvPr/>
        </p:nvSpPr>
        <p:spPr>
          <a:xfrm>
            <a:off x="1005840" y="2514600"/>
            <a:ext cx="10149840" cy="475488"/>
          </a:xfrm>
          <a:prstGeom prst="rect">
            <a:avLst/>
          </a:prstGeom>
          <a:noFill/>
        </p:spPr>
        <p:txBody>
          <a:bodyPr wrap="square" lIns="54864" tIns="54864" rIns="54864" bIns="54864">
            <a:normAutofit lnSpcReduction="10000"/>
          </a:bodyPr>
          <a:lstStyle/>
          <a:p>
            <a:pPr algn="ctr"/>
            <a:r>
              <a:rPr sz="2500" b="1" dirty="0">
                <a:solidFill>
                  <a:srgbClr val="DCEBF5"/>
                </a:solidFill>
                <a:latin typeface="Arial"/>
              </a:rPr>
              <a:t>Week 1/01_getting_started.ipynb</a:t>
            </a:r>
          </a:p>
        </p:txBody>
      </p:sp>
      <p:sp>
        <p:nvSpPr>
          <p:cNvPr id="5" name="TextBox 4">
            <a:extLst>
              <a:ext uri="{FF2B5EF4-FFF2-40B4-BE49-F238E27FC236}">
                <a16:creationId xmlns:a16="http://schemas.microsoft.com/office/drawing/2014/main" id="{A4D57C18-8F29-D3CA-9E19-81994F7E89F0}"/>
              </a:ext>
            </a:extLst>
          </p:cNvPr>
          <p:cNvSpPr txBox="1"/>
          <p:nvPr/>
        </p:nvSpPr>
        <p:spPr>
          <a:xfrm>
            <a:off x="1005840" y="3246120"/>
            <a:ext cx="10149840" cy="384048"/>
          </a:xfrm>
          <a:prstGeom prst="rect">
            <a:avLst/>
          </a:prstGeom>
          <a:noFill/>
        </p:spPr>
        <p:txBody>
          <a:bodyPr wrap="square" lIns="54864" tIns="54864" rIns="54864" bIns="54864">
            <a:normAutofit fontScale="92500" lnSpcReduction="10000"/>
          </a:bodyPr>
          <a:lstStyle/>
          <a:p>
            <a:pPr algn="ctr"/>
            <a:r>
              <a:rPr sz="2200" b="0" dirty="0">
                <a:solidFill>
                  <a:srgbClr val="DCEBF5"/>
                </a:solidFill>
                <a:latin typeface="Arial"/>
              </a:rPr>
              <a:t>Run, change, inspect, explain.</a:t>
            </a:r>
          </a:p>
        </p:txBody>
      </p:sp>
    </p:spTree>
    <p:extLst>
      <p:ext uri="{BB962C8B-B14F-4D97-AF65-F5344CB8AC3E}">
        <p14:creationId xmlns:p14="http://schemas.microsoft.com/office/powerpoint/2010/main" val="42438420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99" cy="6858000"/>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1417320"/>
            <a:ext cx="10469880" cy="777240"/>
          </a:xfrm>
          <a:prstGeom prst="rect">
            <a:avLst/>
          </a:prstGeom>
          <a:noFill/>
        </p:spPr>
        <p:txBody>
          <a:bodyPr wrap="square" lIns="54864" tIns="54864" rIns="54864" bIns="54864">
            <a:normAutofit/>
          </a:bodyPr>
          <a:lstStyle/>
          <a:p>
            <a:pPr algn="ctr"/>
            <a:r>
              <a:rPr sz="4200" b="1" dirty="0">
                <a:solidFill>
                  <a:srgbClr val="FFFFFF"/>
                </a:solidFill>
                <a:latin typeface="Arial"/>
              </a:rPr>
              <a:t>Now open </a:t>
            </a:r>
            <a:r>
              <a:rPr sz="4200" b="1" dirty="0" err="1">
                <a:solidFill>
                  <a:srgbClr val="FFFFFF"/>
                </a:solidFill>
                <a:latin typeface="Arial"/>
              </a:rPr>
              <a:t>Jupyter</a:t>
            </a:r>
            <a:endParaRPr sz="4200" b="1" dirty="0">
              <a:solidFill>
                <a:srgbClr val="FFFFFF"/>
              </a:solidFill>
              <a:latin typeface="Arial"/>
            </a:endParaRPr>
          </a:p>
        </p:txBody>
      </p:sp>
      <p:sp>
        <p:nvSpPr>
          <p:cNvPr id="4" name="TextBox 3"/>
          <p:cNvSpPr txBox="1"/>
          <p:nvPr/>
        </p:nvSpPr>
        <p:spPr>
          <a:xfrm>
            <a:off x="1005840" y="2514600"/>
            <a:ext cx="10149840" cy="475488"/>
          </a:xfrm>
          <a:prstGeom prst="rect">
            <a:avLst/>
          </a:prstGeom>
          <a:noFill/>
        </p:spPr>
        <p:txBody>
          <a:bodyPr wrap="square" lIns="54864" tIns="54864" rIns="54864" bIns="54864">
            <a:normAutofit lnSpcReduction="10000"/>
          </a:bodyPr>
          <a:lstStyle/>
          <a:p>
            <a:pPr algn="ctr"/>
            <a:r>
              <a:rPr sz="2500" b="1">
                <a:solidFill>
                  <a:srgbClr val="DCEBF5"/>
                </a:solidFill>
                <a:latin typeface="Arial"/>
              </a:rPr>
              <a:t>Week 1/01_getting_started.ipynb</a:t>
            </a:r>
          </a:p>
        </p:txBody>
      </p:sp>
      <p:sp>
        <p:nvSpPr>
          <p:cNvPr id="5" name="TextBox 4"/>
          <p:cNvSpPr txBox="1"/>
          <p:nvPr/>
        </p:nvSpPr>
        <p:spPr>
          <a:xfrm>
            <a:off x="1005840" y="3246120"/>
            <a:ext cx="10149840" cy="384048"/>
          </a:xfrm>
          <a:prstGeom prst="rect">
            <a:avLst/>
          </a:prstGeom>
          <a:noFill/>
        </p:spPr>
        <p:txBody>
          <a:bodyPr wrap="square" lIns="54864" tIns="54864" rIns="54864" bIns="54864">
            <a:normAutofit fontScale="92500" lnSpcReduction="10000"/>
          </a:bodyPr>
          <a:lstStyle/>
          <a:p>
            <a:pPr algn="ctr"/>
            <a:r>
              <a:rPr sz="2200" b="0">
                <a:solidFill>
                  <a:srgbClr val="DCEBF5"/>
                </a:solidFill>
                <a:latin typeface="Arial"/>
              </a:rPr>
              <a:t>Run, change, inspect, explain.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11034</Words>
  <Application>Microsoft Macintosh PowerPoint</Application>
  <PresentationFormat>宽屏</PresentationFormat>
  <Paragraphs>728</Paragraphs>
  <Slides>35</Slides>
  <Notes>35</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35</vt:i4>
      </vt:variant>
    </vt:vector>
  </HeadingPairs>
  <TitlesOfParts>
    <vt:vector size="39" baseType="lpstr">
      <vt:lpstr>Arial</vt:lpstr>
      <vt:lpstr>Calibri</vt:lpstr>
      <vt:lpstr>Menlo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Wang Feng</cp:lastModifiedBy>
  <cp:revision>26</cp:revision>
  <dcterms:created xsi:type="dcterms:W3CDTF">2013-01-27T09:14:16Z</dcterms:created>
  <dcterms:modified xsi:type="dcterms:W3CDTF">2026-05-07T05:38:49Z</dcterms:modified>
  <cp:category/>
</cp:coreProperties>
</file>